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60"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5"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4738"/>
    <a:srgbClr val="895135"/>
    <a:srgbClr val="E8CFBD"/>
    <a:srgbClr val="795944"/>
    <a:srgbClr val="D6B393"/>
    <a:srgbClr val="0C11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12" autoAdjust="0"/>
    <p:restoredTop sz="94660"/>
  </p:normalViewPr>
  <p:slideViewPr>
    <p:cSldViewPr snapToGrid="0">
      <p:cViewPr>
        <p:scale>
          <a:sx n="66" d="100"/>
          <a:sy n="66" d="100"/>
        </p:scale>
        <p:origin x="1622" y="4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aseline="0" dirty="0">
                <a:solidFill>
                  <a:schemeClr val="bg1"/>
                </a:solidFill>
              </a:rPr>
              <a:t>Religions in Australia </a:t>
            </a:r>
          </a:p>
        </c:rich>
      </c:tx>
      <c:layout>
        <c:manualLayout>
          <c:xMode val="edge"/>
          <c:yMode val="edge"/>
          <c:x val="0.29013961454532866"/>
          <c:y val="1.9140036646388275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Percentage</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7-3348-455E-8FF9-CC56C9476EC3}"/>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C-3348-455E-8FF9-CC56C9476EC3}"/>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B-3348-455E-8FF9-CC56C9476EC3}"/>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A-3348-455E-8FF9-CC56C9476EC3}"/>
              </c:ext>
            </c:extLst>
          </c:dPt>
          <c:dPt>
            <c:idx val="4"/>
            <c:bubble3D val="0"/>
            <c:spPr>
              <a:solidFill>
                <a:schemeClr val="dk1">
                  <a:tint val="30000"/>
                </a:schemeClr>
              </a:solidFill>
              <a:ln w="19050">
                <a:solidFill>
                  <a:schemeClr val="lt1"/>
                </a:solidFill>
              </a:ln>
              <a:effectLst/>
            </c:spPr>
            <c:extLst>
              <c:ext xmlns:c16="http://schemas.microsoft.com/office/drawing/2014/chart" uri="{C3380CC4-5D6E-409C-BE32-E72D297353CC}">
                <c16:uniqueId val="{00000009-3348-455E-8FF9-CC56C9476EC3}"/>
              </c:ext>
            </c:extLst>
          </c:dPt>
          <c:dPt>
            <c:idx val="5"/>
            <c:bubble3D val="0"/>
            <c:spPr>
              <a:solidFill>
                <a:schemeClr val="dk1">
                  <a:tint val="60000"/>
                </a:schemeClr>
              </a:solidFill>
              <a:ln w="19050">
                <a:solidFill>
                  <a:schemeClr val="lt1"/>
                </a:solidFill>
              </a:ln>
              <a:effectLst/>
            </c:spPr>
            <c:extLst>
              <c:ext xmlns:c16="http://schemas.microsoft.com/office/drawing/2014/chart" uri="{C3380CC4-5D6E-409C-BE32-E72D297353CC}">
                <c16:uniqueId val="{00000008-3348-455E-8FF9-CC56C9476EC3}"/>
              </c:ext>
            </c:extLst>
          </c:dPt>
          <c:dLbls>
            <c:dLbl>
              <c:idx val="1"/>
              <c:layout>
                <c:manualLayout>
                  <c:x val="-8.7937511010008546E-2"/>
                  <c:y val="0.13015224919544027"/>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348-455E-8FF9-CC56C9476EC3}"/>
                </c:ext>
              </c:extLst>
            </c:dLbl>
            <c:dLbl>
              <c:idx val="2"/>
              <c:layout>
                <c:manualLayout>
                  <c:x val="-7.7591921479419318E-2"/>
                  <c:y val="9.570018323194123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348-455E-8FF9-CC56C9476EC3}"/>
                </c:ext>
              </c:extLst>
            </c:dLbl>
            <c:dLbl>
              <c:idx val="3"/>
              <c:layout>
                <c:manualLayout>
                  <c:x val="-7.2419126714124676E-2"/>
                  <c:y val="5.3592102609887171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348-455E-8FF9-CC56C9476EC3}"/>
                </c:ext>
              </c:extLst>
            </c:dLbl>
            <c:dLbl>
              <c:idx val="4"/>
              <c:layout>
                <c:manualLayout>
                  <c:x val="-8.0178318862066611E-2"/>
                  <c:y val="-7.0179323652554871E-17"/>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348-455E-8FF9-CC56C9476EC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Christianity</c:v>
                </c:pt>
                <c:pt idx="1">
                  <c:v>Buddhism</c:v>
                </c:pt>
                <c:pt idx="2">
                  <c:v>Islam</c:v>
                </c:pt>
                <c:pt idx="3">
                  <c:v>Hinduism</c:v>
                </c:pt>
                <c:pt idx="4">
                  <c:v>Judaism</c:v>
                </c:pt>
                <c:pt idx="5">
                  <c:v>No Religion</c:v>
                </c:pt>
              </c:strCache>
            </c:strRef>
          </c:cat>
          <c:val>
            <c:numRef>
              <c:f>Sheet1!$B$2:$B$7</c:f>
              <c:numCache>
                <c:formatCode>General</c:formatCode>
                <c:ptCount val="6"/>
                <c:pt idx="0">
                  <c:v>68</c:v>
                </c:pt>
                <c:pt idx="1">
                  <c:v>2.8</c:v>
                </c:pt>
                <c:pt idx="2">
                  <c:v>2.4</c:v>
                </c:pt>
                <c:pt idx="3">
                  <c:v>1.4</c:v>
                </c:pt>
                <c:pt idx="4">
                  <c:v>0.6</c:v>
                </c:pt>
                <c:pt idx="5">
                  <c:v>24.8</c:v>
                </c:pt>
              </c:numCache>
            </c:numRef>
          </c:val>
          <c:extLst>
            <c:ext xmlns:c16="http://schemas.microsoft.com/office/drawing/2014/chart" uri="{C3380CC4-5D6E-409C-BE32-E72D297353CC}">
              <c16:uniqueId val="{00000000-3348-455E-8FF9-CC56C9476EC3}"/>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9EA079-23A2-48D4-97C2-00B99640188F}" type="datetimeFigureOut">
              <a:rPr lang="en-US" smtClean="0"/>
              <a:t>4/17/2024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036777-63AC-4A7B-9EFE-813192D7CFD1}" type="slidenum">
              <a:rPr lang="en-US" smtClean="0"/>
              <a:t>‹#›</a:t>
            </a:fld>
            <a:endParaRPr lang="en-US"/>
          </a:p>
        </p:txBody>
      </p:sp>
    </p:spTree>
    <p:extLst>
      <p:ext uri="{BB962C8B-B14F-4D97-AF65-F5344CB8AC3E}">
        <p14:creationId xmlns:p14="http://schemas.microsoft.com/office/powerpoint/2010/main" val="2629974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AD476-6294-4B00-4DAF-DF5DA81F65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C60042-CF9C-4886-E2A3-273E7AE7CE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872CFC-5BD6-582E-8247-571D353F12FD}"/>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5" name="Footer Placeholder 4">
            <a:extLst>
              <a:ext uri="{FF2B5EF4-FFF2-40B4-BE49-F238E27FC236}">
                <a16:creationId xmlns:a16="http://schemas.microsoft.com/office/drawing/2014/main" id="{768B2407-AA79-4ACD-F550-8793896AB8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0E7287-3BF0-FCEA-05EB-375A210E90C7}"/>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217000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4425C-D338-7B7C-62ED-7D7D81B102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E31844-E2C2-3889-54FC-E29DDF55F4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FA988B-0F76-6CEB-3CD8-5806EBE094B5}"/>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5" name="Footer Placeholder 4">
            <a:extLst>
              <a:ext uri="{FF2B5EF4-FFF2-40B4-BE49-F238E27FC236}">
                <a16:creationId xmlns:a16="http://schemas.microsoft.com/office/drawing/2014/main" id="{247DA70C-3504-3E0D-33B1-B41DC271F5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00D595-8FBF-8526-9AB3-C621882D1D77}"/>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3849044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C00C7-767B-D763-AD8F-826E9587BD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27CF44-B375-47DF-B30C-B7BB6CDD6D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4F8BB5-F9CB-AE1E-11DC-05E8A6723B25}"/>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5" name="Footer Placeholder 4">
            <a:extLst>
              <a:ext uri="{FF2B5EF4-FFF2-40B4-BE49-F238E27FC236}">
                <a16:creationId xmlns:a16="http://schemas.microsoft.com/office/drawing/2014/main" id="{9DD7F791-4309-750A-1075-D50406937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841DCF-BA44-8F79-2994-9A080A84E2CF}"/>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2007255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53A60-D787-0A58-60BA-BDB9B072C7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C568E4-3B1B-E8A6-7E69-B8CEDBD439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1AFBF5-0E09-8E59-3620-1D15E79F6D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464F56-4981-8C79-64FE-06218A6D75FC}"/>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6" name="Footer Placeholder 5">
            <a:extLst>
              <a:ext uri="{FF2B5EF4-FFF2-40B4-BE49-F238E27FC236}">
                <a16:creationId xmlns:a16="http://schemas.microsoft.com/office/drawing/2014/main" id="{CE628612-D481-E27C-5571-399A0E0B6D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5513BC-234E-02C7-7F39-A56E4F0C685B}"/>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3083825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71ACB-82BF-7720-D860-FDE1DBD6D0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962AB7-B5B0-6D55-6303-928F8F3AC9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969E86-9E3A-2A22-018D-20E31C8FCC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F8FC78-63DC-D6AD-9684-5B3CE1E684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A3CEEE-8652-1D3A-F015-77B87ACA41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87C17E-D982-F38A-0DB0-4E520A4AA949}"/>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8" name="Footer Placeholder 7">
            <a:extLst>
              <a:ext uri="{FF2B5EF4-FFF2-40B4-BE49-F238E27FC236}">
                <a16:creationId xmlns:a16="http://schemas.microsoft.com/office/drawing/2014/main" id="{83C24D2A-420D-CB1B-B4FB-780F643E85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A01611-D400-8A8C-C4CE-A6A132BCC2FE}"/>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409647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34047-052E-2EDD-BEB8-4620B57FDB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2B4FC7-9E5B-FEE0-EF94-29FACE596D43}"/>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4" name="Footer Placeholder 3">
            <a:extLst>
              <a:ext uri="{FF2B5EF4-FFF2-40B4-BE49-F238E27FC236}">
                <a16:creationId xmlns:a16="http://schemas.microsoft.com/office/drawing/2014/main" id="{DAAFD78E-6DF9-DFC0-284E-C99D56C9F3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4C4C8A-A30D-776E-DFB9-2F0CADDCE4B5}"/>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2524891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093C3C-0562-30F0-2716-8961F5DE168C}"/>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3" name="Footer Placeholder 2">
            <a:extLst>
              <a:ext uri="{FF2B5EF4-FFF2-40B4-BE49-F238E27FC236}">
                <a16:creationId xmlns:a16="http://schemas.microsoft.com/office/drawing/2014/main" id="{80EFD16C-3F51-3EE6-D3C4-E855B5CEFF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A34780-DC3F-9148-099E-D36DD5844F1F}"/>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2519135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6F693-9DC0-947F-4164-54644D8CCF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61DF19-B02D-53CF-4755-235D138365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FB17CB-EFD5-250C-2DBF-71F494F6E8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40FE7C-927F-1449-8D87-81545296BD72}"/>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6" name="Footer Placeholder 5">
            <a:extLst>
              <a:ext uri="{FF2B5EF4-FFF2-40B4-BE49-F238E27FC236}">
                <a16:creationId xmlns:a16="http://schemas.microsoft.com/office/drawing/2014/main" id="{45D8F030-9FF7-B03D-A6F9-FD3F73DC68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65FC7-57C1-954E-FCFD-28485115DC01}"/>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4202404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F7414-1E7C-88F1-2DC3-6CD151F4B0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911CEF-2EA4-5627-F693-88A0065FB9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98FC6C-E5D1-4CC3-D030-190A24FC7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0B264A-3652-3357-13DF-19F4B03A1820}"/>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6" name="Footer Placeholder 5">
            <a:extLst>
              <a:ext uri="{FF2B5EF4-FFF2-40B4-BE49-F238E27FC236}">
                <a16:creationId xmlns:a16="http://schemas.microsoft.com/office/drawing/2014/main" id="{6ABF174D-5C6E-3AD0-6183-E23D035214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A1B2CB-5180-2FFD-2E91-49D6269DD0B3}"/>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1341200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5E47E-5A6E-84AB-4A18-E5F40550B3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4B8792-7040-6FA9-094D-891FF1D0E5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3D1C0E-B2FD-F444-F728-7FB76A7ADFD6}"/>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5" name="Footer Placeholder 4">
            <a:extLst>
              <a:ext uri="{FF2B5EF4-FFF2-40B4-BE49-F238E27FC236}">
                <a16:creationId xmlns:a16="http://schemas.microsoft.com/office/drawing/2014/main" id="{6779FDC5-1691-15B8-B706-E6B6C4EBE2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FA3DBC-5F8B-9246-7EB7-0048B87DAB78}"/>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2197574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CE0966-56C0-4FA2-A50D-7D7B9BFB5C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1F473A-1050-F416-311A-F5FDAF606F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5568C-B2B2-3CA8-07F8-4798E13425FD}"/>
              </a:ext>
            </a:extLst>
          </p:cNvPr>
          <p:cNvSpPr>
            <a:spLocks noGrp="1"/>
          </p:cNvSpPr>
          <p:nvPr>
            <p:ph type="dt" sz="half" idx="10"/>
          </p:nvPr>
        </p:nvSpPr>
        <p:spPr/>
        <p:txBody>
          <a:bodyPr/>
          <a:lstStyle/>
          <a:p>
            <a:fld id="{7280EFA3-8D1A-46DD-BBCA-95E07F568CA3}" type="datetimeFigureOut">
              <a:rPr lang="en-US" smtClean="0"/>
              <a:t>4/17/2024</a:t>
            </a:fld>
            <a:endParaRPr lang="en-US"/>
          </a:p>
        </p:txBody>
      </p:sp>
      <p:sp>
        <p:nvSpPr>
          <p:cNvPr id="5" name="Footer Placeholder 4">
            <a:extLst>
              <a:ext uri="{FF2B5EF4-FFF2-40B4-BE49-F238E27FC236}">
                <a16:creationId xmlns:a16="http://schemas.microsoft.com/office/drawing/2014/main" id="{6796E742-394B-CFB0-16C2-9B40539EE0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7D19FF-0EEE-14BB-9F0E-DE8430A619D4}"/>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1163948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B3614-CF0B-CDF2-FA54-0C1FD47A1F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65A099-5285-4284-BF56-FFB33A82B1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178AE-7950-7E8C-876B-311A92E8F9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80EFA3-8D1A-46DD-BBCA-95E07F568CA3}" type="datetimeFigureOut">
              <a:rPr lang="en-US" smtClean="0"/>
              <a:t>4/17/2024</a:t>
            </a:fld>
            <a:endParaRPr lang="en-US"/>
          </a:p>
        </p:txBody>
      </p:sp>
      <p:sp>
        <p:nvSpPr>
          <p:cNvPr id="5" name="Footer Placeholder 4">
            <a:extLst>
              <a:ext uri="{FF2B5EF4-FFF2-40B4-BE49-F238E27FC236}">
                <a16:creationId xmlns:a16="http://schemas.microsoft.com/office/drawing/2014/main" id="{D188B798-49E3-7865-A3C1-1A2613ACDD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6D913E-DA94-1B75-A52A-D23D79F058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8AD4-8588-473C-A6E2-033AFF3B8BA6}" type="slidenum">
              <a:rPr lang="en-US" smtClean="0"/>
              <a:t>‹#›</a:t>
            </a:fld>
            <a:endParaRPr lang="en-US"/>
          </a:p>
        </p:txBody>
      </p:sp>
    </p:spTree>
    <p:extLst>
      <p:ext uri="{BB962C8B-B14F-4D97-AF65-F5344CB8AC3E}">
        <p14:creationId xmlns:p14="http://schemas.microsoft.com/office/powerpoint/2010/main" val="298764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AB7C5361-E2FC-65B1-38B6-7EEF0B55CE73}"/>
              </a:ext>
            </a:extLst>
          </p:cNvPr>
          <p:cNvSpPr/>
          <p:nvPr/>
        </p:nvSpPr>
        <p:spPr>
          <a:xfrm>
            <a:off x="-984742" y="-3481754"/>
            <a:ext cx="14161480" cy="13821508"/>
          </a:xfrm>
          <a:prstGeom prst="ellipse">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2482F29-B776-4919-9246-BF28CF1E438F}"/>
              </a:ext>
            </a:extLst>
          </p:cNvPr>
          <p:cNvSpPr/>
          <p:nvPr/>
        </p:nvSpPr>
        <p:spPr>
          <a:xfrm>
            <a:off x="0" y="-2661138"/>
            <a:ext cx="12192000" cy="12180276"/>
          </a:xfrm>
          <a:prstGeom prst="ellipse">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876AA893-398F-AF8E-357C-F7423A17966A}"/>
              </a:ext>
            </a:extLst>
          </p:cNvPr>
          <p:cNvSpPr/>
          <p:nvPr/>
        </p:nvSpPr>
        <p:spPr>
          <a:xfrm>
            <a:off x="1148862" y="-1277815"/>
            <a:ext cx="9894276" cy="9413630"/>
          </a:xfrm>
          <a:prstGeom prst="ellipse">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8F2D212-3FE5-FB32-8AC6-DB7E49343DAD}"/>
              </a:ext>
            </a:extLst>
          </p:cNvPr>
          <p:cNvSpPr/>
          <p:nvPr/>
        </p:nvSpPr>
        <p:spPr>
          <a:xfrm>
            <a:off x="2414950" y="-151667"/>
            <a:ext cx="7362096" cy="7326190"/>
          </a:xfrm>
          <a:prstGeom prst="ellipse">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83D9421-1720-2DBA-063F-7F4AD069F233}"/>
              </a:ext>
            </a:extLst>
          </p:cNvPr>
          <p:cNvSpPr/>
          <p:nvPr/>
        </p:nvSpPr>
        <p:spPr>
          <a:xfrm>
            <a:off x="3516923" y="926123"/>
            <a:ext cx="5158154" cy="5005754"/>
          </a:xfrm>
          <a:prstGeom prst="ellipse">
            <a:avLst/>
          </a:prstGeom>
          <a:solidFill>
            <a:schemeClr val="bg1">
              <a:lumMod val="9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02588AD-55EA-5992-A68C-0C05B23D5F97}"/>
              </a:ext>
            </a:extLst>
          </p:cNvPr>
          <p:cNvSpPr/>
          <p:nvPr/>
        </p:nvSpPr>
        <p:spPr>
          <a:xfrm>
            <a:off x="4636476" y="2000250"/>
            <a:ext cx="2919047" cy="2857500"/>
          </a:xfrm>
          <a:prstGeom prst="ellipse">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5018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phic 11" descr="Shirt">
            <a:extLst>
              <a:ext uri="{FF2B5EF4-FFF2-40B4-BE49-F238E27FC236}">
                <a16:creationId xmlns:a16="http://schemas.microsoft.com/office/drawing/2014/main" id="{7B9AE494-9DC4-B312-13BC-8224A308972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7324" y="3168072"/>
            <a:ext cx="914400" cy="914400"/>
          </a:xfrm>
          <a:prstGeom prst="rect">
            <a:avLst/>
          </a:prstGeom>
        </p:spPr>
      </p:pic>
      <p:sp>
        <p:nvSpPr>
          <p:cNvPr id="10" name="Rectangle: Rounded Corners 9">
            <a:extLst>
              <a:ext uri="{FF2B5EF4-FFF2-40B4-BE49-F238E27FC236}">
                <a16:creationId xmlns:a16="http://schemas.microsoft.com/office/drawing/2014/main" id="{A81CC9E3-6742-6005-EFC0-6E65A298299C}"/>
              </a:ext>
            </a:extLst>
          </p:cNvPr>
          <p:cNvSpPr/>
          <p:nvPr/>
        </p:nvSpPr>
        <p:spPr>
          <a:xfrm>
            <a:off x="-6043246" y="1789457"/>
            <a:ext cx="5241015" cy="327152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B7C5361-E2FC-65B1-38B6-7EEF0B55CE73}"/>
              </a:ext>
            </a:extLst>
          </p:cNvPr>
          <p:cNvSpPr/>
          <p:nvPr/>
        </p:nvSpPr>
        <p:spPr>
          <a:xfrm>
            <a:off x="-3350995" y="-5791200"/>
            <a:ext cx="18893986" cy="18440400"/>
          </a:xfrm>
          <a:prstGeom prst="ellipse">
            <a:avLst/>
          </a:prstGeom>
          <a:solidFill>
            <a:schemeClr val="bg1">
              <a:lumMod val="85000"/>
            </a:schemeClr>
          </a:solidFill>
          <a:effectLst>
            <a:outerShdw blurRad="635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2482F29-B776-4919-9246-BF28CF1E438F}"/>
              </a:ext>
            </a:extLst>
          </p:cNvPr>
          <p:cNvSpPr/>
          <p:nvPr/>
        </p:nvSpPr>
        <p:spPr>
          <a:xfrm>
            <a:off x="-1954859" y="-4614118"/>
            <a:ext cx="16101718" cy="16086236"/>
          </a:xfrm>
          <a:prstGeom prst="ellipse">
            <a:avLst/>
          </a:prstGeom>
          <a:solidFill>
            <a:schemeClr val="bg1">
              <a:lumMod val="85000"/>
            </a:schemeClr>
          </a:solidFill>
          <a:effectLst>
            <a:outerShdw blurRad="635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76AA893-398F-AF8E-357C-F7423A17966A}"/>
              </a:ext>
            </a:extLst>
          </p:cNvPr>
          <p:cNvSpPr/>
          <p:nvPr/>
        </p:nvSpPr>
        <p:spPr>
          <a:xfrm>
            <a:off x="-808817" y="-3140393"/>
            <a:ext cx="13809634" cy="13138786"/>
          </a:xfrm>
          <a:prstGeom prst="ellipse">
            <a:avLst/>
          </a:prstGeom>
          <a:solidFill>
            <a:schemeClr val="bg1">
              <a:lumMod val="95000"/>
            </a:schemeClr>
          </a:solidFill>
          <a:effectLst>
            <a:outerShdw blurRad="635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8F2D212-3FE5-FB32-8AC6-DB7E49343DAD}"/>
              </a:ext>
            </a:extLst>
          </p:cNvPr>
          <p:cNvSpPr/>
          <p:nvPr/>
        </p:nvSpPr>
        <p:spPr>
          <a:xfrm>
            <a:off x="825144" y="-1733720"/>
            <a:ext cx="10541708" cy="10490296"/>
          </a:xfrm>
          <a:prstGeom prst="ellipse">
            <a:avLst/>
          </a:prstGeom>
          <a:solidFill>
            <a:schemeClr val="bg1"/>
          </a:solidFill>
          <a:effectLst>
            <a:outerShdw blurRad="635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83D9421-1720-2DBA-063F-7F4AD069F233}"/>
              </a:ext>
            </a:extLst>
          </p:cNvPr>
          <p:cNvSpPr/>
          <p:nvPr/>
        </p:nvSpPr>
        <p:spPr>
          <a:xfrm>
            <a:off x="1879318" y="-663098"/>
            <a:ext cx="8433364" cy="8184196"/>
          </a:xfrm>
          <a:prstGeom prst="ellipse">
            <a:avLst/>
          </a:prstGeom>
          <a:solidFill>
            <a:schemeClr val="bg1">
              <a:lumMod val="95000"/>
            </a:schemeClr>
          </a:solidFill>
          <a:ln>
            <a:solidFill>
              <a:schemeClr val="accent2">
                <a:lumMod val="40000"/>
                <a:lumOff val="6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02588AD-55EA-5992-A68C-0C05B23D5F97}"/>
              </a:ext>
            </a:extLst>
          </p:cNvPr>
          <p:cNvSpPr/>
          <p:nvPr/>
        </p:nvSpPr>
        <p:spPr>
          <a:xfrm rot="14919971">
            <a:off x="1854242" y="-829690"/>
            <a:ext cx="8454032" cy="8509819"/>
          </a:xfrm>
          <a:prstGeom prst="ellipse">
            <a:avLst/>
          </a:prstGeom>
          <a:solidFill>
            <a:schemeClr val="bg1"/>
          </a:solidFill>
          <a:ln w="63500" cap="rnd" cmpd="sng">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EE4D504-645E-1859-E8CD-F21ECAEF4376}"/>
              </a:ext>
            </a:extLst>
          </p:cNvPr>
          <p:cNvCxnSpPr/>
          <p:nvPr/>
        </p:nvCxnSpPr>
        <p:spPr>
          <a:xfrm>
            <a:off x="14190360" y="3848100"/>
            <a:ext cx="320040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1772CD00-E6DE-C431-3759-70C1C85F6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2986" y="0"/>
            <a:ext cx="6826028" cy="6858000"/>
          </a:xfrm>
          <a:prstGeom prst="ellipse">
            <a:avLst/>
          </a:prstGeom>
        </p:spPr>
      </p:pic>
    </p:spTree>
    <p:extLst>
      <p:ext uri="{BB962C8B-B14F-4D97-AF65-F5344CB8AC3E}">
        <p14:creationId xmlns:p14="http://schemas.microsoft.com/office/powerpoint/2010/main" val="1907981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89F0249A-7E81-E203-EA45-53700F1F0C0A}"/>
              </a:ext>
            </a:extLst>
          </p:cNvPr>
          <p:cNvSpPr/>
          <p:nvPr/>
        </p:nvSpPr>
        <p:spPr>
          <a:xfrm rot="1876611">
            <a:off x="-11432376" y="13539"/>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3188139D-1536-067D-7EC9-59F1365F8EF5}"/>
              </a:ext>
            </a:extLst>
          </p:cNvPr>
          <p:cNvSpPr/>
          <p:nvPr/>
        </p:nvSpPr>
        <p:spPr>
          <a:xfrm rot="1876611">
            <a:off x="-10143754" y="1481747"/>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508E5D52-0CB3-1BA2-16DC-02134AE7BD74}"/>
              </a:ext>
            </a:extLst>
          </p:cNvPr>
          <p:cNvSpPr/>
          <p:nvPr/>
        </p:nvSpPr>
        <p:spPr>
          <a:xfrm rot="1876611">
            <a:off x="-8725870" y="3021961"/>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F56FB4CE-069F-F0AE-88B8-483DCFCDA982}"/>
              </a:ext>
            </a:extLst>
          </p:cNvPr>
          <p:cNvSpPr/>
          <p:nvPr/>
        </p:nvSpPr>
        <p:spPr>
          <a:xfrm>
            <a:off x="-1143000" y="1789457"/>
            <a:ext cx="5241015" cy="327152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02588AD-55EA-5992-A68C-0C05B23D5F97}"/>
              </a:ext>
            </a:extLst>
          </p:cNvPr>
          <p:cNvSpPr/>
          <p:nvPr/>
        </p:nvSpPr>
        <p:spPr>
          <a:xfrm rot="18767046">
            <a:off x="-2307249" y="-5018644"/>
            <a:ext cx="16777014" cy="16887726"/>
          </a:xfrm>
          <a:prstGeom prst="ellipse">
            <a:avLst/>
          </a:prstGeom>
          <a:noFill/>
          <a:ln w="63500" cap="rnd" cmpd="sng">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E7D39B9-C138-F340-0352-F30CC62FEDFC}"/>
              </a:ext>
            </a:extLst>
          </p:cNvPr>
          <p:cNvSpPr txBox="1"/>
          <p:nvPr/>
        </p:nvSpPr>
        <p:spPr>
          <a:xfrm>
            <a:off x="6914776" y="2274724"/>
            <a:ext cx="1694422" cy="830997"/>
          </a:xfrm>
          <a:prstGeom prst="rect">
            <a:avLst/>
          </a:prstGeom>
          <a:noFill/>
        </p:spPr>
        <p:txBody>
          <a:bodyPr wrap="square" rtlCol="0">
            <a:spAutoFit/>
          </a:bodyPr>
          <a:lstStyle/>
          <a:p>
            <a:r>
              <a:rPr lang="en-US" sz="4800" dirty="0">
                <a:solidFill>
                  <a:schemeClr val="bg1"/>
                </a:solidFill>
                <a:latin typeface="Algerian" panose="04020705040A02060702" pitchFamily="82" charset="0"/>
              </a:rPr>
              <a:t>RIVA</a:t>
            </a:r>
          </a:p>
        </p:txBody>
      </p:sp>
      <p:sp>
        <p:nvSpPr>
          <p:cNvPr id="11" name="TextBox 10">
            <a:extLst>
              <a:ext uri="{FF2B5EF4-FFF2-40B4-BE49-F238E27FC236}">
                <a16:creationId xmlns:a16="http://schemas.microsoft.com/office/drawing/2014/main" id="{20BC18FD-02D3-5515-18F2-0CFD398C0E8D}"/>
              </a:ext>
            </a:extLst>
          </p:cNvPr>
          <p:cNvSpPr txBox="1"/>
          <p:nvPr/>
        </p:nvSpPr>
        <p:spPr>
          <a:xfrm>
            <a:off x="4897120" y="3225162"/>
            <a:ext cx="6155964" cy="400110"/>
          </a:xfrm>
          <a:prstGeom prst="rect">
            <a:avLst/>
          </a:prstGeom>
          <a:noFill/>
        </p:spPr>
        <p:txBody>
          <a:bodyPr wrap="square" rtlCol="0">
            <a:spAutoFit/>
          </a:bodyPr>
          <a:lstStyle/>
          <a:p>
            <a:r>
              <a:rPr lang="en-US" sz="2000" dirty="0">
                <a:solidFill>
                  <a:schemeClr val="bg1"/>
                </a:solidFill>
                <a:latin typeface="Bodoni MT" panose="02070603080606020203" pitchFamily="18" charset="0"/>
              </a:rPr>
              <a:t>REAL TIME INTELLIGENT VISION ASSISTANT</a:t>
            </a:r>
          </a:p>
        </p:txBody>
      </p:sp>
      <p:pic>
        <p:nvPicPr>
          <p:cNvPr id="8" name="Picture 7">
            <a:extLst>
              <a:ext uri="{FF2B5EF4-FFF2-40B4-BE49-F238E27FC236}">
                <a16:creationId xmlns:a16="http://schemas.microsoft.com/office/drawing/2014/main" id="{AB9DD140-12AF-3B84-BCF2-FFA30FD4CF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037" y="1974704"/>
            <a:ext cx="2887500" cy="2901025"/>
          </a:xfrm>
          <a:prstGeom prst="ellipse">
            <a:avLst/>
          </a:prstGeom>
        </p:spPr>
      </p:pic>
    </p:spTree>
    <p:extLst>
      <p:ext uri="{BB962C8B-B14F-4D97-AF65-F5344CB8AC3E}">
        <p14:creationId xmlns:p14="http://schemas.microsoft.com/office/powerpoint/2010/main" val="2577366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56FB4CE-069F-F0AE-88B8-483DCFCDA982}"/>
              </a:ext>
            </a:extLst>
          </p:cNvPr>
          <p:cNvSpPr/>
          <p:nvPr/>
        </p:nvSpPr>
        <p:spPr>
          <a:xfrm>
            <a:off x="-8153402" y="1789457"/>
            <a:ext cx="5241015" cy="327152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E7D39B9-C138-F340-0352-F30CC62FEDFC}"/>
              </a:ext>
            </a:extLst>
          </p:cNvPr>
          <p:cNvSpPr txBox="1"/>
          <p:nvPr/>
        </p:nvSpPr>
        <p:spPr>
          <a:xfrm>
            <a:off x="2277406" y="514242"/>
            <a:ext cx="8903738" cy="830997"/>
          </a:xfrm>
          <a:prstGeom prst="rect">
            <a:avLst/>
          </a:prstGeom>
          <a:noFill/>
        </p:spPr>
        <p:txBody>
          <a:bodyPr wrap="square" rtlCol="0">
            <a:spAutoFit/>
          </a:bodyPr>
          <a:lstStyle/>
          <a:p>
            <a:r>
              <a:rPr lang="en-US" sz="4800" dirty="0">
                <a:solidFill>
                  <a:schemeClr val="bg1"/>
                </a:solidFill>
                <a:latin typeface="Algerian" panose="04020705040A02060702" pitchFamily="82" charset="0"/>
              </a:rPr>
              <a:t>REAL TIME VISION ASSISTANT</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2400213" y="1345239"/>
            <a:ext cx="845684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734FD543-D7B6-46B2-5A8D-F74E964026DD}"/>
              </a:ext>
            </a:extLst>
          </p:cNvPr>
          <p:cNvSpPr/>
          <p:nvPr/>
        </p:nvSpPr>
        <p:spPr>
          <a:xfrm rot="1876611">
            <a:off x="-2792195" y="4706775"/>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01268D59-6DB6-AF36-A97D-38D6C596BB77}"/>
              </a:ext>
            </a:extLst>
          </p:cNvPr>
          <p:cNvSpPr/>
          <p:nvPr/>
        </p:nvSpPr>
        <p:spPr>
          <a:xfrm rot="1876611">
            <a:off x="-2489198" y="5581040"/>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5BBFF71-9B32-02A2-5DDF-3DB8280B417E}"/>
              </a:ext>
            </a:extLst>
          </p:cNvPr>
          <p:cNvSpPr/>
          <p:nvPr/>
        </p:nvSpPr>
        <p:spPr>
          <a:xfrm rot="1876611">
            <a:off x="-2029547" y="6559156"/>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8EA72BE-4094-2E44-1D02-E3A0B208E298}"/>
              </a:ext>
            </a:extLst>
          </p:cNvPr>
          <p:cNvSpPr txBox="1"/>
          <p:nvPr/>
        </p:nvSpPr>
        <p:spPr>
          <a:xfrm>
            <a:off x="2277406" y="1717250"/>
            <a:ext cx="2792239" cy="369332"/>
          </a:xfrm>
          <a:prstGeom prst="rect">
            <a:avLst/>
          </a:prstGeom>
          <a:noFill/>
        </p:spPr>
        <p:txBody>
          <a:bodyPr wrap="none" rtlCol="0">
            <a:spAutoFit/>
          </a:bodyPr>
          <a:lstStyle/>
          <a:p>
            <a:r>
              <a:rPr lang="en-US" dirty="0">
                <a:solidFill>
                  <a:schemeClr val="bg1"/>
                </a:solidFill>
                <a:latin typeface="Bodoni MT" panose="02070603080606020203" pitchFamily="18" charset="0"/>
              </a:rPr>
              <a:t>PROBLEM STATEMENT</a:t>
            </a:r>
          </a:p>
        </p:txBody>
      </p:sp>
      <p:sp>
        <p:nvSpPr>
          <p:cNvPr id="12" name="TextBox 11">
            <a:extLst>
              <a:ext uri="{FF2B5EF4-FFF2-40B4-BE49-F238E27FC236}">
                <a16:creationId xmlns:a16="http://schemas.microsoft.com/office/drawing/2014/main" id="{88237A7E-8312-16CF-51B3-9814D5F63398}"/>
              </a:ext>
            </a:extLst>
          </p:cNvPr>
          <p:cNvSpPr txBox="1"/>
          <p:nvPr/>
        </p:nvSpPr>
        <p:spPr>
          <a:xfrm>
            <a:off x="2641600" y="2187535"/>
            <a:ext cx="8321040" cy="1077218"/>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Blind individuals face significant challenges navigating their surroundings independently due to the limitations of traditional mobility aids. Existing solutions lack the dynamic, personalized assistance needed to efficiently navigate unfamiliar environments, leading to safety hazards and reduced independence.</a:t>
            </a:r>
          </a:p>
        </p:txBody>
      </p:sp>
      <p:sp>
        <p:nvSpPr>
          <p:cNvPr id="14" name="TextBox 13">
            <a:extLst>
              <a:ext uri="{FF2B5EF4-FFF2-40B4-BE49-F238E27FC236}">
                <a16:creationId xmlns:a16="http://schemas.microsoft.com/office/drawing/2014/main" id="{C4821C6A-09B1-2850-CD5E-0DE34C26AD13}"/>
              </a:ext>
            </a:extLst>
          </p:cNvPr>
          <p:cNvSpPr txBox="1"/>
          <p:nvPr/>
        </p:nvSpPr>
        <p:spPr>
          <a:xfrm>
            <a:off x="5529038" y="4094936"/>
            <a:ext cx="5951762" cy="2565702"/>
          </a:xfrm>
          <a:prstGeom prst="rect">
            <a:avLst/>
          </a:prstGeom>
          <a:noFill/>
        </p:spPr>
        <p:txBody>
          <a:bodyPr wrap="square" rtlCol="0">
            <a:spAutoFit/>
          </a:bodyPr>
          <a:lstStyle/>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Vegan and cruelty-free materials.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Sustainable and eco-friendly practices.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Exclusive, limited-edition designs.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Uncompromising quality and craftsmanship.</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Ethical labor and production processes.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 commitment to luxury, elegance, and fashion-forward thinking.</a:t>
            </a:r>
          </a:p>
          <a:p>
            <a:endParaRPr lang="en-US" sz="1600" dirty="0">
              <a:solidFill>
                <a:schemeClr val="bg1"/>
              </a:solidFill>
            </a:endParaRPr>
          </a:p>
        </p:txBody>
      </p:sp>
      <p:sp>
        <p:nvSpPr>
          <p:cNvPr id="15" name="TextBox 14">
            <a:extLst>
              <a:ext uri="{FF2B5EF4-FFF2-40B4-BE49-F238E27FC236}">
                <a16:creationId xmlns:a16="http://schemas.microsoft.com/office/drawing/2014/main" id="{A000FFDA-A32C-DAB7-C595-FF995F174955}"/>
              </a:ext>
            </a:extLst>
          </p:cNvPr>
          <p:cNvSpPr txBox="1"/>
          <p:nvPr/>
        </p:nvSpPr>
        <p:spPr>
          <a:xfrm>
            <a:off x="5183166" y="3647650"/>
            <a:ext cx="1375698" cy="369332"/>
          </a:xfrm>
          <a:prstGeom prst="rect">
            <a:avLst/>
          </a:prstGeom>
          <a:noFill/>
        </p:spPr>
        <p:txBody>
          <a:bodyPr wrap="none" rtlCol="0">
            <a:spAutoFit/>
          </a:bodyPr>
          <a:lstStyle/>
          <a:p>
            <a:r>
              <a:rPr lang="en-US" dirty="0">
                <a:solidFill>
                  <a:schemeClr val="bg1"/>
                </a:solidFill>
                <a:latin typeface="Bodoni MT" panose="02070603080606020203" pitchFamily="18" charset="0"/>
              </a:rPr>
              <a:t>SOLUTION</a:t>
            </a:r>
          </a:p>
        </p:txBody>
      </p:sp>
      <p:sp>
        <p:nvSpPr>
          <p:cNvPr id="16" name="Oval 15">
            <a:extLst>
              <a:ext uri="{FF2B5EF4-FFF2-40B4-BE49-F238E27FC236}">
                <a16:creationId xmlns:a16="http://schemas.microsoft.com/office/drawing/2014/main" id="{831A34AE-7645-FE30-0EA9-2E29D2877EEA}"/>
              </a:ext>
            </a:extLst>
          </p:cNvPr>
          <p:cNvSpPr/>
          <p:nvPr/>
        </p:nvSpPr>
        <p:spPr>
          <a:xfrm rot="18767046">
            <a:off x="-2307249" y="-5018644"/>
            <a:ext cx="16777014" cy="16887726"/>
          </a:xfrm>
          <a:prstGeom prst="ellipse">
            <a:avLst/>
          </a:prstGeom>
          <a:noFill/>
          <a:ln w="63500" cap="rnd" cmpd="sng">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F731136B-129F-D676-8CD3-DB889C683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5440" y="3245346"/>
            <a:ext cx="45720" cy="45720"/>
          </a:xfrm>
          <a:prstGeom prst="rect">
            <a:avLst/>
          </a:prstGeom>
        </p:spPr>
      </p:pic>
      <p:pic>
        <p:nvPicPr>
          <p:cNvPr id="4" name="Picture 3">
            <a:extLst>
              <a:ext uri="{FF2B5EF4-FFF2-40B4-BE49-F238E27FC236}">
                <a16:creationId xmlns:a16="http://schemas.microsoft.com/office/drawing/2014/main" id="{2DB935A0-27C4-78C4-CB0F-93111595B4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023" y="239692"/>
            <a:ext cx="1542539" cy="1549765"/>
          </a:xfrm>
          <a:prstGeom prst="ellipse">
            <a:avLst/>
          </a:prstGeom>
        </p:spPr>
      </p:pic>
    </p:spTree>
    <p:extLst>
      <p:ext uri="{BB962C8B-B14F-4D97-AF65-F5344CB8AC3E}">
        <p14:creationId xmlns:p14="http://schemas.microsoft.com/office/powerpoint/2010/main" val="2644920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524021" y="514242"/>
            <a:ext cx="622751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ABOUT OUR PRODUCT</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646828" y="1345239"/>
            <a:ext cx="602735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734FD543-D7B6-46B2-5A8D-F74E964026DD}"/>
              </a:ext>
            </a:extLst>
          </p:cNvPr>
          <p:cNvSpPr/>
          <p:nvPr/>
        </p:nvSpPr>
        <p:spPr>
          <a:xfrm rot="1876611">
            <a:off x="7383435" y="10528010"/>
            <a:ext cx="8859520" cy="406399"/>
          </a:xfrm>
          <a:prstGeom prst="round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01268D59-6DB6-AF36-A97D-38D6C596BB77}"/>
              </a:ext>
            </a:extLst>
          </p:cNvPr>
          <p:cNvSpPr/>
          <p:nvPr/>
        </p:nvSpPr>
        <p:spPr>
          <a:xfrm rot="1876611">
            <a:off x="7966632" y="11506124"/>
            <a:ext cx="8859520" cy="406399"/>
          </a:xfrm>
          <a:prstGeom prst="round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5BBFF71-9B32-02A2-5DDF-3DB8280B417E}"/>
              </a:ext>
            </a:extLst>
          </p:cNvPr>
          <p:cNvSpPr/>
          <p:nvPr/>
        </p:nvSpPr>
        <p:spPr>
          <a:xfrm rot="1876611">
            <a:off x="8549830" y="12484239"/>
            <a:ext cx="8859520" cy="406399"/>
          </a:xfrm>
          <a:prstGeom prst="round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114CE26C-1AFA-9548-4808-B8DECA2B37EE}"/>
              </a:ext>
            </a:extLst>
          </p:cNvPr>
          <p:cNvSpPr/>
          <p:nvPr/>
        </p:nvSpPr>
        <p:spPr>
          <a:xfrm rot="18767046">
            <a:off x="-2584218" y="-1720989"/>
            <a:ext cx="10496246" cy="1029997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F57DA950-2BA4-24BD-0F9D-B9E15285E44C}"/>
              </a:ext>
            </a:extLst>
          </p:cNvPr>
          <p:cNvSpPr txBox="1"/>
          <p:nvPr/>
        </p:nvSpPr>
        <p:spPr>
          <a:xfrm>
            <a:off x="631486" y="1717250"/>
            <a:ext cx="2969274" cy="369332"/>
          </a:xfrm>
          <a:prstGeom prst="rect">
            <a:avLst/>
          </a:prstGeom>
          <a:noFill/>
        </p:spPr>
        <p:txBody>
          <a:bodyPr wrap="none" rtlCol="0">
            <a:spAutoFit/>
          </a:bodyPr>
          <a:lstStyle/>
          <a:p>
            <a:r>
              <a:rPr lang="en-US" dirty="0">
                <a:solidFill>
                  <a:schemeClr val="bg1"/>
                </a:solidFill>
                <a:latin typeface="Bodoni MT" panose="02070603080606020203" pitchFamily="18" charset="0"/>
              </a:rPr>
              <a:t>PRODUCT DESCRIPTION</a:t>
            </a:r>
          </a:p>
        </p:txBody>
      </p:sp>
      <p:sp>
        <p:nvSpPr>
          <p:cNvPr id="111" name="TextBox 110">
            <a:extLst>
              <a:ext uri="{FF2B5EF4-FFF2-40B4-BE49-F238E27FC236}">
                <a16:creationId xmlns:a16="http://schemas.microsoft.com/office/drawing/2014/main" id="{0A279DD9-D4FA-68A1-23AE-BCD142903BCE}"/>
              </a:ext>
            </a:extLst>
          </p:cNvPr>
          <p:cNvSpPr txBox="1"/>
          <p:nvPr/>
        </p:nvSpPr>
        <p:spPr>
          <a:xfrm>
            <a:off x="995680" y="2187535"/>
            <a:ext cx="5344160" cy="1323439"/>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LuxeVegan Couture’s products include dresses, tops, pants, skirts, jackets, coats, sweaters, and accessories, all designed with a modern and elegant aesthetic that reflects the brand’s values of compassion, innovation, and excellence and are produced in the most sustainable methods.</a:t>
            </a:r>
            <a:endParaRPr lang="en-US" sz="1600" dirty="0">
              <a:solidFill>
                <a:schemeClr val="bg1"/>
              </a:solidFill>
            </a:endParaRPr>
          </a:p>
        </p:txBody>
      </p:sp>
      <p:sp>
        <p:nvSpPr>
          <p:cNvPr id="112" name="TextBox 111">
            <a:extLst>
              <a:ext uri="{FF2B5EF4-FFF2-40B4-BE49-F238E27FC236}">
                <a16:creationId xmlns:a16="http://schemas.microsoft.com/office/drawing/2014/main" id="{590C99B2-5C52-122D-4964-D2A76A1B7A47}"/>
              </a:ext>
            </a:extLst>
          </p:cNvPr>
          <p:cNvSpPr txBox="1"/>
          <p:nvPr/>
        </p:nvSpPr>
        <p:spPr>
          <a:xfrm>
            <a:off x="631486" y="4082270"/>
            <a:ext cx="2807372" cy="369332"/>
          </a:xfrm>
          <a:prstGeom prst="rect">
            <a:avLst/>
          </a:prstGeom>
          <a:noFill/>
        </p:spPr>
        <p:txBody>
          <a:bodyPr wrap="none" rtlCol="0">
            <a:spAutoFit/>
          </a:bodyPr>
          <a:lstStyle/>
          <a:p>
            <a:r>
              <a:rPr lang="en-US" dirty="0">
                <a:solidFill>
                  <a:schemeClr val="bg1"/>
                </a:solidFill>
                <a:latin typeface="Bodoni MT" panose="02070603080606020203" pitchFamily="18" charset="0"/>
              </a:rPr>
              <a:t>SIZE OF THE PRODUCT</a:t>
            </a:r>
          </a:p>
        </p:txBody>
      </p:sp>
      <p:sp>
        <p:nvSpPr>
          <p:cNvPr id="113" name="TextBox 112">
            <a:extLst>
              <a:ext uri="{FF2B5EF4-FFF2-40B4-BE49-F238E27FC236}">
                <a16:creationId xmlns:a16="http://schemas.microsoft.com/office/drawing/2014/main" id="{B90104B2-1278-C998-484F-A0B5A6FAC344}"/>
              </a:ext>
            </a:extLst>
          </p:cNvPr>
          <p:cNvSpPr txBox="1"/>
          <p:nvPr/>
        </p:nvSpPr>
        <p:spPr>
          <a:xfrm>
            <a:off x="995680" y="4552555"/>
            <a:ext cx="5344160" cy="830997"/>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We are a brand that value and consider all our customers, so in order to reach out and suit them we offer a wide range of body types and preferences.</a:t>
            </a:r>
            <a:endParaRPr lang="en-US" sz="1600" dirty="0">
              <a:solidFill>
                <a:schemeClr val="bg1"/>
              </a:solidFill>
            </a:endParaRPr>
          </a:p>
        </p:txBody>
      </p:sp>
      <p:pic>
        <p:nvPicPr>
          <p:cNvPr id="115" name="Picture 114">
            <a:extLst>
              <a:ext uri="{FF2B5EF4-FFF2-40B4-BE49-F238E27FC236}">
                <a16:creationId xmlns:a16="http://schemas.microsoft.com/office/drawing/2014/main" id="{D4EC1B9C-8FE8-F13D-98DE-C8192B9A81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7344" y="1717250"/>
            <a:ext cx="3101912" cy="3101912"/>
          </a:xfrm>
          <a:prstGeom prst="rect">
            <a:avLst/>
          </a:prstGeom>
          <a:ln w="190500" cap="sq">
            <a:solidFill>
              <a:srgbClr val="C8C6BD"/>
            </a:solidFill>
            <a:prstDash val="solid"/>
            <a:miter lim="800000"/>
          </a:ln>
          <a:effectLst/>
          <a:scene3d>
            <a:camera prst="perspectiveFront" fov="5400000"/>
            <a:lightRig rig="threePt" dir="t">
              <a:rot lat="0" lon="0" rev="2100000"/>
            </a:lightRig>
          </a:scene3d>
          <a:sp3d extrusionH="25400">
            <a:bevelT w="304800" h="152400" prst="hardEdge"/>
            <a:extrusionClr>
              <a:srgbClr val="000000"/>
            </a:extrusionClr>
          </a:sp3d>
        </p:spPr>
      </p:pic>
      <p:pic>
        <p:nvPicPr>
          <p:cNvPr id="117" name="Picture 116">
            <a:extLst>
              <a:ext uri="{FF2B5EF4-FFF2-40B4-BE49-F238E27FC236}">
                <a16:creationId xmlns:a16="http://schemas.microsoft.com/office/drawing/2014/main" id="{12C1D371-39DB-FF7F-0646-1CB7C232D8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567888" y="307954"/>
            <a:ext cx="1357872" cy="1357872"/>
          </a:xfrm>
          <a:prstGeom prst="ellipse">
            <a:avLst/>
          </a:prstGeom>
        </p:spPr>
      </p:pic>
    </p:spTree>
    <p:extLst>
      <p:ext uri="{BB962C8B-B14F-4D97-AF65-F5344CB8AC3E}">
        <p14:creationId xmlns:p14="http://schemas.microsoft.com/office/powerpoint/2010/main" val="1164468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524021" y="514242"/>
            <a:ext cx="622751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ABOUT OUR PRODUCT</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646828" y="1345239"/>
            <a:ext cx="602735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114CE26C-1AFA-9548-4808-B8DECA2B37EE}"/>
              </a:ext>
            </a:extLst>
          </p:cNvPr>
          <p:cNvSpPr/>
          <p:nvPr/>
        </p:nvSpPr>
        <p:spPr>
          <a:xfrm rot="11616909">
            <a:off x="-12734058" y="-1720989"/>
            <a:ext cx="10496246" cy="1029997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F57DA950-2BA4-24BD-0F9D-B9E15285E44C}"/>
              </a:ext>
            </a:extLst>
          </p:cNvPr>
          <p:cNvSpPr txBox="1"/>
          <p:nvPr/>
        </p:nvSpPr>
        <p:spPr>
          <a:xfrm>
            <a:off x="631486" y="1717250"/>
            <a:ext cx="1148071" cy="369332"/>
          </a:xfrm>
          <a:prstGeom prst="rect">
            <a:avLst/>
          </a:prstGeom>
          <a:noFill/>
        </p:spPr>
        <p:txBody>
          <a:bodyPr wrap="none" rtlCol="0">
            <a:spAutoFit/>
          </a:bodyPr>
          <a:lstStyle/>
          <a:p>
            <a:r>
              <a:rPr lang="en-US" dirty="0">
                <a:solidFill>
                  <a:schemeClr val="bg1"/>
                </a:solidFill>
                <a:latin typeface="Bodoni MT" panose="02070603080606020203" pitchFamily="18" charset="0"/>
              </a:rPr>
              <a:t>COLOUR</a:t>
            </a:r>
          </a:p>
        </p:txBody>
      </p:sp>
      <p:sp>
        <p:nvSpPr>
          <p:cNvPr id="111" name="TextBox 110">
            <a:extLst>
              <a:ext uri="{FF2B5EF4-FFF2-40B4-BE49-F238E27FC236}">
                <a16:creationId xmlns:a16="http://schemas.microsoft.com/office/drawing/2014/main" id="{0A279DD9-D4FA-68A1-23AE-BCD142903BCE}"/>
              </a:ext>
            </a:extLst>
          </p:cNvPr>
          <p:cNvSpPr txBox="1"/>
          <p:nvPr/>
        </p:nvSpPr>
        <p:spPr>
          <a:xfrm>
            <a:off x="995680" y="2187535"/>
            <a:ext cx="4714240" cy="1569660"/>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As we are vegan brand solely emphasizing on sustainability, we will be using plant-based dyes, and our products will be available in most of the shades. We also provide custom dying options for custom orders if a customer want to tweak and have a more personal choice.</a:t>
            </a:r>
            <a:endParaRPr lang="en-US" sz="1600" dirty="0">
              <a:solidFill>
                <a:schemeClr val="bg1"/>
              </a:solidFill>
            </a:endParaRPr>
          </a:p>
        </p:txBody>
      </p:sp>
      <p:sp>
        <p:nvSpPr>
          <p:cNvPr id="112" name="TextBox 111">
            <a:extLst>
              <a:ext uri="{FF2B5EF4-FFF2-40B4-BE49-F238E27FC236}">
                <a16:creationId xmlns:a16="http://schemas.microsoft.com/office/drawing/2014/main" id="{590C99B2-5C52-122D-4964-D2A76A1B7A47}"/>
              </a:ext>
            </a:extLst>
          </p:cNvPr>
          <p:cNvSpPr txBox="1"/>
          <p:nvPr/>
        </p:nvSpPr>
        <p:spPr>
          <a:xfrm>
            <a:off x="631486" y="4082270"/>
            <a:ext cx="1543884" cy="369332"/>
          </a:xfrm>
          <a:prstGeom prst="rect">
            <a:avLst/>
          </a:prstGeom>
          <a:noFill/>
        </p:spPr>
        <p:txBody>
          <a:bodyPr wrap="none" rtlCol="0">
            <a:spAutoFit/>
          </a:bodyPr>
          <a:lstStyle/>
          <a:p>
            <a:r>
              <a:rPr lang="en-US" dirty="0">
                <a:solidFill>
                  <a:schemeClr val="bg1"/>
                </a:solidFill>
                <a:latin typeface="Bodoni MT" panose="02070603080606020203" pitchFamily="18" charset="0"/>
              </a:rPr>
              <a:t>PACKAGING</a:t>
            </a:r>
          </a:p>
        </p:txBody>
      </p:sp>
      <p:sp>
        <p:nvSpPr>
          <p:cNvPr id="113" name="TextBox 112">
            <a:extLst>
              <a:ext uri="{FF2B5EF4-FFF2-40B4-BE49-F238E27FC236}">
                <a16:creationId xmlns:a16="http://schemas.microsoft.com/office/drawing/2014/main" id="{B90104B2-1278-C998-484F-A0B5A6FAC344}"/>
              </a:ext>
            </a:extLst>
          </p:cNvPr>
          <p:cNvSpPr txBox="1"/>
          <p:nvPr/>
        </p:nvSpPr>
        <p:spPr>
          <a:xfrm>
            <a:off x="995680" y="4552555"/>
            <a:ext cx="4714240" cy="1569660"/>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We are planning to pack and mail our products in an eco-friendly mailer that are made from recycled and compostable materials, such as paper, cardboard, or plant-based plastics. These mailers are lightweight, durable, and easy to use, and they can reduce your environmental impact and carbon footprint.</a:t>
            </a:r>
            <a:endParaRPr lang="en-US" sz="1600" dirty="0">
              <a:solidFill>
                <a:schemeClr val="bg1"/>
              </a:solidFill>
            </a:endParaRPr>
          </a:p>
        </p:txBody>
      </p:sp>
      <p:sp>
        <p:nvSpPr>
          <p:cNvPr id="2" name="TextBox 1">
            <a:extLst>
              <a:ext uri="{FF2B5EF4-FFF2-40B4-BE49-F238E27FC236}">
                <a16:creationId xmlns:a16="http://schemas.microsoft.com/office/drawing/2014/main" id="{56126470-D655-D19C-04D2-24C972C295AB}"/>
              </a:ext>
            </a:extLst>
          </p:cNvPr>
          <p:cNvSpPr txBox="1"/>
          <p:nvPr/>
        </p:nvSpPr>
        <p:spPr>
          <a:xfrm>
            <a:off x="6674178" y="2764230"/>
            <a:ext cx="1555234" cy="369332"/>
          </a:xfrm>
          <a:prstGeom prst="rect">
            <a:avLst/>
          </a:prstGeom>
          <a:noFill/>
        </p:spPr>
        <p:txBody>
          <a:bodyPr wrap="none" rtlCol="0">
            <a:spAutoFit/>
          </a:bodyPr>
          <a:lstStyle/>
          <a:p>
            <a:r>
              <a:rPr lang="en-US" dirty="0">
                <a:solidFill>
                  <a:schemeClr val="bg1"/>
                </a:solidFill>
                <a:latin typeface="Bodoni MT" panose="02070603080606020203" pitchFamily="18" charset="0"/>
              </a:rPr>
              <a:t>LABELLING</a:t>
            </a:r>
          </a:p>
        </p:txBody>
      </p:sp>
      <p:sp>
        <p:nvSpPr>
          <p:cNvPr id="9" name="TextBox 8">
            <a:extLst>
              <a:ext uri="{FF2B5EF4-FFF2-40B4-BE49-F238E27FC236}">
                <a16:creationId xmlns:a16="http://schemas.microsoft.com/office/drawing/2014/main" id="{1992BFC9-700B-8108-DEF5-EAE50A38FC6B}"/>
              </a:ext>
            </a:extLst>
          </p:cNvPr>
          <p:cNvSpPr txBox="1"/>
          <p:nvPr/>
        </p:nvSpPr>
        <p:spPr>
          <a:xfrm>
            <a:off x="7051040" y="3335397"/>
            <a:ext cx="4714240" cy="1815882"/>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For labelling our products, we need to comply with the Australian requirements for clothing and textiles, which are set by the Consumer Goods (Care Labelling) Information Standard 2023. This standard specifies that all products must have adequate care labelling instructions attached to them, in English and in prominent and legible characters.</a:t>
            </a:r>
            <a:endParaRPr lang="en-US" sz="1600" dirty="0">
              <a:solidFill>
                <a:schemeClr val="bg1"/>
              </a:solidFill>
            </a:endParaRPr>
          </a:p>
        </p:txBody>
      </p:sp>
      <p:cxnSp>
        <p:nvCxnSpPr>
          <p:cNvPr id="11" name="Straight Connector 10">
            <a:extLst>
              <a:ext uri="{FF2B5EF4-FFF2-40B4-BE49-F238E27FC236}">
                <a16:creationId xmlns:a16="http://schemas.microsoft.com/office/drawing/2014/main" id="{82BE1490-1824-7865-91DD-D92C24322880}"/>
              </a:ext>
            </a:extLst>
          </p:cNvPr>
          <p:cNvCxnSpPr>
            <a:cxnSpLocks/>
          </p:cNvCxnSpPr>
          <p:nvPr/>
        </p:nvCxnSpPr>
        <p:spPr>
          <a:xfrm>
            <a:off x="8087995" y="3926840"/>
            <a:ext cx="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2725413-E0C9-13EB-B5F0-A97402FE6E48}"/>
              </a:ext>
            </a:extLst>
          </p:cNvPr>
          <p:cNvCxnSpPr>
            <a:cxnSpLocks/>
          </p:cNvCxnSpPr>
          <p:nvPr/>
        </p:nvCxnSpPr>
        <p:spPr>
          <a:xfrm>
            <a:off x="4186555" y="3962400"/>
            <a:ext cx="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0283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524021" y="514242"/>
            <a:ext cx="622751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TARGET MARKET</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646828" y="1345239"/>
            <a:ext cx="4890372"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F57DA950-2BA4-24BD-0F9D-B9E15285E44C}"/>
              </a:ext>
            </a:extLst>
          </p:cNvPr>
          <p:cNvSpPr txBox="1"/>
          <p:nvPr/>
        </p:nvSpPr>
        <p:spPr>
          <a:xfrm>
            <a:off x="1059416" y="2014509"/>
            <a:ext cx="2117887" cy="646331"/>
          </a:xfrm>
          <a:prstGeom prst="rect">
            <a:avLst/>
          </a:prstGeom>
          <a:noFill/>
        </p:spPr>
        <p:txBody>
          <a:bodyPr wrap="none" rtlCol="0">
            <a:spAutoFit/>
          </a:bodyPr>
          <a:lstStyle/>
          <a:p>
            <a:r>
              <a:rPr lang="en-US" dirty="0">
                <a:solidFill>
                  <a:schemeClr val="bg1"/>
                </a:solidFill>
                <a:latin typeface="Bodoni MT" panose="02070603080606020203" pitchFamily="18" charset="0"/>
              </a:rPr>
              <a:t>GEOGRAPHICAL </a:t>
            </a:r>
          </a:p>
          <a:p>
            <a:pPr algn="ctr"/>
            <a:r>
              <a:rPr lang="en-US" dirty="0">
                <a:solidFill>
                  <a:schemeClr val="bg1"/>
                </a:solidFill>
                <a:latin typeface="Bodoni MT" panose="02070603080606020203" pitchFamily="18" charset="0"/>
              </a:rPr>
              <a:t>LOCATION</a:t>
            </a:r>
          </a:p>
        </p:txBody>
      </p:sp>
      <p:sp>
        <p:nvSpPr>
          <p:cNvPr id="111" name="TextBox 110">
            <a:extLst>
              <a:ext uri="{FF2B5EF4-FFF2-40B4-BE49-F238E27FC236}">
                <a16:creationId xmlns:a16="http://schemas.microsoft.com/office/drawing/2014/main" id="{0A279DD9-D4FA-68A1-23AE-BCD142903BCE}"/>
              </a:ext>
            </a:extLst>
          </p:cNvPr>
          <p:cNvSpPr txBox="1"/>
          <p:nvPr/>
        </p:nvSpPr>
        <p:spPr>
          <a:xfrm>
            <a:off x="915030" y="3333244"/>
            <a:ext cx="2585089" cy="1815882"/>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Australia is a country with a diverse geography, with deserts, mountains, forests, grasslands, and coral reefs. It has six states and two major territories, and its capital is Canberra. </a:t>
            </a:r>
            <a:endParaRPr lang="en-US" sz="1600" dirty="0">
              <a:solidFill>
                <a:schemeClr val="bg1"/>
              </a:solidFill>
            </a:endParaRPr>
          </a:p>
        </p:txBody>
      </p:sp>
      <p:sp>
        <p:nvSpPr>
          <p:cNvPr id="112" name="TextBox 111">
            <a:extLst>
              <a:ext uri="{FF2B5EF4-FFF2-40B4-BE49-F238E27FC236}">
                <a16:creationId xmlns:a16="http://schemas.microsoft.com/office/drawing/2014/main" id="{590C99B2-5C52-122D-4964-D2A76A1B7A47}"/>
              </a:ext>
            </a:extLst>
          </p:cNvPr>
          <p:cNvSpPr txBox="1"/>
          <p:nvPr/>
        </p:nvSpPr>
        <p:spPr>
          <a:xfrm>
            <a:off x="5056292" y="2014508"/>
            <a:ext cx="2079415" cy="646331"/>
          </a:xfrm>
          <a:prstGeom prst="rect">
            <a:avLst/>
          </a:prstGeom>
          <a:noFill/>
        </p:spPr>
        <p:txBody>
          <a:bodyPr wrap="none" rtlCol="0">
            <a:spAutoFit/>
          </a:bodyPr>
          <a:lstStyle/>
          <a:p>
            <a:r>
              <a:rPr lang="en-US" dirty="0">
                <a:solidFill>
                  <a:schemeClr val="bg1"/>
                </a:solidFill>
                <a:latin typeface="Bodoni MT" panose="02070603080606020203" pitchFamily="18" charset="0"/>
              </a:rPr>
              <a:t>POPULATION &amp; </a:t>
            </a:r>
          </a:p>
          <a:p>
            <a:pPr algn="ctr"/>
            <a:r>
              <a:rPr lang="en-US" dirty="0">
                <a:solidFill>
                  <a:schemeClr val="bg1"/>
                </a:solidFill>
                <a:latin typeface="Bodoni MT" panose="02070603080606020203" pitchFamily="18" charset="0"/>
              </a:rPr>
              <a:t>DEMOGRAPHICS</a:t>
            </a:r>
          </a:p>
        </p:txBody>
      </p:sp>
      <p:sp>
        <p:nvSpPr>
          <p:cNvPr id="113" name="TextBox 112">
            <a:extLst>
              <a:ext uri="{FF2B5EF4-FFF2-40B4-BE49-F238E27FC236}">
                <a16:creationId xmlns:a16="http://schemas.microsoft.com/office/drawing/2014/main" id="{B90104B2-1278-C998-484F-A0B5A6FAC344}"/>
              </a:ext>
            </a:extLst>
          </p:cNvPr>
          <p:cNvSpPr txBox="1"/>
          <p:nvPr/>
        </p:nvSpPr>
        <p:spPr>
          <a:xfrm>
            <a:off x="4695593" y="3315295"/>
            <a:ext cx="2763520" cy="3293209"/>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 population and the demographic of Australia is unique and diverse. Most of its residents are in the urban areas of the country.  The most popular cities are Sydney, Melbourne, Brisbane, Perth, and Adelaide, with Sydney being the most populous city.  The top 10 of the total population constitutes to the most wealthiest of them all. </a:t>
            </a:r>
          </a:p>
          <a:p>
            <a:pPr algn="just"/>
            <a:endPar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56126470-D655-D19C-04D2-24C972C295AB}"/>
              </a:ext>
            </a:extLst>
          </p:cNvPr>
          <p:cNvSpPr txBox="1"/>
          <p:nvPr/>
        </p:nvSpPr>
        <p:spPr>
          <a:xfrm>
            <a:off x="8855541" y="2014508"/>
            <a:ext cx="2354491" cy="646331"/>
          </a:xfrm>
          <a:prstGeom prst="rect">
            <a:avLst/>
          </a:prstGeom>
          <a:noFill/>
        </p:spPr>
        <p:txBody>
          <a:bodyPr wrap="none" rtlCol="0">
            <a:spAutoFit/>
          </a:bodyPr>
          <a:lstStyle/>
          <a:p>
            <a:r>
              <a:rPr lang="en-US" dirty="0">
                <a:solidFill>
                  <a:schemeClr val="bg1"/>
                </a:solidFill>
                <a:latin typeface="Bodoni MT" panose="02070603080606020203" pitchFamily="18" charset="0"/>
              </a:rPr>
              <a:t>MAIN IMPORTS TO </a:t>
            </a:r>
          </a:p>
          <a:p>
            <a:pPr algn="ctr"/>
            <a:r>
              <a:rPr lang="en-US" dirty="0">
                <a:solidFill>
                  <a:schemeClr val="bg1"/>
                </a:solidFill>
                <a:latin typeface="Bodoni MT" panose="02070603080606020203" pitchFamily="18" charset="0"/>
              </a:rPr>
              <a:t>AUSTRALIA</a:t>
            </a:r>
          </a:p>
        </p:txBody>
      </p:sp>
      <p:sp>
        <p:nvSpPr>
          <p:cNvPr id="9" name="TextBox 8">
            <a:extLst>
              <a:ext uri="{FF2B5EF4-FFF2-40B4-BE49-F238E27FC236}">
                <a16:creationId xmlns:a16="http://schemas.microsoft.com/office/drawing/2014/main" id="{1992BFC9-700B-8108-DEF5-EAE50A38FC6B}"/>
              </a:ext>
            </a:extLst>
          </p:cNvPr>
          <p:cNvSpPr txBox="1"/>
          <p:nvPr/>
        </p:nvSpPr>
        <p:spPr>
          <a:xfrm>
            <a:off x="8761267" y="3442295"/>
            <a:ext cx="2543037" cy="2554545"/>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 major imports include Fuel, Vehicles, Machinery, Tech Components, Iron etc. Even though the clothing industry isn’t one of the top importing sector it still has a net value of 11.5 billion in clothing and texting industry imports which is a pretty decent percentage.</a:t>
            </a:r>
          </a:p>
        </p:txBody>
      </p:sp>
      <p:cxnSp>
        <p:nvCxnSpPr>
          <p:cNvPr id="18" name="Straight Connector 17">
            <a:extLst>
              <a:ext uri="{FF2B5EF4-FFF2-40B4-BE49-F238E27FC236}">
                <a16:creationId xmlns:a16="http://schemas.microsoft.com/office/drawing/2014/main" id="{DAC01E52-27B4-35C2-1CE5-286D0E178FF6}"/>
              </a:ext>
            </a:extLst>
          </p:cNvPr>
          <p:cNvCxnSpPr>
            <a:cxnSpLocks/>
          </p:cNvCxnSpPr>
          <p:nvPr/>
        </p:nvCxnSpPr>
        <p:spPr>
          <a:xfrm>
            <a:off x="8087995"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8E42D5-E020-C1D1-DBC4-7AF6F26EE71E}"/>
              </a:ext>
            </a:extLst>
          </p:cNvPr>
          <p:cNvCxnSpPr>
            <a:cxnSpLocks/>
          </p:cNvCxnSpPr>
          <p:nvPr/>
        </p:nvCxnSpPr>
        <p:spPr>
          <a:xfrm>
            <a:off x="4186555"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FAC86CF4-FFCC-5D59-7B8B-C286DFF5D0A9}"/>
              </a:ext>
            </a:extLst>
          </p:cNvPr>
          <p:cNvSpPr/>
          <p:nvPr/>
        </p:nvSpPr>
        <p:spPr>
          <a:xfrm>
            <a:off x="-7467600" y="0"/>
            <a:ext cx="6493394" cy="6858000"/>
          </a:xfrm>
          <a:prstGeom prst="rect">
            <a:avLst/>
          </a:prstGeom>
          <a:solidFill>
            <a:srgbClr val="0C11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813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6F4DC7-1541-D5A9-C452-DCCA938FC445}"/>
              </a:ext>
            </a:extLst>
          </p:cNvPr>
          <p:cNvSpPr/>
          <p:nvPr/>
        </p:nvSpPr>
        <p:spPr>
          <a:xfrm>
            <a:off x="0" y="0"/>
            <a:ext cx="6308204" cy="6858000"/>
          </a:xfrm>
          <a:prstGeom prst="rect">
            <a:avLst/>
          </a:prstGeom>
          <a:solidFill>
            <a:srgbClr val="0C11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94B0B2BB-4A6B-69A2-9B1A-0E1020125207}"/>
              </a:ext>
            </a:extLst>
          </p:cNvPr>
          <p:cNvCxnSpPr>
            <a:cxnSpLocks/>
          </p:cNvCxnSpPr>
          <p:nvPr/>
        </p:nvCxnSpPr>
        <p:spPr>
          <a:xfrm>
            <a:off x="13412354"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A749136-1FDE-15A0-185D-26CCC98F38A7}"/>
              </a:ext>
            </a:extLst>
          </p:cNvPr>
          <p:cNvCxnSpPr>
            <a:cxnSpLocks/>
          </p:cNvCxnSpPr>
          <p:nvPr/>
        </p:nvCxnSpPr>
        <p:spPr>
          <a:xfrm>
            <a:off x="13400012"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72608F0-2FA5-A582-D617-6D5BE18A9FCF}"/>
              </a:ext>
            </a:extLst>
          </p:cNvPr>
          <p:cNvSpPr txBox="1"/>
          <p:nvPr/>
        </p:nvSpPr>
        <p:spPr>
          <a:xfrm>
            <a:off x="3379637" y="375346"/>
            <a:ext cx="5472533" cy="830997"/>
          </a:xfrm>
          <a:prstGeom prst="rect">
            <a:avLst/>
          </a:prstGeom>
          <a:noFill/>
          <a:ln>
            <a:noFill/>
          </a:ln>
        </p:spPr>
        <p:txBody>
          <a:bodyPr wrap="square" rtlCol="0">
            <a:spAutoFit/>
          </a:bodyPr>
          <a:lstStyle/>
          <a:p>
            <a:r>
              <a:rPr lang="en-US" sz="4800" dirty="0">
                <a:gradFill flip="none" rotWithShape="1">
                  <a:gsLst>
                    <a:gs pos="0">
                      <a:schemeClr val="tx1"/>
                    </a:gs>
                    <a:gs pos="25000">
                      <a:schemeClr val="tx1"/>
                    </a:gs>
                    <a:gs pos="75000">
                      <a:schemeClr val="bg1"/>
                    </a:gs>
                    <a:gs pos="56000">
                      <a:schemeClr val="bg1"/>
                    </a:gs>
                    <a:gs pos="100000">
                      <a:schemeClr val="bg1"/>
                    </a:gs>
                  </a:gsLst>
                  <a:path path="circle">
                    <a:fillToRect l="100000" t="100000"/>
                  </a:path>
                  <a:tileRect r="-100000" b="-100000"/>
                </a:gradFill>
                <a:latin typeface="Algerian" panose="04020705040A02060702" pitchFamily="82" charset="0"/>
              </a:rPr>
              <a:t>TWO </a:t>
            </a:r>
            <a:r>
              <a:rPr lang="en-US" sz="4800" dirty="0">
                <a:gradFill flip="none" rotWithShape="1">
                  <a:gsLst>
                    <a:gs pos="1000">
                      <a:schemeClr val="tx1"/>
                    </a:gs>
                    <a:gs pos="37000">
                      <a:srgbClr val="0C1115"/>
                    </a:gs>
                    <a:gs pos="75000">
                      <a:schemeClr val="bg1"/>
                    </a:gs>
                    <a:gs pos="50000">
                      <a:schemeClr val="bg1"/>
                    </a:gs>
                    <a:gs pos="100000">
                      <a:schemeClr val="bg1"/>
                    </a:gs>
                  </a:gsLst>
                  <a:path path="circle">
                    <a:fillToRect l="100000" t="100000"/>
                  </a:path>
                  <a:tileRect r="-100000" b="-100000"/>
                </a:gradFill>
                <a:latin typeface="Algerian" panose="04020705040A02060702" pitchFamily="82" charset="0"/>
              </a:rPr>
              <a:t>COMPETITORS</a:t>
            </a:r>
          </a:p>
        </p:txBody>
      </p:sp>
      <p:cxnSp>
        <p:nvCxnSpPr>
          <p:cNvPr id="8" name="Straight Connector 7">
            <a:extLst>
              <a:ext uri="{FF2B5EF4-FFF2-40B4-BE49-F238E27FC236}">
                <a16:creationId xmlns:a16="http://schemas.microsoft.com/office/drawing/2014/main" id="{45AFEAE9-11B9-5239-728C-A33624CA7D6E}"/>
              </a:ext>
            </a:extLst>
          </p:cNvPr>
          <p:cNvCxnSpPr>
            <a:cxnSpLocks/>
          </p:cNvCxnSpPr>
          <p:nvPr/>
        </p:nvCxnSpPr>
        <p:spPr>
          <a:xfrm>
            <a:off x="3563646" y="1166024"/>
            <a:ext cx="5198387" cy="0"/>
          </a:xfrm>
          <a:prstGeom prst="line">
            <a:avLst/>
          </a:prstGeom>
          <a:ln w="63500">
            <a:gradFill flip="none" rotWithShape="1">
              <a:gsLst>
                <a:gs pos="0">
                  <a:schemeClr val="tx1"/>
                </a:gs>
                <a:gs pos="19000">
                  <a:schemeClr val="tx1"/>
                </a:gs>
                <a:gs pos="83000">
                  <a:schemeClr val="bg1"/>
                </a:gs>
                <a:gs pos="100000">
                  <a:schemeClr val="bg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C0BD136-2F52-1173-6E19-99D3C727DE66}"/>
              </a:ext>
            </a:extLst>
          </p:cNvPr>
          <p:cNvSpPr txBox="1"/>
          <p:nvPr/>
        </p:nvSpPr>
        <p:spPr>
          <a:xfrm>
            <a:off x="2322747" y="1379962"/>
            <a:ext cx="1516283" cy="769441"/>
          </a:xfrm>
          <a:prstGeom prst="rect">
            <a:avLst/>
          </a:prstGeom>
          <a:noFill/>
        </p:spPr>
        <p:txBody>
          <a:bodyPr wrap="square" rtlCol="0">
            <a:spAutoFit/>
          </a:bodyPr>
          <a:lstStyle/>
          <a:p>
            <a:r>
              <a:rPr lang="en-US" sz="4400" dirty="0">
                <a:solidFill>
                  <a:schemeClr val="bg1"/>
                </a:solidFill>
              </a:rPr>
              <a:t>ETIKO</a:t>
            </a:r>
          </a:p>
        </p:txBody>
      </p:sp>
      <p:sp>
        <p:nvSpPr>
          <p:cNvPr id="11" name="TextBox 10">
            <a:extLst>
              <a:ext uri="{FF2B5EF4-FFF2-40B4-BE49-F238E27FC236}">
                <a16:creationId xmlns:a16="http://schemas.microsoft.com/office/drawing/2014/main" id="{D2A94077-B9EB-20B4-BF69-45434C11BFDA}"/>
              </a:ext>
            </a:extLst>
          </p:cNvPr>
          <p:cNvSpPr txBox="1"/>
          <p:nvPr/>
        </p:nvSpPr>
        <p:spPr>
          <a:xfrm>
            <a:off x="202937" y="2149403"/>
            <a:ext cx="5755902" cy="3970318"/>
          </a:xfrm>
          <a:prstGeom prst="rect">
            <a:avLst/>
          </a:prstGeom>
          <a:noFill/>
        </p:spPr>
        <p:txBody>
          <a:bodyPr wrap="square" rtlCol="0">
            <a:spAutoFit/>
          </a:bodyPr>
          <a:lstStyle/>
          <a:p>
            <a:pPr algn="just"/>
            <a:r>
              <a:rPr lang="en-US" dirty="0">
                <a:solidFill>
                  <a:schemeClr val="bg1"/>
                </a:solidFill>
              </a:rPr>
              <a:t>ETIKO, established by Nick </a:t>
            </a:r>
            <a:r>
              <a:rPr lang="en-US" dirty="0" err="1">
                <a:solidFill>
                  <a:schemeClr val="bg1"/>
                </a:solidFill>
              </a:rPr>
              <a:t>Savaidis</a:t>
            </a:r>
            <a:r>
              <a:rPr lang="en-US" dirty="0">
                <a:solidFill>
                  <a:schemeClr val="bg1"/>
                </a:solidFill>
              </a:rPr>
              <a:t> in Melbourne, Australia, in 2005, emerged from a noble vision: to offer clothing and footwear that upheld ethical standards, free from child labor and exploitation while preserving the environment. Recognizing the absence of such brands in the market, Nick embarked on a journey to fill this gap. Through the establishment of fair, transparent, and eco-friendly supply chains, ETIKO has played a pivotal role in supporting the human rights and labor conditions of numerous workers across India, Sri Lanka, and Pakistan involved in cotton cultivation, rubber tapping, apparel manufacturing, shoemaking, and sports ball production. This commitment extends to positively impacting the lives of workers' families and their broader communities.</a:t>
            </a:r>
          </a:p>
        </p:txBody>
      </p:sp>
      <p:sp>
        <p:nvSpPr>
          <p:cNvPr id="12" name="TextBox 11">
            <a:extLst>
              <a:ext uri="{FF2B5EF4-FFF2-40B4-BE49-F238E27FC236}">
                <a16:creationId xmlns:a16="http://schemas.microsoft.com/office/drawing/2014/main" id="{BF55F8A1-7F95-B102-83C7-F0A865E76774}"/>
              </a:ext>
            </a:extLst>
          </p:cNvPr>
          <p:cNvSpPr txBox="1"/>
          <p:nvPr/>
        </p:nvSpPr>
        <p:spPr>
          <a:xfrm>
            <a:off x="8177707" y="1379962"/>
            <a:ext cx="1829347" cy="769441"/>
          </a:xfrm>
          <a:prstGeom prst="rect">
            <a:avLst/>
          </a:prstGeom>
          <a:noFill/>
        </p:spPr>
        <p:txBody>
          <a:bodyPr wrap="none" rtlCol="0">
            <a:spAutoFit/>
          </a:bodyPr>
          <a:lstStyle/>
          <a:p>
            <a:r>
              <a:rPr lang="en-US" sz="4400" dirty="0"/>
              <a:t>BHUMI</a:t>
            </a:r>
          </a:p>
        </p:txBody>
      </p:sp>
      <p:sp>
        <p:nvSpPr>
          <p:cNvPr id="13" name="TextBox 12">
            <a:extLst>
              <a:ext uri="{FF2B5EF4-FFF2-40B4-BE49-F238E27FC236}">
                <a16:creationId xmlns:a16="http://schemas.microsoft.com/office/drawing/2014/main" id="{8813546D-7CAF-5E47-0DD7-5267DD1B2CDA}"/>
              </a:ext>
            </a:extLst>
          </p:cNvPr>
          <p:cNvSpPr txBox="1"/>
          <p:nvPr/>
        </p:nvSpPr>
        <p:spPr>
          <a:xfrm>
            <a:off x="6511142" y="2119500"/>
            <a:ext cx="5477914" cy="4524315"/>
          </a:xfrm>
          <a:prstGeom prst="rect">
            <a:avLst/>
          </a:prstGeom>
          <a:noFill/>
        </p:spPr>
        <p:txBody>
          <a:bodyPr wrap="square" rtlCol="0">
            <a:spAutoFit/>
          </a:bodyPr>
          <a:lstStyle/>
          <a:p>
            <a:pPr algn="just"/>
            <a:r>
              <a:rPr lang="en-US" dirty="0"/>
              <a:t>Bhumi, founded by Dushyant and Vinita based in Melbourne, Australia, originated from a profound realization of the detrimental effects of conventional cotton farming on the environment and workers. Vinita, with a background in Health and International Public Health, witnessed the devastating impact of traditional cotton growing, including farmer hardships, child labor, and environmental degradation. Motivated by a vision to evoke positive change, Vinita merged her passion for sustainability and design, birthing Bhumi Organic Cotton. Supported by Dushyant's drive for socially conscious enterprises and his finance-tech background, Bhumi expanded into a global platform. Their mission revolves around producing organic cotton bedding, bath, and basics that not only feel good but also champion sustainable practices. </a:t>
            </a:r>
          </a:p>
        </p:txBody>
      </p:sp>
      <p:pic>
        <p:nvPicPr>
          <p:cNvPr id="14" name="Picture 13">
            <a:extLst>
              <a:ext uri="{FF2B5EF4-FFF2-40B4-BE49-F238E27FC236}">
                <a16:creationId xmlns:a16="http://schemas.microsoft.com/office/drawing/2014/main" id="{B821DA6F-BE80-A2A2-7EB0-14C8FCDD88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757693" y="375346"/>
            <a:ext cx="1396040" cy="1396040"/>
          </a:xfrm>
          <a:prstGeom prst="rect">
            <a:avLst/>
          </a:prstGeom>
        </p:spPr>
      </p:pic>
      <p:pic>
        <p:nvPicPr>
          <p:cNvPr id="15" name="Picture 14">
            <a:extLst>
              <a:ext uri="{FF2B5EF4-FFF2-40B4-BE49-F238E27FC236}">
                <a16:creationId xmlns:a16="http://schemas.microsoft.com/office/drawing/2014/main" id="{EDBB36F6-89FE-4996-2806-71584D725D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2392217" y="375346"/>
            <a:ext cx="1270000" cy="1270000"/>
          </a:xfrm>
          <a:prstGeom prst="ellipse">
            <a:avLst/>
          </a:prstGeom>
        </p:spPr>
      </p:pic>
    </p:spTree>
    <p:extLst>
      <p:ext uri="{BB962C8B-B14F-4D97-AF65-F5344CB8AC3E}">
        <p14:creationId xmlns:p14="http://schemas.microsoft.com/office/powerpoint/2010/main" val="2029137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6F4DC7-1541-D5A9-C452-DCCA938FC445}"/>
              </a:ext>
            </a:extLst>
          </p:cNvPr>
          <p:cNvSpPr/>
          <p:nvPr/>
        </p:nvSpPr>
        <p:spPr>
          <a:xfrm>
            <a:off x="6096000" y="0"/>
            <a:ext cx="6308204" cy="6858000"/>
          </a:xfrm>
          <a:prstGeom prst="rect">
            <a:avLst/>
          </a:prstGeom>
          <a:solidFill>
            <a:srgbClr val="0C11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C72608F0-2FA5-A582-D617-6D5BE18A9FCF}"/>
              </a:ext>
            </a:extLst>
          </p:cNvPr>
          <p:cNvSpPr txBox="1"/>
          <p:nvPr/>
        </p:nvSpPr>
        <p:spPr>
          <a:xfrm>
            <a:off x="3379637" y="375346"/>
            <a:ext cx="5472533" cy="830997"/>
          </a:xfrm>
          <a:prstGeom prst="rect">
            <a:avLst/>
          </a:prstGeom>
          <a:noFill/>
          <a:ln>
            <a:noFill/>
          </a:ln>
        </p:spPr>
        <p:txBody>
          <a:bodyPr wrap="square" rtlCol="0">
            <a:spAutoFit/>
          </a:bodyPr>
          <a:lstStyle/>
          <a:p>
            <a:r>
              <a:rPr lang="en-US" sz="4800" dirty="0">
                <a:latin typeface="Algerian" panose="04020705040A02060702" pitchFamily="82" charset="0"/>
              </a:rPr>
              <a:t>TWO </a:t>
            </a:r>
            <a:r>
              <a:rPr lang="en-US" sz="4800" dirty="0">
                <a:gradFill flip="none" rotWithShape="1">
                  <a:gsLst>
                    <a:gs pos="1000">
                      <a:schemeClr val="bg1"/>
                    </a:gs>
                    <a:gs pos="54000">
                      <a:schemeClr val="tx1"/>
                    </a:gs>
                    <a:gs pos="73000">
                      <a:srgbClr val="0C1115"/>
                    </a:gs>
                    <a:gs pos="48000">
                      <a:schemeClr val="bg1"/>
                    </a:gs>
                    <a:gs pos="100000">
                      <a:srgbClr val="0C1115"/>
                    </a:gs>
                  </a:gsLst>
                  <a:path path="circle">
                    <a:fillToRect l="100000" t="100000"/>
                  </a:path>
                  <a:tileRect r="-100000" b="-100000"/>
                </a:gradFill>
                <a:latin typeface="Algerian" panose="04020705040A02060702" pitchFamily="82" charset="0"/>
              </a:rPr>
              <a:t>COMPETITORS</a:t>
            </a:r>
          </a:p>
        </p:txBody>
      </p:sp>
      <p:cxnSp>
        <p:nvCxnSpPr>
          <p:cNvPr id="8" name="Straight Connector 7">
            <a:extLst>
              <a:ext uri="{FF2B5EF4-FFF2-40B4-BE49-F238E27FC236}">
                <a16:creationId xmlns:a16="http://schemas.microsoft.com/office/drawing/2014/main" id="{45AFEAE9-11B9-5239-728C-A33624CA7D6E}"/>
              </a:ext>
            </a:extLst>
          </p:cNvPr>
          <p:cNvCxnSpPr>
            <a:cxnSpLocks/>
          </p:cNvCxnSpPr>
          <p:nvPr/>
        </p:nvCxnSpPr>
        <p:spPr>
          <a:xfrm>
            <a:off x="3563646" y="1166024"/>
            <a:ext cx="5198387" cy="0"/>
          </a:xfrm>
          <a:prstGeom prst="line">
            <a:avLst/>
          </a:prstGeom>
          <a:ln w="63500">
            <a:gradFill flip="none" rotWithShape="1">
              <a:gsLst>
                <a:gs pos="0">
                  <a:schemeClr val="bg1"/>
                </a:gs>
                <a:gs pos="19000">
                  <a:schemeClr val="bg1"/>
                </a:gs>
                <a:gs pos="83000">
                  <a:schemeClr val="tx1"/>
                </a:gs>
                <a:gs pos="100000">
                  <a:schemeClr val="tx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C0BD136-2F52-1173-6E19-99D3C727DE66}"/>
              </a:ext>
            </a:extLst>
          </p:cNvPr>
          <p:cNvSpPr txBox="1"/>
          <p:nvPr/>
        </p:nvSpPr>
        <p:spPr>
          <a:xfrm>
            <a:off x="2322747" y="1771385"/>
            <a:ext cx="1516283" cy="769441"/>
          </a:xfrm>
          <a:prstGeom prst="rect">
            <a:avLst/>
          </a:prstGeom>
          <a:noFill/>
        </p:spPr>
        <p:txBody>
          <a:bodyPr wrap="square" rtlCol="0">
            <a:spAutoFit/>
          </a:bodyPr>
          <a:lstStyle/>
          <a:p>
            <a:r>
              <a:rPr lang="en-US" sz="4400" dirty="0"/>
              <a:t>ETIKO</a:t>
            </a:r>
          </a:p>
        </p:txBody>
      </p:sp>
      <p:sp>
        <p:nvSpPr>
          <p:cNvPr id="11" name="TextBox 10">
            <a:extLst>
              <a:ext uri="{FF2B5EF4-FFF2-40B4-BE49-F238E27FC236}">
                <a16:creationId xmlns:a16="http://schemas.microsoft.com/office/drawing/2014/main" id="{D2A94077-B9EB-20B4-BF69-45434C11BFDA}"/>
              </a:ext>
            </a:extLst>
          </p:cNvPr>
          <p:cNvSpPr txBox="1"/>
          <p:nvPr/>
        </p:nvSpPr>
        <p:spPr>
          <a:xfrm>
            <a:off x="202937" y="2677723"/>
            <a:ext cx="5755902" cy="2308324"/>
          </a:xfrm>
          <a:prstGeom prst="rect">
            <a:avLst/>
          </a:prstGeom>
          <a:noFill/>
        </p:spPr>
        <p:txBody>
          <a:bodyPr wrap="square" rtlCol="0">
            <a:spAutoFit/>
          </a:bodyPr>
          <a:lstStyle/>
          <a:p>
            <a:pPr algn="just"/>
            <a:r>
              <a:rPr lang="en-CA" sz="1800" dirty="0">
                <a:effectLst/>
                <a:latin typeface="Calibri" panose="020F0502020204030204" pitchFamily="34" charset="0"/>
                <a:ea typeface="Calibri" panose="020F0502020204030204" pitchFamily="34" charset="0"/>
                <a:cs typeface="Times New Roman" panose="02020603050405020304" pitchFamily="18" charset="0"/>
              </a:rPr>
              <a:t>ETIKO is known for its ethically produced clothing and footwear. Their product range includes various types of clothing such as t-shirts, pants, socks, and footwear like sneakers and sandals. They prioritize fair trade, ethical manufacturing, and environmentally sustainable materials in their products. The sizes of their clothing typically range from extra small to extra large, catering to various body types.</a:t>
            </a:r>
            <a:endParaRPr lang="en-US" dirty="0"/>
          </a:p>
        </p:txBody>
      </p:sp>
      <p:sp>
        <p:nvSpPr>
          <p:cNvPr id="12" name="TextBox 11">
            <a:extLst>
              <a:ext uri="{FF2B5EF4-FFF2-40B4-BE49-F238E27FC236}">
                <a16:creationId xmlns:a16="http://schemas.microsoft.com/office/drawing/2014/main" id="{BF55F8A1-7F95-B102-83C7-F0A865E76774}"/>
              </a:ext>
            </a:extLst>
          </p:cNvPr>
          <p:cNvSpPr txBox="1"/>
          <p:nvPr/>
        </p:nvSpPr>
        <p:spPr>
          <a:xfrm>
            <a:off x="8335425" y="1771384"/>
            <a:ext cx="1829347" cy="769441"/>
          </a:xfrm>
          <a:prstGeom prst="rect">
            <a:avLst/>
          </a:prstGeom>
          <a:noFill/>
        </p:spPr>
        <p:txBody>
          <a:bodyPr wrap="none" rtlCol="0">
            <a:spAutoFit/>
          </a:bodyPr>
          <a:lstStyle/>
          <a:p>
            <a:r>
              <a:rPr lang="en-US" sz="4400" dirty="0">
                <a:solidFill>
                  <a:schemeClr val="bg1"/>
                </a:solidFill>
              </a:rPr>
              <a:t>BHUMI</a:t>
            </a:r>
          </a:p>
        </p:txBody>
      </p:sp>
      <p:sp>
        <p:nvSpPr>
          <p:cNvPr id="13" name="TextBox 12">
            <a:extLst>
              <a:ext uri="{FF2B5EF4-FFF2-40B4-BE49-F238E27FC236}">
                <a16:creationId xmlns:a16="http://schemas.microsoft.com/office/drawing/2014/main" id="{8813546D-7CAF-5E47-0DD7-5267DD1B2CDA}"/>
              </a:ext>
            </a:extLst>
          </p:cNvPr>
          <p:cNvSpPr txBox="1"/>
          <p:nvPr/>
        </p:nvSpPr>
        <p:spPr>
          <a:xfrm>
            <a:off x="6511142" y="2677723"/>
            <a:ext cx="5477914" cy="3416320"/>
          </a:xfrm>
          <a:prstGeom prst="rect">
            <a:avLst/>
          </a:prstGeom>
          <a:noFill/>
        </p:spPr>
        <p:txBody>
          <a:bodyPr wrap="square" rtlCol="0">
            <a:spAutoFit/>
          </a:bodyPr>
          <a:lstStyle/>
          <a:p>
            <a:pPr algn="just"/>
            <a:r>
              <a:rPr lang="en-US" dirty="0">
                <a:solidFill>
                  <a:schemeClr val="bg1"/>
                </a:solidFill>
              </a:rPr>
              <a:t>As for BHUMI, they specialize in organic cotton bedding, bath linens, basics, and sleepwear. Their bedding includes sheets, duvet covers, and pillowcases in different sizes like single, double, queen, and king. Bath products consist of towels, bathrobes, and bathmats. Their clothing offerings include sleepwear and loungewear. Bhumi emphasizes GOTS certified fairtrade organic cotton in their products, ensuring no harmful chemicals, fair labor practices, and environmentally friendly production methods. Both companies aim to provide high-quality, sustainable products with a focus on ethical practices throughout their supply chains.</a:t>
            </a:r>
          </a:p>
        </p:txBody>
      </p:sp>
      <p:pic>
        <p:nvPicPr>
          <p:cNvPr id="3" name="Picture 2">
            <a:extLst>
              <a:ext uri="{FF2B5EF4-FFF2-40B4-BE49-F238E27FC236}">
                <a16:creationId xmlns:a16="http://schemas.microsoft.com/office/drawing/2014/main" id="{0D74CC40-D391-031B-146E-C9FDFBCC6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947" y="375346"/>
            <a:ext cx="1396040" cy="1396040"/>
          </a:xfrm>
          <a:prstGeom prst="rect">
            <a:avLst/>
          </a:prstGeom>
        </p:spPr>
      </p:pic>
      <p:pic>
        <p:nvPicPr>
          <p:cNvPr id="14" name="Picture 13">
            <a:extLst>
              <a:ext uri="{FF2B5EF4-FFF2-40B4-BE49-F238E27FC236}">
                <a16:creationId xmlns:a16="http://schemas.microsoft.com/office/drawing/2014/main" id="{61DFBF94-1B5F-1505-63EC-3A5DCE996B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19056" y="375346"/>
            <a:ext cx="1270000" cy="1270000"/>
          </a:xfrm>
          <a:prstGeom prst="ellipse">
            <a:avLst/>
          </a:prstGeom>
        </p:spPr>
      </p:pic>
      <p:sp>
        <p:nvSpPr>
          <p:cNvPr id="15" name="Rectangle: Rounded Corners 14">
            <a:extLst>
              <a:ext uri="{FF2B5EF4-FFF2-40B4-BE49-F238E27FC236}">
                <a16:creationId xmlns:a16="http://schemas.microsoft.com/office/drawing/2014/main" id="{DF08CA2A-CE1F-A35B-AF50-B8A3F93CC1C5}"/>
              </a:ext>
            </a:extLst>
          </p:cNvPr>
          <p:cNvSpPr/>
          <p:nvPr/>
        </p:nvSpPr>
        <p:spPr>
          <a:xfrm rot="19140978">
            <a:off x="12440853" y="-1663231"/>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D83DD034-1EB1-2874-3215-99CDBEA08D4D}"/>
              </a:ext>
            </a:extLst>
          </p:cNvPr>
          <p:cNvSpPr/>
          <p:nvPr/>
        </p:nvSpPr>
        <p:spPr>
          <a:xfrm rot="19140978">
            <a:off x="12126995" y="-584104"/>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56C8B613-D6FF-9047-4B55-17BF34C8149C}"/>
              </a:ext>
            </a:extLst>
          </p:cNvPr>
          <p:cNvSpPr/>
          <p:nvPr/>
        </p:nvSpPr>
        <p:spPr>
          <a:xfrm rot="19140978">
            <a:off x="11866863" y="495024"/>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53924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63FB33-529A-FB14-BA21-365B36BFABE0}"/>
              </a:ext>
            </a:extLst>
          </p:cNvPr>
          <p:cNvSpPr/>
          <p:nvPr/>
        </p:nvSpPr>
        <p:spPr>
          <a:xfrm>
            <a:off x="13712150" y="0"/>
            <a:ext cx="6308204" cy="6858000"/>
          </a:xfrm>
          <a:prstGeom prst="rect">
            <a:avLst/>
          </a:prstGeom>
          <a:solidFill>
            <a:srgbClr val="0C11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4EE1F171-E90C-532F-A880-A261C2747B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314947" y="-2124014"/>
            <a:ext cx="1396040" cy="1396040"/>
          </a:xfrm>
          <a:prstGeom prst="rect">
            <a:avLst/>
          </a:prstGeom>
        </p:spPr>
      </p:pic>
      <p:pic>
        <p:nvPicPr>
          <p:cNvPr id="6" name="Picture 5">
            <a:extLst>
              <a:ext uri="{FF2B5EF4-FFF2-40B4-BE49-F238E27FC236}">
                <a16:creationId xmlns:a16="http://schemas.microsoft.com/office/drawing/2014/main" id="{815EB90F-2C8A-2145-515E-CFCE5C9248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0719056" y="-2124014"/>
            <a:ext cx="1270000" cy="1270000"/>
          </a:xfrm>
          <a:prstGeom prst="ellipse">
            <a:avLst/>
          </a:prstGeom>
        </p:spPr>
      </p:pic>
      <p:sp>
        <p:nvSpPr>
          <p:cNvPr id="7" name="TextBox 6">
            <a:extLst>
              <a:ext uri="{FF2B5EF4-FFF2-40B4-BE49-F238E27FC236}">
                <a16:creationId xmlns:a16="http://schemas.microsoft.com/office/drawing/2014/main" id="{B7D3506E-B673-4865-1C0A-24ACF71F1CF9}"/>
              </a:ext>
            </a:extLst>
          </p:cNvPr>
          <p:cNvSpPr txBox="1"/>
          <p:nvPr/>
        </p:nvSpPr>
        <p:spPr>
          <a:xfrm>
            <a:off x="524021" y="212683"/>
            <a:ext cx="622751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ANNUAL SALES</a:t>
            </a:r>
          </a:p>
        </p:txBody>
      </p:sp>
      <p:cxnSp>
        <p:nvCxnSpPr>
          <p:cNvPr id="8" name="Straight Connector 7">
            <a:extLst>
              <a:ext uri="{FF2B5EF4-FFF2-40B4-BE49-F238E27FC236}">
                <a16:creationId xmlns:a16="http://schemas.microsoft.com/office/drawing/2014/main" id="{C15CD64A-32A7-A3F3-4C45-41E0C343DB43}"/>
              </a:ext>
            </a:extLst>
          </p:cNvPr>
          <p:cNvCxnSpPr>
            <a:cxnSpLocks/>
          </p:cNvCxnSpPr>
          <p:nvPr/>
        </p:nvCxnSpPr>
        <p:spPr>
          <a:xfrm>
            <a:off x="646828" y="1043680"/>
            <a:ext cx="4336652"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FDC0D0D-282F-27CF-4E9C-163810EC5079}"/>
              </a:ext>
            </a:extLst>
          </p:cNvPr>
          <p:cNvSpPr txBox="1"/>
          <p:nvPr/>
        </p:nvSpPr>
        <p:spPr>
          <a:xfrm>
            <a:off x="646826" y="1563314"/>
            <a:ext cx="11008879"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The total sales are over 20,000 customers and the social media craze suggests that it has a loyal and growing fan base.</a:t>
            </a:r>
          </a:p>
          <a:p>
            <a:pPr marL="285750" indent="-285750">
              <a:buFont typeface="Arial" panose="020B0604020202020204" pitchFamily="34" charset="0"/>
              <a:buChar char="•"/>
            </a:pPr>
            <a:r>
              <a:rPr lang="en-US" dirty="0">
                <a:solidFill>
                  <a:schemeClr val="bg1"/>
                </a:solidFill>
              </a:rPr>
              <a:t>The only indication I found was that it has over 10,000 customers and followers on social media, which implies that it has a decent and expanding market share.</a:t>
            </a:r>
          </a:p>
          <a:p>
            <a:endParaRPr lang="en-US" dirty="0">
              <a:solidFill>
                <a:schemeClr val="bg1"/>
              </a:solidFill>
            </a:endParaRPr>
          </a:p>
        </p:txBody>
      </p:sp>
      <p:sp>
        <p:nvSpPr>
          <p:cNvPr id="11" name="Rectangle: Rounded Corners 10">
            <a:extLst>
              <a:ext uri="{FF2B5EF4-FFF2-40B4-BE49-F238E27FC236}">
                <a16:creationId xmlns:a16="http://schemas.microsoft.com/office/drawing/2014/main" id="{BFF3270D-A22C-1843-362F-2B394D6153B4}"/>
              </a:ext>
            </a:extLst>
          </p:cNvPr>
          <p:cNvSpPr/>
          <p:nvPr/>
        </p:nvSpPr>
        <p:spPr>
          <a:xfrm rot="19140978">
            <a:off x="5492045" y="5178783"/>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90AA74A-681F-30AB-7916-D22D9CABC7B2}"/>
              </a:ext>
            </a:extLst>
          </p:cNvPr>
          <p:cNvSpPr/>
          <p:nvPr/>
        </p:nvSpPr>
        <p:spPr>
          <a:xfrm rot="19140978">
            <a:off x="5178187" y="6257910"/>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8E526BEA-10F7-8D8D-BCD5-AC3E0E4A23E5}"/>
              </a:ext>
            </a:extLst>
          </p:cNvPr>
          <p:cNvSpPr/>
          <p:nvPr/>
        </p:nvSpPr>
        <p:spPr>
          <a:xfrm rot="19140978">
            <a:off x="4918055" y="7337038"/>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F3DAF2B0-E840-6CF4-734E-5B277C2F2C1F}"/>
              </a:ext>
            </a:extLst>
          </p:cNvPr>
          <p:cNvSpPr txBox="1"/>
          <p:nvPr/>
        </p:nvSpPr>
        <p:spPr>
          <a:xfrm>
            <a:off x="525949" y="3212455"/>
            <a:ext cx="622751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MARKET SHARES</a:t>
            </a:r>
          </a:p>
        </p:txBody>
      </p:sp>
      <p:cxnSp>
        <p:nvCxnSpPr>
          <p:cNvPr id="15" name="Straight Connector 14">
            <a:extLst>
              <a:ext uri="{FF2B5EF4-FFF2-40B4-BE49-F238E27FC236}">
                <a16:creationId xmlns:a16="http://schemas.microsoft.com/office/drawing/2014/main" id="{1087A4EE-EE44-FC79-DEB2-B1FD4B269F2C}"/>
              </a:ext>
            </a:extLst>
          </p:cNvPr>
          <p:cNvCxnSpPr>
            <a:cxnSpLocks/>
          </p:cNvCxnSpPr>
          <p:nvPr/>
        </p:nvCxnSpPr>
        <p:spPr>
          <a:xfrm>
            <a:off x="648756" y="4043452"/>
            <a:ext cx="480292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36F13EB-BB52-72D9-E6C2-8DFD9FE9305A}"/>
              </a:ext>
            </a:extLst>
          </p:cNvPr>
          <p:cNvSpPr txBox="1"/>
          <p:nvPr/>
        </p:nvSpPr>
        <p:spPr>
          <a:xfrm>
            <a:off x="524022" y="4383915"/>
            <a:ext cx="8658890" cy="1477328"/>
          </a:xfrm>
          <a:prstGeom prst="rect">
            <a:avLst/>
          </a:prstGeom>
          <a:noFill/>
        </p:spPr>
        <p:txBody>
          <a:bodyPr wrap="square" rtlCol="0">
            <a:spAutoFit/>
          </a:bodyPr>
          <a:lstStyle/>
          <a:p>
            <a:pPr algn="just"/>
            <a:r>
              <a:rPr lang="en-US" dirty="0">
                <a:solidFill>
                  <a:schemeClr val="bg1"/>
                </a:solidFill>
              </a:rPr>
              <a:t>According to a report by Statista, the Australian fashion market is diverse and dynamic, offering a wide range of products, brands, and styles to cater to different consumer segments and preferences. The report also states that the Australian apparel market was valued at around 28.5 billion Australian dollars in 2020 and is expected to grow to 31.3 billion Australian dollars by 2023.</a:t>
            </a:r>
          </a:p>
        </p:txBody>
      </p:sp>
    </p:spTree>
    <p:extLst>
      <p:ext uri="{BB962C8B-B14F-4D97-AF65-F5344CB8AC3E}">
        <p14:creationId xmlns:p14="http://schemas.microsoft.com/office/powerpoint/2010/main" val="2165904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D3506E-B673-4865-1C0A-24ACF71F1CF9}"/>
              </a:ext>
            </a:extLst>
          </p:cNvPr>
          <p:cNvSpPr txBox="1"/>
          <p:nvPr/>
        </p:nvSpPr>
        <p:spPr>
          <a:xfrm>
            <a:off x="524021" y="514242"/>
            <a:ext cx="6954554"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MARKETING STRATEGY</a:t>
            </a:r>
          </a:p>
        </p:txBody>
      </p:sp>
      <p:sp>
        <p:nvSpPr>
          <p:cNvPr id="10" name="TextBox 9">
            <a:extLst>
              <a:ext uri="{FF2B5EF4-FFF2-40B4-BE49-F238E27FC236}">
                <a16:creationId xmlns:a16="http://schemas.microsoft.com/office/drawing/2014/main" id="{CFDC0D0D-282F-27CF-4E9C-163810EC5079}"/>
              </a:ext>
            </a:extLst>
          </p:cNvPr>
          <p:cNvSpPr txBox="1"/>
          <p:nvPr/>
        </p:nvSpPr>
        <p:spPr>
          <a:xfrm>
            <a:off x="646828" y="1711959"/>
            <a:ext cx="11098132" cy="4204356"/>
          </a:xfrm>
          <a:prstGeom prst="rect">
            <a:avLst/>
          </a:prstGeom>
          <a:noFill/>
        </p:spPr>
        <p:txBody>
          <a:bodyPr wrap="square" rtlCol="0">
            <a:spAutoFit/>
          </a:bodyPr>
          <a:lstStyle/>
          <a:p>
            <a:pPr algn="just">
              <a:lnSpc>
                <a:spcPct val="150000"/>
              </a:lnSpc>
            </a:pPr>
            <a:r>
              <a:rPr lang="en-US" dirty="0">
                <a:solidFill>
                  <a:schemeClr val="bg1"/>
                </a:solidFill>
              </a:rPr>
              <a:t>Both ETIKO and Bhumi employ various marketing strategies to reach their target markets. ETIKO focuses on ethical manufacturing and fair-trade practices, emphasizing their commitment to providing consumers with products produced under fair labor conditions. They leverage their ethical stance as a unique selling proposition, often highlighting transparency in their production process to attract consumers who prioritize ethical values.</a:t>
            </a:r>
          </a:p>
          <a:p>
            <a:pPr algn="just">
              <a:lnSpc>
                <a:spcPct val="150000"/>
              </a:lnSpc>
            </a:pPr>
            <a:endParaRPr lang="en-US" dirty="0">
              <a:solidFill>
                <a:schemeClr val="bg1"/>
              </a:solidFill>
            </a:endParaRPr>
          </a:p>
          <a:p>
            <a:pPr algn="just">
              <a:lnSpc>
                <a:spcPct val="150000"/>
              </a:lnSpc>
            </a:pPr>
            <a:r>
              <a:rPr lang="en-US" dirty="0">
                <a:solidFill>
                  <a:schemeClr val="bg1"/>
                </a:solidFill>
              </a:rPr>
              <a:t>BHUMI markets its organic cotton bedding, bath linens, and basics by emphasizing sustainability and eco-friendliness. They concentrate on the use of GOTS certified fairtrade organic cotton, promoting chemical-free and environmentally friendly materials. BHUMI engages with their audience through social media platforms, influencer collaborations, and content creation that educates consumers about the benefits of organic materials and their commitment to fair trade and environmental sustainability.</a:t>
            </a:r>
          </a:p>
        </p:txBody>
      </p:sp>
      <p:sp>
        <p:nvSpPr>
          <p:cNvPr id="11" name="Rectangle: Rounded Corners 10">
            <a:extLst>
              <a:ext uri="{FF2B5EF4-FFF2-40B4-BE49-F238E27FC236}">
                <a16:creationId xmlns:a16="http://schemas.microsoft.com/office/drawing/2014/main" id="{BFF3270D-A22C-1843-362F-2B394D6153B4}"/>
              </a:ext>
            </a:extLst>
          </p:cNvPr>
          <p:cNvSpPr/>
          <p:nvPr/>
        </p:nvSpPr>
        <p:spPr>
          <a:xfrm rot="19140978">
            <a:off x="828605" y="10329902"/>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90AA74A-681F-30AB-7916-D22D9CABC7B2}"/>
              </a:ext>
            </a:extLst>
          </p:cNvPr>
          <p:cNvSpPr/>
          <p:nvPr/>
        </p:nvSpPr>
        <p:spPr>
          <a:xfrm rot="19140978">
            <a:off x="514747" y="11409029"/>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8E526BEA-10F7-8D8D-BCD5-AC3E0E4A23E5}"/>
              </a:ext>
            </a:extLst>
          </p:cNvPr>
          <p:cNvSpPr/>
          <p:nvPr/>
        </p:nvSpPr>
        <p:spPr>
          <a:xfrm rot="19140978">
            <a:off x="254615" y="12488157"/>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660918F0-0E7B-71E2-AFD4-97C70F1A48BA}"/>
              </a:ext>
            </a:extLst>
          </p:cNvPr>
          <p:cNvCxnSpPr>
            <a:cxnSpLocks/>
          </p:cNvCxnSpPr>
          <p:nvPr/>
        </p:nvCxnSpPr>
        <p:spPr>
          <a:xfrm>
            <a:off x="590948" y="1348480"/>
            <a:ext cx="4336652"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A4B09E2-0E01-48E2-0B18-31F3814A8163}"/>
              </a:ext>
            </a:extLst>
          </p:cNvPr>
          <p:cNvCxnSpPr>
            <a:cxnSpLocks/>
          </p:cNvCxnSpPr>
          <p:nvPr/>
        </p:nvCxnSpPr>
        <p:spPr>
          <a:xfrm>
            <a:off x="2454696" y="1348080"/>
            <a:ext cx="480292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88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D3506E-B673-4865-1C0A-24ACF71F1CF9}"/>
              </a:ext>
            </a:extLst>
          </p:cNvPr>
          <p:cNvSpPr txBox="1"/>
          <p:nvPr/>
        </p:nvSpPr>
        <p:spPr>
          <a:xfrm>
            <a:off x="524021" y="514242"/>
            <a:ext cx="565304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COUNTRY FACTORS</a:t>
            </a:r>
          </a:p>
        </p:txBody>
      </p:sp>
      <p:cxnSp>
        <p:nvCxnSpPr>
          <p:cNvPr id="3" name="Straight Connector 2">
            <a:extLst>
              <a:ext uri="{FF2B5EF4-FFF2-40B4-BE49-F238E27FC236}">
                <a16:creationId xmlns:a16="http://schemas.microsoft.com/office/drawing/2014/main" id="{660918F0-0E7B-71E2-AFD4-97C70F1A48BA}"/>
              </a:ext>
            </a:extLst>
          </p:cNvPr>
          <p:cNvCxnSpPr>
            <a:cxnSpLocks/>
          </p:cNvCxnSpPr>
          <p:nvPr/>
        </p:nvCxnSpPr>
        <p:spPr>
          <a:xfrm flipV="1">
            <a:off x="590948" y="1345239"/>
            <a:ext cx="5342924" cy="3241"/>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30D1D95-8315-663B-2683-FF7DF353D6EE}"/>
              </a:ext>
            </a:extLst>
          </p:cNvPr>
          <p:cNvSpPr txBox="1"/>
          <p:nvPr/>
        </p:nvSpPr>
        <p:spPr>
          <a:xfrm>
            <a:off x="646828" y="1556315"/>
            <a:ext cx="4304551" cy="5035353"/>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v"/>
            </a:pPr>
            <a:r>
              <a:rPr lang="en-US" dirty="0">
                <a:solidFill>
                  <a:schemeClr val="bg1"/>
                </a:solidFill>
              </a:rPr>
              <a:t>Packaging Requirements</a:t>
            </a:r>
          </a:p>
          <a:p>
            <a:pPr marL="285750" indent="-285750" algn="just">
              <a:lnSpc>
                <a:spcPct val="200000"/>
              </a:lnSpc>
              <a:buFont typeface="Wingdings" panose="05000000000000000000" pitchFamily="2" charset="2"/>
              <a:buChar char="v"/>
            </a:pPr>
            <a:r>
              <a:rPr lang="en-US" dirty="0">
                <a:solidFill>
                  <a:schemeClr val="bg1"/>
                </a:solidFill>
              </a:rPr>
              <a:t>Labelling Requirements</a:t>
            </a:r>
          </a:p>
          <a:p>
            <a:pPr marL="742950" lvl="1" indent="-285750" algn="just">
              <a:lnSpc>
                <a:spcPct val="150000"/>
              </a:lnSpc>
              <a:buFont typeface="Arial" panose="020B0604020202020204" pitchFamily="34" charset="0"/>
              <a:buChar char="•"/>
            </a:pPr>
            <a:r>
              <a:rPr lang="en-US" dirty="0">
                <a:solidFill>
                  <a:schemeClr val="bg1"/>
                </a:solidFill>
              </a:rPr>
              <a:t>Accurate &amp; Transparent Labelling</a:t>
            </a:r>
          </a:p>
          <a:p>
            <a:pPr marL="742950" lvl="1" indent="-285750" algn="just">
              <a:lnSpc>
                <a:spcPct val="150000"/>
              </a:lnSpc>
              <a:buFont typeface="Arial" panose="020B0604020202020204" pitchFamily="34" charset="0"/>
              <a:buChar char="•"/>
            </a:pPr>
            <a:r>
              <a:rPr lang="en-US" dirty="0">
                <a:solidFill>
                  <a:schemeClr val="bg1"/>
                </a:solidFill>
              </a:rPr>
              <a:t>Certification</a:t>
            </a:r>
          </a:p>
          <a:p>
            <a:pPr marL="742950" lvl="1" indent="-285750" algn="just">
              <a:lnSpc>
                <a:spcPct val="150000"/>
              </a:lnSpc>
              <a:buFont typeface="Arial" panose="020B0604020202020204" pitchFamily="34" charset="0"/>
              <a:buChar char="•"/>
            </a:pPr>
            <a:r>
              <a:rPr lang="en-US" dirty="0">
                <a:solidFill>
                  <a:schemeClr val="bg1"/>
                </a:solidFill>
              </a:rPr>
              <a:t>Material Details</a:t>
            </a:r>
          </a:p>
          <a:p>
            <a:pPr marL="742950" lvl="1" indent="-285750" algn="just">
              <a:lnSpc>
                <a:spcPct val="150000"/>
              </a:lnSpc>
              <a:buFont typeface="Arial" panose="020B0604020202020204" pitchFamily="34" charset="0"/>
              <a:buChar char="•"/>
            </a:pPr>
            <a:r>
              <a:rPr lang="en-US" dirty="0">
                <a:solidFill>
                  <a:schemeClr val="bg1"/>
                </a:solidFill>
              </a:rPr>
              <a:t>Care Instructions</a:t>
            </a:r>
          </a:p>
          <a:p>
            <a:pPr marL="742950" lvl="1" indent="-285750" algn="just">
              <a:lnSpc>
                <a:spcPct val="150000"/>
              </a:lnSpc>
              <a:buFont typeface="Arial" panose="020B0604020202020204" pitchFamily="34" charset="0"/>
              <a:buChar char="•"/>
            </a:pPr>
            <a:r>
              <a:rPr lang="en-US" dirty="0">
                <a:solidFill>
                  <a:schemeClr val="bg1"/>
                </a:solidFill>
              </a:rPr>
              <a:t>Size &amp; Quantity</a:t>
            </a:r>
          </a:p>
          <a:p>
            <a:pPr marL="742950" lvl="1" indent="-285750" algn="just">
              <a:lnSpc>
                <a:spcPct val="150000"/>
              </a:lnSpc>
              <a:buFont typeface="Arial" panose="020B0604020202020204" pitchFamily="34" charset="0"/>
              <a:buChar char="•"/>
            </a:pPr>
            <a:r>
              <a:rPr lang="en-US" dirty="0">
                <a:solidFill>
                  <a:schemeClr val="bg1"/>
                </a:solidFill>
              </a:rPr>
              <a:t>Country of Origin</a:t>
            </a:r>
          </a:p>
          <a:p>
            <a:pPr marL="742950" lvl="1" indent="-285750" algn="just">
              <a:lnSpc>
                <a:spcPct val="150000"/>
              </a:lnSpc>
              <a:buFont typeface="Arial" panose="020B0604020202020204" pitchFamily="34" charset="0"/>
              <a:buChar char="•"/>
            </a:pPr>
            <a:r>
              <a:rPr lang="en-US" dirty="0">
                <a:solidFill>
                  <a:schemeClr val="bg1"/>
                </a:solidFill>
              </a:rPr>
              <a:t>Allergan Information</a:t>
            </a:r>
          </a:p>
          <a:p>
            <a:pPr marL="285750" indent="-285750" algn="just">
              <a:lnSpc>
                <a:spcPct val="200000"/>
              </a:lnSpc>
              <a:buFont typeface="Wingdings" panose="05000000000000000000" pitchFamily="2" charset="2"/>
              <a:buChar char="v"/>
            </a:pPr>
            <a:r>
              <a:rPr lang="en-US" dirty="0">
                <a:solidFill>
                  <a:schemeClr val="bg1"/>
                </a:solidFill>
              </a:rPr>
              <a:t>Main Language</a:t>
            </a:r>
          </a:p>
          <a:p>
            <a:pPr marL="742950" lvl="1" indent="-285750" algn="just">
              <a:lnSpc>
                <a:spcPct val="150000"/>
              </a:lnSpc>
              <a:buFont typeface="Arial" panose="020B0604020202020204" pitchFamily="34" charset="0"/>
              <a:buChar char="•"/>
            </a:pPr>
            <a:r>
              <a:rPr lang="en-US" dirty="0">
                <a:solidFill>
                  <a:schemeClr val="bg1"/>
                </a:solidFill>
              </a:rPr>
              <a:t>English</a:t>
            </a:r>
          </a:p>
        </p:txBody>
      </p:sp>
      <p:sp>
        <p:nvSpPr>
          <p:cNvPr id="6" name="TextBox 5">
            <a:extLst>
              <a:ext uri="{FF2B5EF4-FFF2-40B4-BE49-F238E27FC236}">
                <a16:creationId xmlns:a16="http://schemas.microsoft.com/office/drawing/2014/main" id="{9E713066-88EF-0D32-3AA3-728890204301}"/>
              </a:ext>
            </a:extLst>
          </p:cNvPr>
          <p:cNvSpPr txBox="1"/>
          <p:nvPr/>
        </p:nvSpPr>
        <p:spPr>
          <a:xfrm>
            <a:off x="6096001" y="1556314"/>
            <a:ext cx="1958502"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v"/>
            </a:pPr>
            <a:r>
              <a:rPr lang="en-US" dirty="0">
                <a:solidFill>
                  <a:schemeClr val="bg1"/>
                </a:solidFill>
              </a:rPr>
              <a:t>Main Religions</a:t>
            </a:r>
          </a:p>
        </p:txBody>
      </p:sp>
      <p:graphicFrame>
        <p:nvGraphicFramePr>
          <p:cNvPr id="15" name="Chart 14">
            <a:extLst>
              <a:ext uri="{FF2B5EF4-FFF2-40B4-BE49-F238E27FC236}">
                <a16:creationId xmlns:a16="http://schemas.microsoft.com/office/drawing/2014/main" id="{2E2981A1-31D6-1559-5487-DF6ACE9FC960}"/>
              </a:ext>
            </a:extLst>
          </p:cNvPr>
          <p:cNvGraphicFramePr/>
          <p:nvPr>
            <p:extLst>
              <p:ext uri="{D42A27DB-BD31-4B8C-83A1-F6EECF244321}">
                <p14:modId xmlns:p14="http://schemas.microsoft.com/office/powerpoint/2010/main" val="690976512"/>
              </p:ext>
            </p:extLst>
          </p:nvPr>
        </p:nvGraphicFramePr>
        <p:xfrm>
          <a:off x="5685710" y="2727959"/>
          <a:ext cx="4910305" cy="3317653"/>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a:extLst>
              <a:ext uri="{FF2B5EF4-FFF2-40B4-BE49-F238E27FC236}">
                <a16:creationId xmlns:a16="http://schemas.microsoft.com/office/drawing/2014/main" id="{5B714192-6E99-D184-8EAF-B90500FAC605}"/>
              </a:ext>
            </a:extLst>
          </p:cNvPr>
          <p:cNvSpPr txBox="1"/>
          <p:nvPr/>
        </p:nvSpPr>
        <p:spPr>
          <a:xfrm>
            <a:off x="10609090" y="3796992"/>
            <a:ext cx="452368" cy="276999"/>
          </a:xfrm>
          <a:prstGeom prst="rect">
            <a:avLst/>
          </a:prstGeom>
          <a:noFill/>
        </p:spPr>
        <p:txBody>
          <a:bodyPr wrap="none" rtlCol="0">
            <a:spAutoFit/>
          </a:bodyPr>
          <a:lstStyle/>
          <a:p>
            <a:r>
              <a:rPr lang="en-US" sz="1200" dirty="0">
                <a:solidFill>
                  <a:schemeClr val="bg1"/>
                </a:solidFill>
              </a:rPr>
              <a:t>68%</a:t>
            </a:r>
          </a:p>
        </p:txBody>
      </p:sp>
      <p:sp>
        <p:nvSpPr>
          <p:cNvPr id="18" name="TextBox 17">
            <a:extLst>
              <a:ext uri="{FF2B5EF4-FFF2-40B4-BE49-F238E27FC236}">
                <a16:creationId xmlns:a16="http://schemas.microsoft.com/office/drawing/2014/main" id="{6A2B976F-DAF2-99F1-0DCA-7AE3CD3F0D0C}"/>
              </a:ext>
            </a:extLst>
          </p:cNvPr>
          <p:cNvSpPr txBox="1"/>
          <p:nvPr/>
        </p:nvSpPr>
        <p:spPr>
          <a:xfrm>
            <a:off x="10585903" y="4029456"/>
            <a:ext cx="490840" cy="276999"/>
          </a:xfrm>
          <a:prstGeom prst="rect">
            <a:avLst/>
          </a:prstGeom>
          <a:noFill/>
        </p:spPr>
        <p:txBody>
          <a:bodyPr wrap="none" rtlCol="0">
            <a:spAutoFit/>
          </a:bodyPr>
          <a:lstStyle/>
          <a:p>
            <a:r>
              <a:rPr lang="en-US" sz="1200" dirty="0">
                <a:solidFill>
                  <a:schemeClr val="bg1"/>
                </a:solidFill>
              </a:rPr>
              <a:t>2.8%</a:t>
            </a:r>
          </a:p>
        </p:txBody>
      </p:sp>
      <p:sp>
        <p:nvSpPr>
          <p:cNvPr id="19" name="TextBox 18">
            <a:extLst>
              <a:ext uri="{FF2B5EF4-FFF2-40B4-BE49-F238E27FC236}">
                <a16:creationId xmlns:a16="http://schemas.microsoft.com/office/drawing/2014/main" id="{A8008C92-D132-832C-F427-4E366C727337}"/>
              </a:ext>
            </a:extLst>
          </p:cNvPr>
          <p:cNvSpPr txBox="1"/>
          <p:nvPr/>
        </p:nvSpPr>
        <p:spPr>
          <a:xfrm>
            <a:off x="10585903" y="4306455"/>
            <a:ext cx="490840" cy="276999"/>
          </a:xfrm>
          <a:prstGeom prst="rect">
            <a:avLst/>
          </a:prstGeom>
          <a:noFill/>
        </p:spPr>
        <p:txBody>
          <a:bodyPr wrap="none" rtlCol="0">
            <a:spAutoFit/>
          </a:bodyPr>
          <a:lstStyle/>
          <a:p>
            <a:r>
              <a:rPr lang="en-US" sz="1200" dirty="0">
                <a:solidFill>
                  <a:schemeClr val="bg1"/>
                </a:solidFill>
              </a:rPr>
              <a:t>2.4%</a:t>
            </a:r>
          </a:p>
        </p:txBody>
      </p:sp>
      <p:sp>
        <p:nvSpPr>
          <p:cNvPr id="20" name="TextBox 19">
            <a:extLst>
              <a:ext uri="{FF2B5EF4-FFF2-40B4-BE49-F238E27FC236}">
                <a16:creationId xmlns:a16="http://schemas.microsoft.com/office/drawing/2014/main" id="{9E7C735A-27A1-0E41-6FDE-030ECDC0368C}"/>
              </a:ext>
            </a:extLst>
          </p:cNvPr>
          <p:cNvSpPr txBox="1"/>
          <p:nvPr/>
        </p:nvSpPr>
        <p:spPr>
          <a:xfrm>
            <a:off x="10589789" y="4561594"/>
            <a:ext cx="490840" cy="276999"/>
          </a:xfrm>
          <a:prstGeom prst="rect">
            <a:avLst/>
          </a:prstGeom>
          <a:noFill/>
        </p:spPr>
        <p:txBody>
          <a:bodyPr wrap="none" rtlCol="0">
            <a:spAutoFit/>
          </a:bodyPr>
          <a:lstStyle/>
          <a:p>
            <a:r>
              <a:rPr lang="en-US" sz="1200" dirty="0">
                <a:solidFill>
                  <a:schemeClr val="bg1"/>
                </a:solidFill>
              </a:rPr>
              <a:t>1.4%</a:t>
            </a:r>
          </a:p>
        </p:txBody>
      </p:sp>
      <p:sp>
        <p:nvSpPr>
          <p:cNvPr id="21" name="TextBox 20">
            <a:extLst>
              <a:ext uri="{FF2B5EF4-FFF2-40B4-BE49-F238E27FC236}">
                <a16:creationId xmlns:a16="http://schemas.microsoft.com/office/drawing/2014/main" id="{A1D9A0F3-89CF-2618-0F78-EF767FE55738}"/>
              </a:ext>
            </a:extLst>
          </p:cNvPr>
          <p:cNvSpPr txBox="1"/>
          <p:nvPr/>
        </p:nvSpPr>
        <p:spPr>
          <a:xfrm>
            <a:off x="10583693" y="4841272"/>
            <a:ext cx="490840" cy="276999"/>
          </a:xfrm>
          <a:prstGeom prst="rect">
            <a:avLst/>
          </a:prstGeom>
          <a:noFill/>
        </p:spPr>
        <p:txBody>
          <a:bodyPr wrap="none" rtlCol="0">
            <a:spAutoFit/>
          </a:bodyPr>
          <a:lstStyle/>
          <a:p>
            <a:r>
              <a:rPr lang="en-US" sz="1200" dirty="0">
                <a:solidFill>
                  <a:schemeClr val="bg1"/>
                </a:solidFill>
              </a:rPr>
              <a:t>0.6%</a:t>
            </a:r>
          </a:p>
        </p:txBody>
      </p:sp>
      <p:sp>
        <p:nvSpPr>
          <p:cNvPr id="22" name="TextBox 21">
            <a:extLst>
              <a:ext uri="{FF2B5EF4-FFF2-40B4-BE49-F238E27FC236}">
                <a16:creationId xmlns:a16="http://schemas.microsoft.com/office/drawing/2014/main" id="{BAD45962-C454-5450-0679-54D85ED8CC4D}"/>
              </a:ext>
            </a:extLst>
          </p:cNvPr>
          <p:cNvSpPr txBox="1"/>
          <p:nvPr/>
        </p:nvSpPr>
        <p:spPr>
          <a:xfrm>
            <a:off x="10544419" y="5109651"/>
            <a:ext cx="569387" cy="276999"/>
          </a:xfrm>
          <a:prstGeom prst="rect">
            <a:avLst/>
          </a:prstGeom>
          <a:noFill/>
        </p:spPr>
        <p:txBody>
          <a:bodyPr wrap="none" rtlCol="0">
            <a:spAutoFit/>
          </a:bodyPr>
          <a:lstStyle/>
          <a:p>
            <a:r>
              <a:rPr lang="en-US" sz="1200" dirty="0">
                <a:solidFill>
                  <a:schemeClr val="bg1"/>
                </a:solidFill>
              </a:rPr>
              <a:t>24.8%</a:t>
            </a:r>
          </a:p>
        </p:txBody>
      </p:sp>
    </p:spTree>
    <p:extLst>
      <p:ext uri="{BB962C8B-B14F-4D97-AF65-F5344CB8AC3E}">
        <p14:creationId xmlns:p14="http://schemas.microsoft.com/office/powerpoint/2010/main" val="826922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D3506E-B673-4865-1C0A-24ACF71F1CF9}"/>
              </a:ext>
            </a:extLst>
          </p:cNvPr>
          <p:cNvSpPr txBox="1"/>
          <p:nvPr/>
        </p:nvSpPr>
        <p:spPr>
          <a:xfrm>
            <a:off x="524021" y="514242"/>
            <a:ext cx="6954554"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COUNTRY FACTORS</a:t>
            </a:r>
          </a:p>
        </p:txBody>
      </p:sp>
      <p:cxnSp>
        <p:nvCxnSpPr>
          <p:cNvPr id="3" name="Straight Connector 2">
            <a:extLst>
              <a:ext uri="{FF2B5EF4-FFF2-40B4-BE49-F238E27FC236}">
                <a16:creationId xmlns:a16="http://schemas.microsoft.com/office/drawing/2014/main" id="{660918F0-0E7B-71E2-AFD4-97C70F1A48BA}"/>
              </a:ext>
            </a:extLst>
          </p:cNvPr>
          <p:cNvCxnSpPr>
            <a:cxnSpLocks/>
          </p:cNvCxnSpPr>
          <p:nvPr/>
        </p:nvCxnSpPr>
        <p:spPr>
          <a:xfrm flipV="1">
            <a:off x="590948" y="1345239"/>
            <a:ext cx="5352652" cy="3241"/>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8CB9EAF-E808-3349-0BA6-9E3C3A5475F7}"/>
              </a:ext>
            </a:extLst>
          </p:cNvPr>
          <p:cNvSpPr txBox="1"/>
          <p:nvPr/>
        </p:nvSpPr>
        <p:spPr>
          <a:xfrm>
            <a:off x="646828" y="1556315"/>
            <a:ext cx="5034125" cy="3096360"/>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v"/>
            </a:pPr>
            <a:r>
              <a:rPr lang="en-US" dirty="0">
                <a:solidFill>
                  <a:schemeClr val="bg1"/>
                </a:solidFill>
              </a:rPr>
              <a:t>Cultural Factors</a:t>
            </a:r>
          </a:p>
          <a:p>
            <a:pPr marL="742950" lvl="1" indent="-285750" algn="just">
              <a:lnSpc>
                <a:spcPct val="150000"/>
              </a:lnSpc>
              <a:buFont typeface="Wingdings" panose="05000000000000000000" pitchFamily="2" charset="2"/>
              <a:buChar char="Ø"/>
            </a:pPr>
            <a:r>
              <a:rPr lang="en-US" dirty="0">
                <a:solidFill>
                  <a:schemeClr val="bg1"/>
                </a:solidFill>
              </a:rPr>
              <a:t>Aesthetic</a:t>
            </a:r>
          </a:p>
          <a:p>
            <a:pPr marL="1200150" lvl="2" indent="-285750" algn="just">
              <a:lnSpc>
                <a:spcPct val="150000"/>
              </a:lnSpc>
              <a:buFont typeface="Arial" panose="020B0604020202020204" pitchFamily="34" charset="0"/>
              <a:buChar char="•"/>
            </a:pPr>
            <a:r>
              <a:rPr lang="en-US" dirty="0">
                <a:solidFill>
                  <a:schemeClr val="bg1"/>
                </a:solidFill>
              </a:rPr>
              <a:t>Minimalistic and Eco-friendly design</a:t>
            </a:r>
          </a:p>
          <a:p>
            <a:pPr marL="1200150" lvl="2" indent="-285750" algn="just">
              <a:lnSpc>
                <a:spcPct val="150000"/>
              </a:lnSpc>
              <a:buFont typeface="Arial" panose="020B0604020202020204" pitchFamily="34" charset="0"/>
              <a:buChar char="•"/>
            </a:pPr>
            <a:r>
              <a:rPr lang="en-US" dirty="0">
                <a:solidFill>
                  <a:schemeClr val="bg1"/>
                </a:solidFill>
              </a:rPr>
              <a:t>Craftsmanship</a:t>
            </a:r>
          </a:p>
          <a:p>
            <a:pPr marL="742950" lvl="1" indent="-285750" algn="just">
              <a:lnSpc>
                <a:spcPct val="150000"/>
              </a:lnSpc>
              <a:buFont typeface="Wingdings" panose="05000000000000000000" pitchFamily="2" charset="2"/>
              <a:buChar char="Ø"/>
            </a:pPr>
            <a:r>
              <a:rPr lang="en-US" dirty="0">
                <a:solidFill>
                  <a:schemeClr val="bg1"/>
                </a:solidFill>
              </a:rPr>
              <a:t>Symbols</a:t>
            </a:r>
          </a:p>
          <a:p>
            <a:pPr marL="1200150" lvl="2" indent="-285750" algn="just">
              <a:lnSpc>
                <a:spcPct val="150000"/>
              </a:lnSpc>
              <a:buFont typeface="Arial" panose="020B0604020202020204" pitchFamily="34" charset="0"/>
              <a:buChar char="•"/>
            </a:pPr>
            <a:r>
              <a:rPr lang="en-US" dirty="0">
                <a:solidFill>
                  <a:schemeClr val="bg1"/>
                </a:solidFill>
              </a:rPr>
              <a:t>National symbols</a:t>
            </a:r>
          </a:p>
          <a:p>
            <a:pPr marL="1200150" lvl="2" indent="-285750" algn="just">
              <a:lnSpc>
                <a:spcPct val="150000"/>
              </a:lnSpc>
              <a:buFont typeface="Arial" panose="020B0604020202020204" pitchFamily="34" charset="0"/>
              <a:buChar char="•"/>
            </a:pPr>
            <a:r>
              <a:rPr lang="en-US" dirty="0">
                <a:solidFill>
                  <a:schemeClr val="bg1"/>
                </a:solidFill>
              </a:rPr>
              <a:t>Cultural symbols</a:t>
            </a:r>
          </a:p>
        </p:txBody>
      </p:sp>
      <p:sp>
        <p:nvSpPr>
          <p:cNvPr id="6" name="TextBox 5">
            <a:extLst>
              <a:ext uri="{FF2B5EF4-FFF2-40B4-BE49-F238E27FC236}">
                <a16:creationId xmlns:a16="http://schemas.microsoft.com/office/drawing/2014/main" id="{5570C981-9B8B-E575-5362-B553EF644E4B}"/>
              </a:ext>
            </a:extLst>
          </p:cNvPr>
          <p:cNvSpPr txBox="1"/>
          <p:nvPr/>
        </p:nvSpPr>
        <p:spPr>
          <a:xfrm>
            <a:off x="6207825" y="2720390"/>
            <a:ext cx="5034125" cy="3927357"/>
          </a:xfrm>
          <a:prstGeom prst="rect">
            <a:avLst/>
          </a:prstGeom>
          <a:noFill/>
        </p:spPr>
        <p:txBody>
          <a:bodyPr wrap="square" rtlCol="0">
            <a:spAutoFit/>
          </a:bodyPr>
          <a:lstStyle/>
          <a:p>
            <a:pPr marL="742950" lvl="1" indent="-285750" algn="just">
              <a:lnSpc>
                <a:spcPct val="150000"/>
              </a:lnSpc>
              <a:buFont typeface="Wingdings" panose="05000000000000000000" pitchFamily="2" charset="2"/>
              <a:buChar char="Ø"/>
            </a:pPr>
            <a:r>
              <a:rPr lang="en-US" dirty="0">
                <a:solidFill>
                  <a:schemeClr val="bg1"/>
                </a:solidFill>
              </a:rPr>
              <a:t>Colors</a:t>
            </a:r>
          </a:p>
          <a:p>
            <a:pPr marL="1200150" lvl="2" indent="-285750" algn="just">
              <a:lnSpc>
                <a:spcPct val="150000"/>
              </a:lnSpc>
              <a:buFont typeface="Arial" panose="020B0604020202020204" pitchFamily="34" charset="0"/>
              <a:buChar char="•"/>
            </a:pPr>
            <a:r>
              <a:rPr lang="en-US" dirty="0">
                <a:solidFill>
                  <a:schemeClr val="bg1"/>
                </a:solidFill>
              </a:rPr>
              <a:t>Green</a:t>
            </a:r>
          </a:p>
          <a:p>
            <a:pPr marL="1200150" lvl="2" indent="-285750" algn="just">
              <a:lnSpc>
                <a:spcPct val="150000"/>
              </a:lnSpc>
              <a:buFont typeface="Arial" panose="020B0604020202020204" pitchFamily="34" charset="0"/>
              <a:buChar char="•"/>
            </a:pPr>
            <a:r>
              <a:rPr lang="en-US" dirty="0">
                <a:solidFill>
                  <a:schemeClr val="bg1"/>
                </a:solidFill>
              </a:rPr>
              <a:t>Gold</a:t>
            </a:r>
          </a:p>
          <a:p>
            <a:pPr marL="742950" lvl="1" indent="-285750" algn="just">
              <a:lnSpc>
                <a:spcPct val="150000"/>
              </a:lnSpc>
              <a:buFont typeface="Wingdings" panose="05000000000000000000" pitchFamily="2" charset="2"/>
              <a:buChar char="Ø"/>
            </a:pPr>
            <a:r>
              <a:rPr lang="en-US" dirty="0">
                <a:solidFill>
                  <a:schemeClr val="bg1"/>
                </a:solidFill>
              </a:rPr>
              <a:t>Preferred Flavors</a:t>
            </a:r>
          </a:p>
          <a:p>
            <a:pPr marL="1200150" lvl="2" indent="-285750" algn="just">
              <a:lnSpc>
                <a:spcPct val="150000"/>
              </a:lnSpc>
              <a:buFont typeface="Arial" panose="020B0604020202020204" pitchFamily="34" charset="0"/>
              <a:buChar char="•"/>
            </a:pPr>
            <a:r>
              <a:rPr lang="en-US" dirty="0">
                <a:solidFill>
                  <a:schemeClr val="bg1"/>
                </a:solidFill>
              </a:rPr>
              <a:t>Hemp</a:t>
            </a:r>
          </a:p>
          <a:p>
            <a:pPr marL="1200150" lvl="2" indent="-285750" algn="just">
              <a:lnSpc>
                <a:spcPct val="150000"/>
              </a:lnSpc>
              <a:buFont typeface="Arial" panose="020B0604020202020204" pitchFamily="34" charset="0"/>
              <a:buChar char="•"/>
            </a:pPr>
            <a:r>
              <a:rPr lang="en-US" dirty="0">
                <a:solidFill>
                  <a:schemeClr val="bg1"/>
                </a:solidFill>
              </a:rPr>
              <a:t>Recycled Cotton</a:t>
            </a:r>
          </a:p>
          <a:p>
            <a:pPr marL="285750" indent="-285750" algn="just">
              <a:lnSpc>
                <a:spcPct val="200000"/>
              </a:lnSpc>
              <a:buFont typeface="Wingdings" panose="05000000000000000000" pitchFamily="2" charset="2"/>
              <a:buChar char="v"/>
            </a:pPr>
            <a:r>
              <a:rPr lang="en-US" dirty="0">
                <a:solidFill>
                  <a:schemeClr val="bg1"/>
                </a:solidFill>
              </a:rPr>
              <a:t>Laws in Australia</a:t>
            </a:r>
          </a:p>
          <a:p>
            <a:pPr marL="742950" lvl="1" indent="-285750" algn="just">
              <a:lnSpc>
                <a:spcPct val="150000"/>
              </a:lnSpc>
              <a:buFont typeface="Wingdings" panose="05000000000000000000" pitchFamily="2" charset="2"/>
              <a:buChar char="Ø"/>
            </a:pPr>
            <a:r>
              <a:rPr lang="en-US" dirty="0">
                <a:solidFill>
                  <a:schemeClr val="bg1"/>
                </a:solidFill>
              </a:rPr>
              <a:t>Competition and Consumer Act 2010 [CCA]</a:t>
            </a:r>
          </a:p>
          <a:p>
            <a:pPr marL="742950" lvl="1" indent="-285750" algn="just">
              <a:lnSpc>
                <a:spcPct val="150000"/>
              </a:lnSpc>
              <a:buFont typeface="Wingdings" panose="05000000000000000000" pitchFamily="2" charset="2"/>
              <a:buChar char="Ø"/>
            </a:pPr>
            <a:r>
              <a:rPr lang="en-US" dirty="0">
                <a:solidFill>
                  <a:schemeClr val="bg1"/>
                </a:solidFill>
              </a:rPr>
              <a:t>Australian Consumer Law [ACL]</a:t>
            </a:r>
          </a:p>
        </p:txBody>
      </p:sp>
      <p:pic>
        <p:nvPicPr>
          <p:cNvPr id="18" name="Picture 17">
            <a:extLst>
              <a:ext uri="{FF2B5EF4-FFF2-40B4-BE49-F238E27FC236}">
                <a16:creationId xmlns:a16="http://schemas.microsoft.com/office/drawing/2014/main" id="{27961F1B-8A5E-9C9F-3CEC-0686E0CD0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9148" y="4860510"/>
            <a:ext cx="2990850" cy="1524000"/>
          </a:xfrm>
          <a:prstGeom prst="rect">
            <a:avLst/>
          </a:prstGeom>
        </p:spPr>
      </p:pic>
      <p:pic>
        <p:nvPicPr>
          <p:cNvPr id="20" name="Picture 19">
            <a:extLst>
              <a:ext uri="{FF2B5EF4-FFF2-40B4-BE49-F238E27FC236}">
                <a16:creationId xmlns:a16="http://schemas.microsoft.com/office/drawing/2014/main" id="{49449CC6-CC1D-A26F-A642-2334BDFF01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8575" y="137779"/>
            <a:ext cx="3572374" cy="2772162"/>
          </a:xfrm>
          <a:prstGeom prst="rect">
            <a:avLst/>
          </a:prstGeom>
        </p:spPr>
      </p:pic>
      <p:sp>
        <p:nvSpPr>
          <p:cNvPr id="21" name="Oval 20">
            <a:extLst>
              <a:ext uri="{FF2B5EF4-FFF2-40B4-BE49-F238E27FC236}">
                <a16:creationId xmlns:a16="http://schemas.microsoft.com/office/drawing/2014/main" id="{16427F34-8298-C8FD-94DF-02C991F34035}"/>
              </a:ext>
            </a:extLst>
          </p:cNvPr>
          <p:cNvSpPr/>
          <p:nvPr/>
        </p:nvSpPr>
        <p:spPr>
          <a:xfrm rot="18767046">
            <a:off x="-13563927" y="-3306579"/>
            <a:ext cx="12794169" cy="1282214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187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D3506E-B673-4865-1C0A-24ACF71F1CF9}"/>
              </a:ext>
            </a:extLst>
          </p:cNvPr>
          <p:cNvSpPr txBox="1"/>
          <p:nvPr/>
        </p:nvSpPr>
        <p:spPr>
          <a:xfrm>
            <a:off x="524021" y="514242"/>
            <a:ext cx="4403579"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RISK FACTORS</a:t>
            </a:r>
          </a:p>
        </p:txBody>
      </p:sp>
      <p:sp>
        <p:nvSpPr>
          <p:cNvPr id="10" name="TextBox 9">
            <a:extLst>
              <a:ext uri="{FF2B5EF4-FFF2-40B4-BE49-F238E27FC236}">
                <a16:creationId xmlns:a16="http://schemas.microsoft.com/office/drawing/2014/main" id="{CFDC0D0D-282F-27CF-4E9C-163810EC5079}"/>
              </a:ext>
            </a:extLst>
          </p:cNvPr>
          <p:cNvSpPr txBox="1"/>
          <p:nvPr/>
        </p:nvSpPr>
        <p:spPr>
          <a:xfrm>
            <a:off x="646828" y="1711959"/>
            <a:ext cx="11098132" cy="461985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US" dirty="0">
                <a:solidFill>
                  <a:schemeClr val="bg1"/>
                </a:solidFill>
              </a:rPr>
              <a:t>Intellectual Property: To mitigate this risk, ensure that your designs, logos, or any unique aspects of our products are properly trademarked or copyrighted in Australia. Additionally, consider legal advice to understand the country's IP laws thoroughly. </a:t>
            </a:r>
          </a:p>
          <a:p>
            <a:pPr algn="just">
              <a:lnSpc>
                <a:spcPct val="150000"/>
              </a:lnSpc>
            </a:pPr>
            <a:endParaRPr lang="en-US" dirty="0">
              <a:solidFill>
                <a:schemeClr val="bg1"/>
              </a:solidFill>
            </a:endParaRPr>
          </a:p>
          <a:p>
            <a:pPr marL="285750" indent="-285750" algn="just">
              <a:lnSpc>
                <a:spcPct val="150000"/>
              </a:lnSpc>
              <a:buFont typeface="Wingdings" panose="05000000000000000000" pitchFamily="2" charset="2"/>
              <a:buChar char="v"/>
            </a:pPr>
            <a:r>
              <a:rPr lang="en-US" dirty="0">
                <a:solidFill>
                  <a:schemeClr val="bg1"/>
                </a:solidFill>
              </a:rPr>
              <a:t>Product Liability: Implement rigorous quality control measures to ensure the safety and quality of our products. Obtaining liability insurance specific to the Australian market is crucial. Ensuring that our products comply with Australian safety standards is also essential to mitigate this risk.</a:t>
            </a:r>
          </a:p>
          <a:p>
            <a:pPr algn="just">
              <a:lnSpc>
                <a:spcPct val="150000"/>
              </a:lnSpc>
            </a:pPr>
            <a:endParaRPr lang="en-US" dirty="0">
              <a:solidFill>
                <a:schemeClr val="bg1"/>
              </a:solidFill>
            </a:endParaRPr>
          </a:p>
          <a:p>
            <a:pPr marL="285750" indent="-285750" algn="just">
              <a:lnSpc>
                <a:spcPct val="150000"/>
              </a:lnSpc>
              <a:buFont typeface="Wingdings" panose="05000000000000000000" pitchFamily="2" charset="2"/>
              <a:buChar char="v"/>
            </a:pPr>
            <a:r>
              <a:rPr lang="en-US" dirty="0">
                <a:solidFill>
                  <a:schemeClr val="bg1"/>
                </a:solidFill>
              </a:rPr>
              <a:t>Currency Risk: To manage fluctuations in currency values, consider using financial instruments like forward contracts or options to hedge against potential currency volatility. Diversifying our supplier base or negotiating stable pricing agreements can also help mitigate currency risks.</a:t>
            </a:r>
          </a:p>
        </p:txBody>
      </p:sp>
      <p:cxnSp>
        <p:nvCxnSpPr>
          <p:cNvPr id="3" name="Straight Connector 2">
            <a:extLst>
              <a:ext uri="{FF2B5EF4-FFF2-40B4-BE49-F238E27FC236}">
                <a16:creationId xmlns:a16="http://schemas.microsoft.com/office/drawing/2014/main" id="{660918F0-0E7B-71E2-AFD4-97C70F1A48BA}"/>
              </a:ext>
            </a:extLst>
          </p:cNvPr>
          <p:cNvCxnSpPr>
            <a:cxnSpLocks/>
          </p:cNvCxnSpPr>
          <p:nvPr/>
        </p:nvCxnSpPr>
        <p:spPr>
          <a:xfrm flipV="1">
            <a:off x="590948" y="1345239"/>
            <a:ext cx="4126967" cy="3241"/>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1A0C3A0D-9283-F1DA-EFF9-36989218EA94}"/>
              </a:ext>
            </a:extLst>
          </p:cNvPr>
          <p:cNvSpPr/>
          <p:nvPr/>
        </p:nvSpPr>
        <p:spPr>
          <a:xfrm rot="8327471">
            <a:off x="14710368" y="1405322"/>
            <a:ext cx="4065286" cy="400915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2E98591-DC93-452F-12FC-1D8BF94DE940}"/>
              </a:ext>
            </a:extLst>
          </p:cNvPr>
          <p:cNvSpPr txBox="1"/>
          <p:nvPr/>
        </p:nvSpPr>
        <p:spPr>
          <a:xfrm>
            <a:off x="4828811" y="2600170"/>
            <a:ext cx="2558276" cy="82785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US" sz="1100" dirty="0">
                <a:solidFill>
                  <a:srgbClr val="0C1115"/>
                </a:solidFill>
              </a:rPr>
              <a:t>Labelling Changes</a:t>
            </a:r>
          </a:p>
          <a:p>
            <a:pPr marL="742950" lvl="1" indent="-285750" algn="just">
              <a:lnSpc>
                <a:spcPct val="150000"/>
              </a:lnSpc>
              <a:buFont typeface="Arial" panose="020B0604020202020204" pitchFamily="34" charset="0"/>
              <a:buChar char="•"/>
            </a:pPr>
            <a:r>
              <a:rPr lang="en-US" sz="1100" dirty="0">
                <a:solidFill>
                  <a:srgbClr val="0C1115"/>
                </a:solidFill>
              </a:rPr>
              <a:t>Certified Logo</a:t>
            </a:r>
          </a:p>
          <a:p>
            <a:pPr marL="742950" lvl="1" indent="-285750" algn="just">
              <a:lnSpc>
                <a:spcPct val="150000"/>
              </a:lnSpc>
              <a:buFont typeface="Arial" panose="020B0604020202020204" pitchFamily="34" charset="0"/>
              <a:buChar char="•"/>
            </a:pPr>
            <a:r>
              <a:rPr lang="en-US" sz="1100" dirty="0">
                <a:solidFill>
                  <a:srgbClr val="0C1115"/>
                </a:solidFill>
              </a:rPr>
              <a:t>Tag labels</a:t>
            </a:r>
          </a:p>
        </p:txBody>
      </p:sp>
      <p:pic>
        <p:nvPicPr>
          <p:cNvPr id="16" name="Picture 15">
            <a:extLst>
              <a:ext uri="{FF2B5EF4-FFF2-40B4-BE49-F238E27FC236}">
                <a16:creationId xmlns:a16="http://schemas.microsoft.com/office/drawing/2014/main" id="{54A8E4EC-EC4E-E756-89F7-E1F1A90169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8256" y="4907569"/>
            <a:ext cx="80896" cy="60672"/>
          </a:xfrm>
          <a:prstGeom prst="rect">
            <a:avLst/>
          </a:prstGeom>
        </p:spPr>
      </p:pic>
      <p:sp>
        <p:nvSpPr>
          <p:cNvPr id="17" name="TextBox 16">
            <a:extLst>
              <a:ext uri="{FF2B5EF4-FFF2-40B4-BE49-F238E27FC236}">
                <a16:creationId xmlns:a16="http://schemas.microsoft.com/office/drawing/2014/main" id="{1DFCB884-9E75-0266-67E5-8E8BEC6B5809}"/>
              </a:ext>
            </a:extLst>
          </p:cNvPr>
          <p:cNvSpPr txBox="1"/>
          <p:nvPr/>
        </p:nvSpPr>
        <p:spPr>
          <a:xfrm>
            <a:off x="646828" y="-1549401"/>
            <a:ext cx="3407012" cy="1295868"/>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US" dirty="0">
                <a:solidFill>
                  <a:schemeClr val="bg1"/>
                </a:solidFill>
              </a:rPr>
              <a:t>Packing Changes</a:t>
            </a:r>
          </a:p>
          <a:p>
            <a:pPr marL="742950" lvl="1" indent="-285750">
              <a:lnSpc>
                <a:spcPct val="150000"/>
              </a:lnSpc>
              <a:buFont typeface="Arial" panose="020B0604020202020204" pitchFamily="34" charset="0"/>
              <a:buChar char="•"/>
            </a:pPr>
            <a:r>
              <a:rPr lang="en-US" dirty="0">
                <a:solidFill>
                  <a:schemeClr val="bg1"/>
                </a:solidFill>
              </a:rPr>
              <a:t>Minimalist and eco friendly</a:t>
            </a:r>
          </a:p>
        </p:txBody>
      </p:sp>
      <p:sp>
        <p:nvSpPr>
          <p:cNvPr id="18" name="TextBox 17">
            <a:extLst>
              <a:ext uri="{FF2B5EF4-FFF2-40B4-BE49-F238E27FC236}">
                <a16:creationId xmlns:a16="http://schemas.microsoft.com/office/drawing/2014/main" id="{73E694CB-41B7-46C3-CF2A-15AE3FB5EE9D}"/>
              </a:ext>
            </a:extLst>
          </p:cNvPr>
          <p:cNvSpPr txBox="1"/>
          <p:nvPr/>
        </p:nvSpPr>
        <p:spPr>
          <a:xfrm>
            <a:off x="8658311" y="-1976122"/>
            <a:ext cx="3667760" cy="17113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US" dirty="0">
                <a:solidFill>
                  <a:schemeClr val="bg1"/>
                </a:solidFill>
              </a:rPr>
              <a:t>Flavor Changes</a:t>
            </a:r>
          </a:p>
          <a:p>
            <a:pPr marL="742950" lvl="1" indent="-285750" algn="just">
              <a:lnSpc>
                <a:spcPct val="150000"/>
              </a:lnSpc>
              <a:buFont typeface="Arial" panose="020B0604020202020204" pitchFamily="34" charset="0"/>
              <a:buChar char="•"/>
            </a:pPr>
            <a:r>
              <a:rPr lang="en-US" dirty="0">
                <a:solidFill>
                  <a:schemeClr val="bg1"/>
                </a:solidFill>
              </a:rPr>
              <a:t>Hemp, Recycled Cotton</a:t>
            </a:r>
          </a:p>
          <a:p>
            <a:pPr marL="742950" lvl="1" indent="-285750">
              <a:lnSpc>
                <a:spcPct val="150000"/>
              </a:lnSpc>
              <a:buFont typeface="Arial" panose="020B0604020202020204" pitchFamily="34" charset="0"/>
              <a:buChar char="•"/>
            </a:pPr>
            <a:r>
              <a:rPr lang="en-US" dirty="0">
                <a:solidFill>
                  <a:schemeClr val="bg1"/>
                </a:solidFill>
              </a:rPr>
              <a:t>Preference to Australian customers</a:t>
            </a:r>
          </a:p>
        </p:txBody>
      </p:sp>
      <p:sp>
        <p:nvSpPr>
          <p:cNvPr id="19" name="TextBox 18">
            <a:extLst>
              <a:ext uri="{FF2B5EF4-FFF2-40B4-BE49-F238E27FC236}">
                <a16:creationId xmlns:a16="http://schemas.microsoft.com/office/drawing/2014/main" id="{6073EBAF-E24A-6389-F0D8-23CB3280E587}"/>
              </a:ext>
            </a:extLst>
          </p:cNvPr>
          <p:cNvSpPr txBox="1"/>
          <p:nvPr/>
        </p:nvSpPr>
        <p:spPr>
          <a:xfrm>
            <a:off x="8658311" y="7514491"/>
            <a:ext cx="2186496" cy="646331"/>
          </a:xfrm>
          <a:prstGeom prst="rect">
            <a:avLst/>
          </a:prstGeom>
          <a:noFill/>
        </p:spPr>
        <p:txBody>
          <a:bodyPr wrap="none" rtlCol="0">
            <a:spAutoFit/>
          </a:bodyPr>
          <a:lstStyle/>
          <a:p>
            <a:pPr marL="285750" indent="-285750">
              <a:buFont typeface="Wingdings" panose="05000000000000000000" pitchFamily="2" charset="2"/>
              <a:buChar char="v"/>
            </a:pPr>
            <a:r>
              <a:rPr lang="en-US" dirty="0">
                <a:solidFill>
                  <a:schemeClr val="bg1"/>
                </a:solidFill>
              </a:rPr>
              <a:t>Shipping Changes</a:t>
            </a:r>
          </a:p>
          <a:p>
            <a:endParaRPr lang="en-US" dirty="0"/>
          </a:p>
        </p:txBody>
      </p:sp>
      <p:sp>
        <p:nvSpPr>
          <p:cNvPr id="20" name="TextBox 19">
            <a:extLst>
              <a:ext uri="{FF2B5EF4-FFF2-40B4-BE49-F238E27FC236}">
                <a16:creationId xmlns:a16="http://schemas.microsoft.com/office/drawing/2014/main" id="{3CC67D38-189D-F4E1-5EC8-F3EB1D376D0F}"/>
              </a:ext>
            </a:extLst>
          </p:cNvPr>
          <p:cNvSpPr txBox="1"/>
          <p:nvPr/>
        </p:nvSpPr>
        <p:spPr>
          <a:xfrm>
            <a:off x="755681" y="7270651"/>
            <a:ext cx="2798330" cy="1200329"/>
          </a:xfrm>
          <a:prstGeom prst="rect">
            <a:avLst/>
          </a:prstGeom>
          <a:noFill/>
        </p:spPr>
        <p:txBody>
          <a:bodyPr wrap="none" rtlCol="0">
            <a:spAutoFit/>
          </a:bodyPr>
          <a:lstStyle/>
          <a:p>
            <a:pPr marL="285750" indent="-285750" algn="just">
              <a:lnSpc>
                <a:spcPct val="150000"/>
              </a:lnSpc>
              <a:buFont typeface="Wingdings" panose="05000000000000000000" pitchFamily="2" charset="2"/>
              <a:buChar char="v"/>
            </a:pPr>
            <a:r>
              <a:rPr lang="en-US" dirty="0">
                <a:solidFill>
                  <a:schemeClr val="bg1"/>
                </a:solidFill>
              </a:rPr>
              <a:t>Product Design Changes</a:t>
            </a:r>
          </a:p>
          <a:p>
            <a:pPr marL="742950" lvl="1" indent="-285750" algn="just">
              <a:lnSpc>
                <a:spcPct val="150000"/>
              </a:lnSpc>
              <a:buFont typeface="Arial" panose="020B0604020202020204" pitchFamily="34" charset="0"/>
              <a:buChar char="•"/>
            </a:pPr>
            <a:r>
              <a:rPr lang="en-US" dirty="0">
                <a:solidFill>
                  <a:schemeClr val="bg1"/>
                </a:solidFill>
              </a:rPr>
              <a:t>Craftsmanship</a:t>
            </a:r>
          </a:p>
          <a:p>
            <a:endParaRPr lang="en-US" dirty="0"/>
          </a:p>
        </p:txBody>
      </p:sp>
    </p:spTree>
    <p:extLst>
      <p:ext uri="{BB962C8B-B14F-4D97-AF65-F5344CB8AC3E}">
        <p14:creationId xmlns:p14="http://schemas.microsoft.com/office/powerpoint/2010/main" val="2944423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D3506E-B673-4865-1C0A-24ACF71F1CF9}"/>
              </a:ext>
            </a:extLst>
          </p:cNvPr>
          <p:cNvSpPr txBox="1"/>
          <p:nvPr/>
        </p:nvSpPr>
        <p:spPr>
          <a:xfrm>
            <a:off x="524021" y="514242"/>
            <a:ext cx="5643099"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MODIFIED PRODUCT</a:t>
            </a:r>
          </a:p>
        </p:txBody>
      </p:sp>
      <p:sp>
        <p:nvSpPr>
          <p:cNvPr id="10" name="TextBox 9">
            <a:extLst>
              <a:ext uri="{FF2B5EF4-FFF2-40B4-BE49-F238E27FC236}">
                <a16:creationId xmlns:a16="http://schemas.microsoft.com/office/drawing/2014/main" id="{CFDC0D0D-282F-27CF-4E9C-163810EC5079}"/>
              </a:ext>
            </a:extLst>
          </p:cNvPr>
          <p:cNvSpPr txBox="1"/>
          <p:nvPr/>
        </p:nvSpPr>
        <p:spPr>
          <a:xfrm>
            <a:off x="646828" y="1711959"/>
            <a:ext cx="3407012" cy="1295868"/>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US" dirty="0">
                <a:solidFill>
                  <a:schemeClr val="bg1"/>
                </a:solidFill>
              </a:rPr>
              <a:t>Packing Changes</a:t>
            </a:r>
          </a:p>
          <a:p>
            <a:pPr marL="742950" lvl="1" indent="-285750">
              <a:lnSpc>
                <a:spcPct val="150000"/>
              </a:lnSpc>
              <a:buFont typeface="Arial" panose="020B0604020202020204" pitchFamily="34" charset="0"/>
              <a:buChar char="•"/>
            </a:pPr>
            <a:r>
              <a:rPr lang="en-US" dirty="0">
                <a:solidFill>
                  <a:schemeClr val="bg1"/>
                </a:solidFill>
              </a:rPr>
              <a:t>Minimalist and eco friendly</a:t>
            </a:r>
          </a:p>
        </p:txBody>
      </p:sp>
      <p:cxnSp>
        <p:nvCxnSpPr>
          <p:cNvPr id="3" name="Straight Connector 2">
            <a:extLst>
              <a:ext uri="{FF2B5EF4-FFF2-40B4-BE49-F238E27FC236}">
                <a16:creationId xmlns:a16="http://schemas.microsoft.com/office/drawing/2014/main" id="{660918F0-0E7B-71E2-AFD4-97C70F1A48BA}"/>
              </a:ext>
            </a:extLst>
          </p:cNvPr>
          <p:cNvCxnSpPr>
            <a:cxnSpLocks/>
          </p:cNvCxnSpPr>
          <p:nvPr/>
        </p:nvCxnSpPr>
        <p:spPr>
          <a:xfrm flipV="1">
            <a:off x="590948" y="1345239"/>
            <a:ext cx="5505052" cy="3241"/>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B77961F-FDE1-AFE8-9E5F-BC5C40DA3798}"/>
              </a:ext>
            </a:extLst>
          </p:cNvPr>
          <p:cNvSpPr txBox="1"/>
          <p:nvPr/>
        </p:nvSpPr>
        <p:spPr>
          <a:xfrm>
            <a:off x="8658311" y="1696718"/>
            <a:ext cx="3667760" cy="17113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US" dirty="0">
                <a:solidFill>
                  <a:schemeClr val="bg1"/>
                </a:solidFill>
              </a:rPr>
              <a:t>Flavor Changes</a:t>
            </a:r>
          </a:p>
          <a:p>
            <a:pPr marL="742950" lvl="1" indent="-285750" algn="just">
              <a:lnSpc>
                <a:spcPct val="150000"/>
              </a:lnSpc>
              <a:buFont typeface="Arial" panose="020B0604020202020204" pitchFamily="34" charset="0"/>
              <a:buChar char="•"/>
            </a:pPr>
            <a:r>
              <a:rPr lang="en-US" dirty="0">
                <a:solidFill>
                  <a:schemeClr val="bg1"/>
                </a:solidFill>
              </a:rPr>
              <a:t>Hemp, Recycled Cotton</a:t>
            </a:r>
          </a:p>
          <a:p>
            <a:pPr marL="742950" lvl="1" indent="-285750">
              <a:lnSpc>
                <a:spcPct val="150000"/>
              </a:lnSpc>
              <a:buFont typeface="Arial" panose="020B0604020202020204" pitchFamily="34" charset="0"/>
              <a:buChar char="•"/>
            </a:pPr>
            <a:r>
              <a:rPr lang="en-US" dirty="0">
                <a:solidFill>
                  <a:schemeClr val="bg1"/>
                </a:solidFill>
              </a:rPr>
              <a:t>Preference to Australian customers</a:t>
            </a:r>
          </a:p>
        </p:txBody>
      </p:sp>
      <p:sp>
        <p:nvSpPr>
          <p:cNvPr id="6" name="TextBox 5">
            <a:extLst>
              <a:ext uri="{FF2B5EF4-FFF2-40B4-BE49-F238E27FC236}">
                <a16:creationId xmlns:a16="http://schemas.microsoft.com/office/drawing/2014/main" id="{92A75127-A34A-99CD-9ADC-B765FACC6705}"/>
              </a:ext>
            </a:extLst>
          </p:cNvPr>
          <p:cNvSpPr txBox="1"/>
          <p:nvPr/>
        </p:nvSpPr>
        <p:spPr>
          <a:xfrm>
            <a:off x="8658311" y="5045611"/>
            <a:ext cx="2186496" cy="646331"/>
          </a:xfrm>
          <a:prstGeom prst="rect">
            <a:avLst/>
          </a:prstGeom>
          <a:noFill/>
        </p:spPr>
        <p:txBody>
          <a:bodyPr wrap="none" rtlCol="0">
            <a:spAutoFit/>
          </a:bodyPr>
          <a:lstStyle/>
          <a:p>
            <a:pPr marL="285750" indent="-285750">
              <a:buFont typeface="Wingdings" panose="05000000000000000000" pitchFamily="2" charset="2"/>
              <a:buChar char="v"/>
            </a:pPr>
            <a:r>
              <a:rPr lang="en-US" dirty="0">
                <a:solidFill>
                  <a:schemeClr val="bg1"/>
                </a:solidFill>
              </a:rPr>
              <a:t>Shipping Changes</a:t>
            </a:r>
          </a:p>
          <a:p>
            <a:endParaRPr lang="en-US" dirty="0"/>
          </a:p>
        </p:txBody>
      </p:sp>
      <p:sp>
        <p:nvSpPr>
          <p:cNvPr id="8" name="TextBox 7">
            <a:extLst>
              <a:ext uri="{FF2B5EF4-FFF2-40B4-BE49-F238E27FC236}">
                <a16:creationId xmlns:a16="http://schemas.microsoft.com/office/drawing/2014/main" id="{AD24AFB2-725E-EF82-E281-E0C2251F6C9E}"/>
              </a:ext>
            </a:extLst>
          </p:cNvPr>
          <p:cNvSpPr txBox="1"/>
          <p:nvPr/>
        </p:nvSpPr>
        <p:spPr>
          <a:xfrm>
            <a:off x="755681" y="5045611"/>
            <a:ext cx="2798330" cy="1200329"/>
          </a:xfrm>
          <a:prstGeom prst="rect">
            <a:avLst/>
          </a:prstGeom>
          <a:noFill/>
        </p:spPr>
        <p:txBody>
          <a:bodyPr wrap="none" rtlCol="0">
            <a:spAutoFit/>
          </a:bodyPr>
          <a:lstStyle/>
          <a:p>
            <a:pPr marL="285750" indent="-285750" algn="just">
              <a:lnSpc>
                <a:spcPct val="150000"/>
              </a:lnSpc>
              <a:buFont typeface="Wingdings" panose="05000000000000000000" pitchFamily="2" charset="2"/>
              <a:buChar char="v"/>
            </a:pPr>
            <a:r>
              <a:rPr lang="en-US" dirty="0">
                <a:solidFill>
                  <a:schemeClr val="bg1"/>
                </a:solidFill>
              </a:rPr>
              <a:t>Product Design Changes</a:t>
            </a:r>
          </a:p>
          <a:p>
            <a:pPr marL="742950" lvl="1" indent="-285750" algn="just">
              <a:lnSpc>
                <a:spcPct val="150000"/>
              </a:lnSpc>
              <a:buFont typeface="Arial" panose="020B0604020202020204" pitchFamily="34" charset="0"/>
              <a:buChar char="•"/>
            </a:pPr>
            <a:r>
              <a:rPr lang="en-US" dirty="0">
                <a:solidFill>
                  <a:schemeClr val="bg1"/>
                </a:solidFill>
              </a:rPr>
              <a:t>Craftsmanship</a:t>
            </a:r>
          </a:p>
          <a:p>
            <a:endParaRPr lang="en-US" dirty="0"/>
          </a:p>
        </p:txBody>
      </p:sp>
      <p:sp>
        <p:nvSpPr>
          <p:cNvPr id="9" name="TextBox 8">
            <a:extLst>
              <a:ext uri="{FF2B5EF4-FFF2-40B4-BE49-F238E27FC236}">
                <a16:creationId xmlns:a16="http://schemas.microsoft.com/office/drawing/2014/main" id="{6526E57F-F404-DBFD-3F49-586ECE2ECF81}"/>
              </a:ext>
            </a:extLst>
          </p:cNvPr>
          <p:cNvSpPr txBox="1"/>
          <p:nvPr/>
        </p:nvSpPr>
        <p:spPr>
          <a:xfrm>
            <a:off x="4828811" y="2600170"/>
            <a:ext cx="2676618" cy="161582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US" dirty="0">
                <a:solidFill>
                  <a:schemeClr val="bg1"/>
                </a:solidFill>
              </a:rPr>
              <a:t>Labelling Changes</a:t>
            </a:r>
          </a:p>
          <a:p>
            <a:pPr marL="742950" lvl="1" indent="-285750" algn="just">
              <a:lnSpc>
                <a:spcPct val="150000"/>
              </a:lnSpc>
              <a:buFont typeface="Arial" panose="020B0604020202020204" pitchFamily="34" charset="0"/>
              <a:buChar char="•"/>
            </a:pPr>
            <a:r>
              <a:rPr lang="en-US" dirty="0">
                <a:solidFill>
                  <a:schemeClr val="bg1"/>
                </a:solidFill>
              </a:rPr>
              <a:t>Certified Logo</a:t>
            </a:r>
          </a:p>
          <a:p>
            <a:pPr marL="742950" lvl="1" indent="-285750" algn="just">
              <a:lnSpc>
                <a:spcPct val="150000"/>
              </a:lnSpc>
              <a:buFont typeface="Arial" panose="020B0604020202020204" pitchFamily="34" charset="0"/>
              <a:buChar char="•"/>
            </a:pPr>
            <a:r>
              <a:rPr lang="en-US" dirty="0">
                <a:solidFill>
                  <a:schemeClr val="bg1"/>
                </a:solidFill>
              </a:rPr>
              <a:t>Tag labels</a:t>
            </a:r>
          </a:p>
          <a:p>
            <a:endParaRPr lang="en-US" dirty="0"/>
          </a:p>
        </p:txBody>
      </p:sp>
      <p:pic>
        <p:nvPicPr>
          <p:cNvPr id="12" name="Picture 11">
            <a:extLst>
              <a:ext uri="{FF2B5EF4-FFF2-40B4-BE49-F238E27FC236}">
                <a16:creationId xmlns:a16="http://schemas.microsoft.com/office/drawing/2014/main" id="{F0745074-26B2-F1DC-D50D-A12CDFCFF8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3320" y="4183867"/>
            <a:ext cx="2010767" cy="1508075"/>
          </a:xfrm>
          <a:prstGeom prst="rect">
            <a:avLst/>
          </a:prstGeom>
        </p:spPr>
      </p:pic>
      <p:cxnSp>
        <p:nvCxnSpPr>
          <p:cNvPr id="13" name="Straight Connector 12">
            <a:extLst>
              <a:ext uri="{FF2B5EF4-FFF2-40B4-BE49-F238E27FC236}">
                <a16:creationId xmlns:a16="http://schemas.microsoft.com/office/drawing/2014/main" id="{63161E9B-3193-A50C-A397-3B5E70C73DF7}"/>
              </a:ext>
            </a:extLst>
          </p:cNvPr>
          <p:cNvCxnSpPr>
            <a:cxnSpLocks/>
          </p:cNvCxnSpPr>
          <p:nvPr/>
        </p:nvCxnSpPr>
        <p:spPr>
          <a:xfrm>
            <a:off x="8087995" y="74787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45A76E-39BE-ABED-0E6A-AC8403BE0A38}"/>
              </a:ext>
            </a:extLst>
          </p:cNvPr>
          <p:cNvCxnSpPr>
            <a:cxnSpLocks/>
          </p:cNvCxnSpPr>
          <p:nvPr/>
        </p:nvCxnSpPr>
        <p:spPr>
          <a:xfrm>
            <a:off x="4186555" y="74787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4745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524021" y="514242"/>
            <a:ext cx="10128739"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MARKETING LUXEVEGAN COUTURE</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646828" y="1345239"/>
            <a:ext cx="9830672"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F57DA950-2BA4-24BD-0F9D-B9E15285E44C}"/>
              </a:ext>
            </a:extLst>
          </p:cNvPr>
          <p:cNvSpPr txBox="1"/>
          <p:nvPr/>
        </p:nvSpPr>
        <p:spPr>
          <a:xfrm>
            <a:off x="876367" y="2014508"/>
            <a:ext cx="2801151" cy="646331"/>
          </a:xfrm>
          <a:prstGeom prst="rect">
            <a:avLst/>
          </a:prstGeom>
          <a:noFill/>
        </p:spPr>
        <p:txBody>
          <a:bodyPr wrap="none" rtlCol="0">
            <a:spAutoFit/>
          </a:bodyPr>
          <a:lstStyle/>
          <a:p>
            <a:pPr algn="ctr"/>
            <a:r>
              <a:rPr lang="en-US" dirty="0">
                <a:solidFill>
                  <a:schemeClr val="bg1"/>
                </a:solidFill>
                <a:latin typeface="Bodoni MT" panose="02070603080606020203" pitchFamily="18" charset="0"/>
              </a:rPr>
              <a:t>IDENTIFYING TARGET</a:t>
            </a:r>
            <a:br>
              <a:rPr lang="en-US" dirty="0">
                <a:solidFill>
                  <a:schemeClr val="bg1"/>
                </a:solidFill>
                <a:latin typeface="Bodoni MT" panose="02070603080606020203" pitchFamily="18" charset="0"/>
              </a:rPr>
            </a:br>
            <a:r>
              <a:rPr lang="en-US" dirty="0">
                <a:solidFill>
                  <a:schemeClr val="bg1"/>
                </a:solidFill>
                <a:latin typeface="Bodoni MT" panose="02070603080606020203" pitchFamily="18" charset="0"/>
              </a:rPr>
              <a:t>AUDIENCE</a:t>
            </a:r>
          </a:p>
        </p:txBody>
      </p:sp>
      <p:sp>
        <p:nvSpPr>
          <p:cNvPr id="111" name="TextBox 110">
            <a:extLst>
              <a:ext uri="{FF2B5EF4-FFF2-40B4-BE49-F238E27FC236}">
                <a16:creationId xmlns:a16="http://schemas.microsoft.com/office/drawing/2014/main" id="{0A279DD9-D4FA-68A1-23AE-BCD142903BCE}"/>
              </a:ext>
            </a:extLst>
          </p:cNvPr>
          <p:cNvSpPr txBox="1"/>
          <p:nvPr/>
        </p:nvSpPr>
        <p:spPr>
          <a:xfrm>
            <a:off x="285115" y="3010787"/>
            <a:ext cx="3534409" cy="3635547"/>
          </a:xfrm>
          <a:prstGeom prst="rect">
            <a:avLst/>
          </a:prstGeom>
          <a:noFill/>
        </p:spPr>
        <p:txBody>
          <a:bodyPr wrap="square" rtlCol="0">
            <a:spAutoFit/>
          </a:bodyPr>
          <a:lstStyle/>
          <a:p>
            <a:pPr marL="547370" marR="0" algn="just">
              <a:lnSpc>
                <a:spcPct val="107000"/>
              </a:lnSpc>
              <a:spcBef>
                <a:spcPts val="0"/>
              </a:spcBef>
              <a:spcAft>
                <a:spcPts val="800"/>
              </a:spcAft>
            </a:pPr>
            <a:r>
              <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As we are a forward vegan luxury brand who value exclusivity, quality and sustainability our main focus is for a premium line of customers. We think our ideas and style appeal more to our fashion conscious and elite customers who want to enjoy luxury goods without any guilt of harming the environment. </a:t>
            </a:r>
          </a:p>
        </p:txBody>
      </p:sp>
      <p:sp>
        <p:nvSpPr>
          <p:cNvPr id="112" name="TextBox 111">
            <a:extLst>
              <a:ext uri="{FF2B5EF4-FFF2-40B4-BE49-F238E27FC236}">
                <a16:creationId xmlns:a16="http://schemas.microsoft.com/office/drawing/2014/main" id="{590C99B2-5C52-122D-4964-D2A76A1B7A47}"/>
              </a:ext>
            </a:extLst>
          </p:cNvPr>
          <p:cNvSpPr txBox="1"/>
          <p:nvPr/>
        </p:nvSpPr>
        <p:spPr>
          <a:xfrm>
            <a:off x="4904776" y="2014508"/>
            <a:ext cx="2382447" cy="646331"/>
          </a:xfrm>
          <a:prstGeom prst="rect">
            <a:avLst/>
          </a:prstGeom>
          <a:noFill/>
        </p:spPr>
        <p:txBody>
          <a:bodyPr wrap="none" rtlCol="0">
            <a:spAutoFit/>
          </a:bodyPr>
          <a:lstStyle/>
          <a:p>
            <a:r>
              <a:rPr lang="en-US" dirty="0">
                <a:solidFill>
                  <a:schemeClr val="bg1"/>
                </a:solidFill>
                <a:latin typeface="Bodoni MT" panose="02070603080606020203" pitchFamily="18" charset="0"/>
              </a:rPr>
              <a:t>SUSTAINABILITY &amp;</a:t>
            </a:r>
          </a:p>
          <a:p>
            <a:pPr algn="ctr"/>
            <a:r>
              <a:rPr lang="en-US" dirty="0">
                <a:solidFill>
                  <a:schemeClr val="bg1"/>
                </a:solidFill>
                <a:latin typeface="Bodoni MT" panose="02070603080606020203" pitchFamily="18" charset="0"/>
              </a:rPr>
              <a:t>BRAND ETHICS</a:t>
            </a:r>
          </a:p>
        </p:txBody>
      </p:sp>
      <p:sp>
        <p:nvSpPr>
          <p:cNvPr id="113" name="TextBox 112">
            <a:extLst>
              <a:ext uri="{FF2B5EF4-FFF2-40B4-BE49-F238E27FC236}">
                <a16:creationId xmlns:a16="http://schemas.microsoft.com/office/drawing/2014/main" id="{B90104B2-1278-C998-484F-A0B5A6FAC344}"/>
              </a:ext>
            </a:extLst>
          </p:cNvPr>
          <p:cNvSpPr txBox="1"/>
          <p:nvPr/>
        </p:nvSpPr>
        <p:spPr>
          <a:xfrm>
            <a:off x="4695593" y="3315295"/>
            <a:ext cx="2763520" cy="2308324"/>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Even though we are a luxury brand we value sustainability, and our main goal is to provide the most premium design in a sustainable way without any compromise in quality and design. So with this moto we will be able to find the right audience. </a:t>
            </a:r>
          </a:p>
        </p:txBody>
      </p:sp>
      <p:sp>
        <p:nvSpPr>
          <p:cNvPr id="2" name="TextBox 1">
            <a:extLst>
              <a:ext uri="{FF2B5EF4-FFF2-40B4-BE49-F238E27FC236}">
                <a16:creationId xmlns:a16="http://schemas.microsoft.com/office/drawing/2014/main" id="{56126470-D655-D19C-04D2-24C972C295AB}"/>
              </a:ext>
            </a:extLst>
          </p:cNvPr>
          <p:cNvSpPr txBox="1"/>
          <p:nvPr/>
        </p:nvSpPr>
        <p:spPr>
          <a:xfrm>
            <a:off x="9297648" y="2014508"/>
            <a:ext cx="1470274" cy="369332"/>
          </a:xfrm>
          <a:prstGeom prst="rect">
            <a:avLst/>
          </a:prstGeom>
          <a:noFill/>
        </p:spPr>
        <p:txBody>
          <a:bodyPr wrap="none" rtlCol="0">
            <a:spAutoFit/>
          </a:bodyPr>
          <a:lstStyle/>
          <a:p>
            <a:pPr algn="ctr"/>
            <a:r>
              <a:rPr lang="en-US" dirty="0">
                <a:solidFill>
                  <a:schemeClr val="bg1"/>
                </a:solidFill>
                <a:latin typeface="Bodoni MT" panose="02070603080606020203" pitchFamily="18" charset="0"/>
              </a:rPr>
              <a:t>BRANDING</a:t>
            </a:r>
          </a:p>
        </p:txBody>
      </p:sp>
      <p:sp>
        <p:nvSpPr>
          <p:cNvPr id="9" name="TextBox 8">
            <a:extLst>
              <a:ext uri="{FF2B5EF4-FFF2-40B4-BE49-F238E27FC236}">
                <a16:creationId xmlns:a16="http://schemas.microsoft.com/office/drawing/2014/main" id="{1992BFC9-700B-8108-DEF5-EAE50A38FC6B}"/>
              </a:ext>
            </a:extLst>
          </p:cNvPr>
          <p:cNvSpPr txBox="1"/>
          <p:nvPr/>
        </p:nvSpPr>
        <p:spPr>
          <a:xfrm>
            <a:off x="8317419" y="2508845"/>
            <a:ext cx="3430732" cy="4228273"/>
          </a:xfrm>
          <a:prstGeom prst="rect">
            <a:avLst/>
          </a:prstGeom>
          <a:noFill/>
        </p:spPr>
        <p:txBody>
          <a:bodyPr wrap="square" rtlCol="0">
            <a:spAutoFit/>
          </a:bodyPr>
          <a:lstStyle/>
          <a:p>
            <a:pPr marL="547370" marR="0">
              <a:lnSpc>
                <a:spcPct val="107000"/>
              </a:lnSpc>
              <a:spcBef>
                <a:spcPts val="0"/>
              </a:spcBef>
              <a:spcAft>
                <a:spcPts val="800"/>
              </a:spcAft>
            </a:pPr>
            <a:r>
              <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Even though we are a new player in the Australian fashion market, we have a well-established heritage and brand value in Canada. And we find Australia as a potential market, and we believe within a short period of time we could take over the luxury segment because of the absence of and exclusive line of products or luxury vegan brands in Australia.</a:t>
            </a:r>
          </a:p>
        </p:txBody>
      </p:sp>
      <p:cxnSp>
        <p:nvCxnSpPr>
          <p:cNvPr id="18" name="Straight Connector 17">
            <a:extLst>
              <a:ext uri="{FF2B5EF4-FFF2-40B4-BE49-F238E27FC236}">
                <a16:creationId xmlns:a16="http://schemas.microsoft.com/office/drawing/2014/main" id="{DAC01E52-27B4-35C2-1CE5-286D0E178FF6}"/>
              </a:ext>
            </a:extLst>
          </p:cNvPr>
          <p:cNvCxnSpPr>
            <a:cxnSpLocks/>
          </p:cNvCxnSpPr>
          <p:nvPr/>
        </p:nvCxnSpPr>
        <p:spPr>
          <a:xfrm>
            <a:off x="8087995"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8E42D5-E020-C1D1-DBC4-7AF6F26EE71E}"/>
              </a:ext>
            </a:extLst>
          </p:cNvPr>
          <p:cNvCxnSpPr>
            <a:cxnSpLocks/>
          </p:cNvCxnSpPr>
          <p:nvPr/>
        </p:nvCxnSpPr>
        <p:spPr>
          <a:xfrm>
            <a:off x="4186555"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6917C09-2A9C-A9B2-A76B-B0C1C2F911D3}"/>
              </a:ext>
            </a:extLst>
          </p:cNvPr>
          <p:cNvSpPr/>
          <p:nvPr/>
        </p:nvSpPr>
        <p:spPr>
          <a:xfrm rot="7434113">
            <a:off x="12632356" y="-1720989"/>
            <a:ext cx="10496246" cy="1029997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7D9CD9EC-2289-000E-ADCB-EDA93D284A78}"/>
              </a:ext>
            </a:extLst>
          </p:cNvPr>
          <p:cNvGrpSpPr/>
          <p:nvPr/>
        </p:nvGrpSpPr>
        <p:grpSpPr>
          <a:xfrm rot="10800000">
            <a:off x="1495192" y="8086667"/>
            <a:ext cx="3836958" cy="3495216"/>
            <a:chOff x="2702560" y="487680"/>
            <a:chExt cx="6386645" cy="5800164"/>
          </a:xfrm>
        </p:grpSpPr>
        <p:sp>
          <p:nvSpPr>
            <p:cNvPr id="11" name="Freeform: Shape 10">
              <a:extLst>
                <a:ext uri="{FF2B5EF4-FFF2-40B4-BE49-F238E27FC236}">
                  <a16:creationId xmlns:a16="http://schemas.microsoft.com/office/drawing/2014/main" id="{49050D60-CDE1-6DDD-45E7-DBE1A85230EB}"/>
                </a:ext>
              </a:extLst>
            </p:cNvPr>
            <p:cNvSpPr/>
            <p:nvPr/>
          </p:nvSpPr>
          <p:spPr>
            <a:xfrm>
              <a:off x="3346077" y="2713781"/>
              <a:ext cx="1865822" cy="2983150"/>
            </a:xfrm>
            <a:custGeom>
              <a:avLst/>
              <a:gdLst>
                <a:gd name="connsiteX0" fmla="*/ 131340 w 1865821"/>
                <a:gd name="connsiteY0" fmla="*/ 0 h 2983149"/>
                <a:gd name="connsiteX1" fmla="*/ 1367685 w 1865821"/>
                <a:gd name="connsiteY1" fmla="*/ 401713 h 2983149"/>
                <a:gd name="connsiteX2" fmla="*/ 1361886 w 1865821"/>
                <a:gd name="connsiteY2" fmla="*/ 417559 h 2983149"/>
                <a:gd name="connsiteX3" fmla="*/ 1328127 w 1865821"/>
                <a:gd name="connsiteY3" fmla="*/ 548850 h 2983149"/>
                <a:gd name="connsiteX4" fmla="*/ 1321264 w 1865821"/>
                <a:gd name="connsiteY4" fmla="*/ 593822 h 2983149"/>
                <a:gd name="connsiteX5" fmla="*/ 1316080 w 1865821"/>
                <a:gd name="connsiteY5" fmla="*/ 616315 h 2983149"/>
                <a:gd name="connsiteX6" fmla="*/ 1314358 w 1865821"/>
                <a:gd name="connsiteY6" fmla="*/ 639069 h 2983149"/>
                <a:gd name="connsiteX7" fmla="*/ 1307367 w 1865821"/>
                <a:gd name="connsiteY7" fmla="*/ 684875 h 2983149"/>
                <a:gd name="connsiteX8" fmla="*/ 1300294 w 1865821"/>
                <a:gd name="connsiteY8" fmla="*/ 824947 h 2983149"/>
                <a:gd name="connsiteX9" fmla="*/ 1300294 w 1865821"/>
                <a:gd name="connsiteY9" fmla="*/ 824948 h 2983149"/>
                <a:gd name="connsiteX10" fmla="*/ 1300295 w 1865821"/>
                <a:gd name="connsiteY10" fmla="*/ 824956 h 2983149"/>
                <a:gd name="connsiteX11" fmla="*/ 1307367 w 1865821"/>
                <a:gd name="connsiteY11" fmla="*/ 965019 h 2983149"/>
                <a:gd name="connsiteX12" fmla="*/ 1308771 w 1865821"/>
                <a:gd name="connsiteY12" fmla="*/ 974219 h 2983149"/>
                <a:gd name="connsiteX13" fmla="*/ 1309228 w 1865821"/>
                <a:gd name="connsiteY13" fmla="*/ 982259 h 2983149"/>
                <a:gd name="connsiteX14" fmla="*/ 1316087 w 1865821"/>
                <a:gd name="connsiteY14" fmla="*/ 1022152 h 2983149"/>
                <a:gd name="connsiteX15" fmla="*/ 1328127 w 1865821"/>
                <a:gd name="connsiteY15" fmla="*/ 1101045 h 2983149"/>
                <a:gd name="connsiteX16" fmla="*/ 1332726 w 1865821"/>
                <a:gd name="connsiteY16" fmla="*/ 1118928 h 2983149"/>
                <a:gd name="connsiteX17" fmla="*/ 1335375 w 1865821"/>
                <a:gd name="connsiteY17" fmla="*/ 1134340 h 2983149"/>
                <a:gd name="connsiteX18" fmla="*/ 1346793 w 1865821"/>
                <a:gd name="connsiteY18" fmla="*/ 1173640 h 2983149"/>
                <a:gd name="connsiteX19" fmla="*/ 1361886 w 1865821"/>
                <a:gd name="connsiteY19" fmla="*/ 1232336 h 2983149"/>
                <a:gd name="connsiteX20" fmla="*/ 1371396 w 1865821"/>
                <a:gd name="connsiteY20" fmla="*/ 1258319 h 2983149"/>
                <a:gd name="connsiteX21" fmla="*/ 1377756 w 1865821"/>
                <a:gd name="connsiteY21" fmla="*/ 1280210 h 2983149"/>
                <a:gd name="connsiteX22" fmla="*/ 1391603 w 1865821"/>
                <a:gd name="connsiteY22" fmla="*/ 1313530 h 2983149"/>
                <a:gd name="connsiteX23" fmla="*/ 1407954 w 1865821"/>
                <a:gd name="connsiteY23" fmla="*/ 1358203 h 2983149"/>
                <a:gd name="connsiteX24" fmla="*/ 1424086 w 1865821"/>
                <a:gd name="connsiteY24" fmla="*/ 1391692 h 2983149"/>
                <a:gd name="connsiteX25" fmla="*/ 1435389 w 1865821"/>
                <a:gd name="connsiteY25" fmla="*/ 1418889 h 2983149"/>
                <a:gd name="connsiteX26" fmla="*/ 1449703 w 1865821"/>
                <a:gd name="connsiteY26" fmla="*/ 1444869 h 2983149"/>
                <a:gd name="connsiteX27" fmla="*/ 1465643 w 1865821"/>
                <a:gd name="connsiteY27" fmla="*/ 1477958 h 2983149"/>
                <a:gd name="connsiteX28" fmla="*/ 1490256 w 1865821"/>
                <a:gd name="connsiteY28" fmla="*/ 1518473 h 2983149"/>
                <a:gd name="connsiteX29" fmla="*/ 1507294 w 1865821"/>
                <a:gd name="connsiteY29" fmla="*/ 1549397 h 2983149"/>
                <a:gd name="connsiteX30" fmla="*/ 1520282 w 1865821"/>
                <a:gd name="connsiteY30" fmla="*/ 1567897 h 2983149"/>
                <a:gd name="connsiteX31" fmla="*/ 1534265 w 1865821"/>
                <a:gd name="connsiteY31" fmla="*/ 1590913 h 2983149"/>
                <a:gd name="connsiteX32" fmla="*/ 1569831 w 1865821"/>
                <a:gd name="connsiteY32" fmla="*/ 1638476 h 2983149"/>
                <a:gd name="connsiteX33" fmla="*/ 1592491 w 1865821"/>
                <a:gd name="connsiteY33" fmla="*/ 1670753 h 2983149"/>
                <a:gd name="connsiteX34" fmla="*/ 1602533 w 1865821"/>
                <a:gd name="connsiteY34" fmla="*/ 1682207 h 2983149"/>
                <a:gd name="connsiteX35" fmla="*/ 1613130 w 1865821"/>
                <a:gd name="connsiteY35" fmla="*/ 1696378 h 2983149"/>
                <a:gd name="connsiteX36" fmla="*/ 1664727 w 1865821"/>
                <a:gd name="connsiteY36" fmla="*/ 1753149 h 2983149"/>
                <a:gd name="connsiteX37" fmla="*/ 1689999 w 1865821"/>
                <a:gd name="connsiteY37" fmla="*/ 1781977 h 2983149"/>
                <a:gd name="connsiteX38" fmla="*/ 1695654 w 1865821"/>
                <a:gd name="connsiteY38" fmla="*/ 1787178 h 2983149"/>
                <a:gd name="connsiteX39" fmla="*/ 1701551 w 1865821"/>
                <a:gd name="connsiteY39" fmla="*/ 1793666 h 2983149"/>
                <a:gd name="connsiteX40" fmla="*/ 1798791 w 1865821"/>
                <a:gd name="connsiteY40" fmla="*/ 1882044 h 2983149"/>
                <a:gd name="connsiteX41" fmla="*/ 1798838 w 1865821"/>
                <a:gd name="connsiteY41" fmla="*/ 1882087 h 2983149"/>
                <a:gd name="connsiteX42" fmla="*/ 1865821 w 1865821"/>
                <a:gd name="connsiteY42" fmla="*/ 1932176 h 2983149"/>
                <a:gd name="connsiteX43" fmla="*/ 1102244 w 1865821"/>
                <a:gd name="connsiteY43" fmla="*/ 2983149 h 2983149"/>
                <a:gd name="connsiteX44" fmla="*/ 1018013 w 1865821"/>
                <a:gd name="connsiteY44" fmla="*/ 2920162 h 2983149"/>
                <a:gd name="connsiteX45" fmla="*/ 955550 w 1865821"/>
                <a:gd name="connsiteY45" fmla="*/ 2870838 h 2983149"/>
                <a:gd name="connsiteX46" fmla="*/ 787914 w 1865821"/>
                <a:gd name="connsiteY46" fmla="*/ 2718479 h 2983149"/>
                <a:gd name="connsiteX47" fmla="*/ 781485 w 1865821"/>
                <a:gd name="connsiteY47" fmla="*/ 2712508 h 2983149"/>
                <a:gd name="connsiteX48" fmla="*/ 618234 w 1865821"/>
                <a:gd name="connsiteY48" fmla="*/ 2532887 h 2983149"/>
                <a:gd name="connsiteX49" fmla="*/ 584277 w 1865821"/>
                <a:gd name="connsiteY49" fmla="*/ 2489477 h 2983149"/>
                <a:gd name="connsiteX50" fmla="*/ 476255 w 1865821"/>
                <a:gd name="connsiteY50" fmla="*/ 2345020 h 2983149"/>
                <a:gd name="connsiteX51" fmla="*/ 430961 w 1865821"/>
                <a:gd name="connsiteY51" fmla="*/ 2276697 h 2983149"/>
                <a:gd name="connsiteX52" fmla="*/ 350812 w 1865821"/>
                <a:gd name="connsiteY52" fmla="*/ 2144768 h 2983149"/>
                <a:gd name="connsiteX53" fmla="*/ 306682 w 1865821"/>
                <a:gd name="connsiteY53" fmla="*/ 2065414 h 2983149"/>
                <a:gd name="connsiteX54" fmla="*/ 238694 w 1865821"/>
                <a:gd name="connsiteY54" fmla="*/ 1924277 h 2983149"/>
                <a:gd name="connsiteX55" fmla="*/ 204394 w 1865821"/>
                <a:gd name="connsiteY55" fmla="*/ 1849491 h 2983149"/>
                <a:gd name="connsiteX56" fmla="*/ 127382 w 1865821"/>
                <a:gd name="connsiteY56" fmla="*/ 1639080 h 2983149"/>
                <a:gd name="connsiteX57" fmla="*/ 103340 w 1865821"/>
                <a:gd name="connsiteY57" fmla="*/ 1554055 h 2983149"/>
                <a:gd name="connsiteX58" fmla="*/ 64899 w 1865821"/>
                <a:gd name="connsiteY58" fmla="*/ 1404551 h 2983149"/>
                <a:gd name="connsiteX59" fmla="*/ 46903 w 1865821"/>
                <a:gd name="connsiteY59" fmla="*/ 1314998 h 2983149"/>
                <a:gd name="connsiteX60" fmla="*/ 21102 w 1865821"/>
                <a:gd name="connsiteY60" fmla="*/ 1145941 h 2983149"/>
                <a:gd name="connsiteX61" fmla="*/ 12716 w 1865821"/>
                <a:gd name="connsiteY61" fmla="*/ 1076862 h 2983149"/>
                <a:gd name="connsiteX62" fmla="*/ 0 w 1865821"/>
                <a:gd name="connsiteY62" fmla="*/ 825014 h 2983149"/>
                <a:gd name="connsiteX63" fmla="*/ 16 w 1865821"/>
                <a:gd name="connsiteY63" fmla="*/ 824562 h 2983149"/>
                <a:gd name="connsiteX64" fmla="*/ 12400 w 1865821"/>
                <a:gd name="connsiteY64" fmla="*/ 579301 h 2983149"/>
                <a:gd name="connsiteX65" fmla="*/ 20938 w 1865821"/>
                <a:gd name="connsiteY65" fmla="*/ 505028 h 2983149"/>
                <a:gd name="connsiteX66" fmla="*/ 46188 w 1865821"/>
                <a:gd name="connsiteY66" fmla="*/ 339582 h 2983149"/>
                <a:gd name="connsiteX67" fmla="*/ 64067 w 1865821"/>
                <a:gd name="connsiteY67" fmla="*/ 248579 h 2983149"/>
                <a:gd name="connsiteX68" fmla="*/ 101662 w 1865821"/>
                <a:gd name="connsiteY68" fmla="*/ 102364 h 2983149"/>
                <a:gd name="connsiteX69" fmla="*/ 127462 w 1865821"/>
                <a:gd name="connsiteY69" fmla="*/ 10595 h 2983149"/>
                <a:gd name="connsiteX70" fmla="*/ 131340 w 1865821"/>
                <a:gd name="connsiteY70" fmla="*/ 0 h 298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865821" h="2983149">
                  <a:moveTo>
                    <a:pt x="131340" y="0"/>
                  </a:moveTo>
                  <a:lnTo>
                    <a:pt x="1367685" y="401713"/>
                  </a:lnTo>
                  <a:lnTo>
                    <a:pt x="1361886" y="417559"/>
                  </a:lnTo>
                  <a:cubicBezTo>
                    <a:pt x="1348543" y="460457"/>
                    <a:pt x="1337252" y="504259"/>
                    <a:pt x="1328127" y="548850"/>
                  </a:cubicBezTo>
                  <a:lnTo>
                    <a:pt x="1321264" y="593822"/>
                  </a:lnTo>
                  <a:lnTo>
                    <a:pt x="1316080" y="616315"/>
                  </a:lnTo>
                  <a:lnTo>
                    <a:pt x="1314358" y="639069"/>
                  </a:lnTo>
                  <a:lnTo>
                    <a:pt x="1307367" y="684875"/>
                  </a:lnTo>
                  <a:cubicBezTo>
                    <a:pt x="1302690" y="730930"/>
                    <a:pt x="1300294" y="777659"/>
                    <a:pt x="1300294" y="824947"/>
                  </a:cubicBezTo>
                  <a:lnTo>
                    <a:pt x="1300294" y="824948"/>
                  </a:lnTo>
                  <a:lnTo>
                    <a:pt x="1300295" y="824956"/>
                  </a:lnTo>
                  <a:lnTo>
                    <a:pt x="1307367" y="965019"/>
                  </a:lnTo>
                  <a:lnTo>
                    <a:pt x="1308771" y="974219"/>
                  </a:lnTo>
                  <a:lnTo>
                    <a:pt x="1309228" y="982259"/>
                  </a:lnTo>
                  <a:lnTo>
                    <a:pt x="1316087" y="1022152"/>
                  </a:lnTo>
                  <a:lnTo>
                    <a:pt x="1328127" y="1101045"/>
                  </a:lnTo>
                  <a:lnTo>
                    <a:pt x="1332726" y="1118928"/>
                  </a:lnTo>
                  <a:lnTo>
                    <a:pt x="1335375" y="1134340"/>
                  </a:lnTo>
                  <a:lnTo>
                    <a:pt x="1346793" y="1173640"/>
                  </a:lnTo>
                  <a:lnTo>
                    <a:pt x="1361886" y="1232336"/>
                  </a:lnTo>
                  <a:lnTo>
                    <a:pt x="1371396" y="1258319"/>
                  </a:lnTo>
                  <a:lnTo>
                    <a:pt x="1377756" y="1280210"/>
                  </a:lnTo>
                  <a:lnTo>
                    <a:pt x="1391603" y="1313530"/>
                  </a:lnTo>
                  <a:lnTo>
                    <a:pt x="1407954" y="1358203"/>
                  </a:lnTo>
                  <a:lnTo>
                    <a:pt x="1424086" y="1391692"/>
                  </a:lnTo>
                  <a:lnTo>
                    <a:pt x="1435389" y="1418889"/>
                  </a:lnTo>
                  <a:lnTo>
                    <a:pt x="1449703" y="1444869"/>
                  </a:lnTo>
                  <a:lnTo>
                    <a:pt x="1465643" y="1477958"/>
                  </a:lnTo>
                  <a:lnTo>
                    <a:pt x="1490256" y="1518473"/>
                  </a:lnTo>
                  <a:lnTo>
                    <a:pt x="1507294" y="1549397"/>
                  </a:lnTo>
                  <a:lnTo>
                    <a:pt x="1520282" y="1567897"/>
                  </a:lnTo>
                  <a:lnTo>
                    <a:pt x="1534265" y="1590913"/>
                  </a:lnTo>
                  <a:lnTo>
                    <a:pt x="1569831" y="1638476"/>
                  </a:lnTo>
                  <a:lnTo>
                    <a:pt x="1592491" y="1670753"/>
                  </a:lnTo>
                  <a:lnTo>
                    <a:pt x="1602533" y="1682207"/>
                  </a:lnTo>
                  <a:lnTo>
                    <a:pt x="1613130" y="1696378"/>
                  </a:lnTo>
                  <a:lnTo>
                    <a:pt x="1664727" y="1753149"/>
                  </a:lnTo>
                  <a:lnTo>
                    <a:pt x="1689999" y="1781977"/>
                  </a:lnTo>
                  <a:lnTo>
                    <a:pt x="1695654" y="1787178"/>
                  </a:lnTo>
                  <a:lnTo>
                    <a:pt x="1701551" y="1793666"/>
                  </a:lnTo>
                  <a:lnTo>
                    <a:pt x="1798791" y="1882044"/>
                  </a:lnTo>
                  <a:lnTo>
                    <a:pt x="1798838" y="1882087"/>
                  </a:lnTo>
                  <a:lnTo>
                    <a:pt x="1865821" y="1932176"/>
                  </a:lnTo>
                  <a:lnTo>
                    <a:pt x="1102244" y="2983149"/>
                  </a:lnTo>
                  <a:lnTo>
                    <a:pt x="1018013" y="2920162"/>
                  </a:lnTo>
                  <a:lnTo>
                    <a:pt x="955550" y="2870838"/>
                  </a:lnTo>
                  <a:lnTo>
                    <a:pt x="787914" y="2718479"/>
                  </a:lnTo>
                  <a:lnTo>
                    <a:pt x="781485" y="2712508"/>
                  </a:lnTo>
                  <a:lnTo>
                    <a:pt x="618234" y="2532887"/>
                  </a:lnTo>
                  <a:lnTo>
                    <a:pt x="584277" y="2489477"/>
                  </a:lnTo>
                  <a:lnTo>
                    <a:pt x="476255" y="2345020"/>
                  </a:lnTo>
                  <a:lnTo>
                    <a:pt x="430961" y="2276697"/>
                  </a:lnTo>
                  <a:lnTo>
                    <a:pt x="350812" y="2144768"/>
                  </a:lnTo>
                  <a:lnTo>
                    <a:pt x="306682" y="2065414"/>
                  </a:lnTo>
                  <a:lnTo>
                    <a:pt x="238694" y="1924277"/>
                  </a:lnTo>
                  <a:lnTo>
                    <a:pt x="204394" y="1849491"/>
                  </a:lnTo>
                  <a:lnTo>
                    <a:pt x="127382" y="1639080"/>
                  </a:lnTo>
                  <a:lnTo>
                    <a:pt x="103340" y="1554055"/>
                  </a:lnTo>
                  <a:lnTo>
                    <a:pt x="64899" y="1404551"/>
                  </a:lnTo>
                  <a:lnTo>
                    <a:pt x="46903" y="1314998"/>
                  </a:lnTo>
                  <a:lnTo>
                    <a:pt x="21102" y="1145941"/>
                  </a:lnTo>
                  <a:lnTo>
                    <a:pt x="12716" y="1076862"/>
                  </a:lnTo>
                  <a:lnTo>
                    <a:pt x="0" y="825014"/>
                  </a:lnTo>
                  <a:lnTo>
                    <a:pt x="16" y="824562"/>
                  </a:lnTo>
                  <a:lnTo>
                    <a:pt x="12400" y="579301"/>
                  </a:lnTo>
                  <a:lnTo>
                    <a:pt x="20938" y="505028"/>
                  </a:lnTo>
                  <a:lnTo>
                    <a:pt x="46188" y="339582"/>
                  </a:lnTo>
                  <a:lnTo>
                    <a:pt x="64067" y="248579"/>
                  </a:lnTo>
                  <a:lnTo>
                    <a:pt x="101662" y="102364"/>
                  </a:lnTo>
                  <a:lnTo>
                    <a:pt x="127462" y="10595"/>
                  </a:lnTo>
                  <a:lnTo>
                    <a:pt x="131340" y="0"/>
                  </a:lnTo>
                  <a:close/>
                </a:path>
              </a:pathLst>
            </a:custGeom>
            <a:solidFill>
              <a:srgbClr val="795944"/>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2" name="Freeform: Shape 11">
              <a:extLst>
                <a:ext uri="{FF2B5EF4-FFF2-40B4-BE49-F238E27FC236}">
                  <a16:creationId xmlns:a16="http://schemas.microsoft.com/office/drawing/2014/main" id="{DC5FFF63-EAF6-6437-8CA7-E2F4C6D394DC}"/>
                </a:ext>
              </a:extLst>
            </p:cNvPr>
            <p:cNvSpPr/>
            <p:nvPr/>
          </p:nvSpPr>
          <p:spPr>
            <a:xfrm>
              <a:off x="3477418" y="868280"/>
              <a:ext cx="2538930" cy="2247214"/>
            </a:xfrm>
            <a:custGeom>
              <a:avLst/>
              <a:gdLst>
                <a:gd name="connsiteX0" fmla="*/ 2538929 w 2538929"/>
                <a:gd name="connsiteY0" fmla="*/ 0 h 2247213"/>
                <a:gd name="connsiteX1" fmla="*/ 2538929 w 2538929"/>
                <a:gd name="connsiteY1" fmla="*/ 1300473 h 2247213"/>
                <a:gd name="connsiteX2" fmla="*/ 2538928 w 2538929"/>
                <a:gd name="connsiteY2" fmla="*/ 1300473 h 2247213"/>
                <a:gd name="connsiteX3" fmla="*/ 2538925 w 2538929"/>
                <a:gd name="connsiteY3" fmla="*/ 1300473 h 2247213"/>
                <a:gd name="connsiteX4" fmla="*/ 2433523 w 2538929"/>
                <a:gd name="connsiteY4" fmla="*/ 1304468 h 2247213"/>
                <a:gd name="connsiteX5" fmla="*/ 2412686 w 2538929"/>
                <a:gd name="connsiteY5" fmla="*/ 1306848 h 2247213"/>
                <a:gd name="connsiteX6" fmla="*/ 2398856 w 2538929"/>
                <a:gd name="connsiteY6" fmla="*/ 1307546 h 2247213"/>
                <a:gd name="connsiteX7" fmla="*/ 2375906 w 2538929"/>
                <a:gd name="connsiteY7" fmla="*/ 1311049 h 2247213"/>
                <a:gd name="connsiteX8" fmla="*/ 2330296 w 2538929"/>
                <a:gd name="connsiteY8" fmla="*/ 1316258 h 2247213"/>
                <a:gd name="connsiteX9" fmla="*/ 2307798 w 2538929"/>
                <a:gd name="connsiteY9" fmla="*/ 1321443 h 2247213"/>
                <a:gd name="connsiteX10" fmla="*/ 2262831 w 2538929"/>
                <a:gd name="connsiteY10" fmla="*/ 1328306 h 2247213"/>
                <a:gd name="connsiteX11" fmla="*/ 2005672 w 2538929"/>
                <a:gd name="connsiteY11" fmla="*/ 1408133 h 2247213"/>
                <a:gd name="connsiteX12" fmla="*/ 1965483 w 2538929"/>
                <a:gd name="connsiteY12" fmla="*/ 1427493 h 2247213"/>
                <a:gd name="connsiteX13" fmla="*/ 1944989 w 2538929"/>
                <a:gd name="connsiteY13" fmla="*/ 1435568 h 2247213"/>
                <a:gd name="connsiteX14" fmla="*/ 1925669 w 2538929"/>
                <a:gd name="connsiteY14" fmla="*/ 1446672 h 2247213"/>
                <a:gd name="connsiteX15" fmla="*/ 1885917 w 2538929"/>
                <a:gd name="connsiteY15" fmla="*/ 1465822 h 2247213"/>
                <a:gd name="connsiteX16" fmla="*/ 1667497 w 2538929"/>
                <a:gd name="connsiteY16" fmla="*/ 1613309 h 2247213"/>
                <a:gd name="connsiteX17" fmla="*/ 1634993 w 2538929"/>
                <a:gd name="connsiteY17" fmla="*/ 1642851 h 2247213"/>
                <a:gd name="connsiteX18" fmla="*/ 1617789 w 2538929"/>
                <a:gd name="connsiteY18" fmla="*/ 1656368 h 2247213"/>
                <a:gd name="connsiteX19" fmla="*/ 1602662 w 2538929"/>
                <a:gd name="connsiteY19" fmla="*/ 1672235 h 2247213"/>
                <a:gd name="connsiteX20" fmla="*/ 1570210 w 2538929"/>
                <a:gd name="connsiteY20" fmla="*/ 1701730 h 2247213"/>
                <a:gd name="connsiteX21" fmla="*/ 1402924 w 2538929"/>
                <a:gd name="connsiteY21" fmla="*/ 1904482 h 2247213"/>
                <a:gd name="connsiteX22" fmla="*/ 1380107 w 2538929"/>
                <a:gd name="connsiteY22" fmla="*/ 1942040 h 2247213"/>
                <a:gd name="connsiteX23" fmla="*/ 1367291 w 2538929"/>
                <a:gd name="connsiteY23" fmla="*/ 1960067 h 2247213"/>
                <a:gd name="connsiteX24" fmla="*/ 1357303 w 2538929"/>
                <a:gd name="connsiteY24" fmla="*/ 1979576 h 2247213"/>
                <a:gd name="connsiteX25" fmla="*/ 1334302 w 2538929"/>
                <a:gd name="connsiteY25" fmla="*/ 2017437 h 2247213"/>
                <a:gd name="connsiteX26" fmla="*/ 1276613 w 2538929"/>
                <a:gd name="connsiteY26" fmla="*/ 2137192 h 2247213"/>
                <a:gd name="connsiteX27" fmla="*/ 1236345 w 2538929"/>
                <a:gd name="connsiteY27" fmla="*/ 2247213 h 2247213"/>
                <a:gd name="connsiteX28" fmla="*/ 0 w 2538929"/>
                <a:gd name="connsiteY28" fmla="*/ 1845500 h 2247213"/>
                <a:gd name="connsiteX29" fmla="*/ 74587 w 2538929"/>
                <a:gd name="connsiteY29" fmla="*/ 1641712 h 2247213"/>
                <a:gd name="connsiteX30" fmla="*/ 163498 w 2538929"/>
                <a:gd name="connsiteY30" fmla="*/ 1450041 h 2247213"/>
                <a:gd name="connsiteX31" fmla="*/ 262163 w 2538929"/>
                <a:gd name="connsiteY31" fmla="*/ 1275241 h 2247213"/>
                <a:gd name="connsiteX32" fmla="*/ 303360 w 2538929"/>
                <a:gd name="connsiteY32" fmla="*/ 1212647 h 2247213"/>
                <a:gd name="connsiteX33" fmla="*/ 372587 w 2538929"/>
                <a:gd name="connsiteY33" fmla="*/ 1109886 h 2247213"/>
                <a:gd name="connsiteX34" fmla="*/ 430062 w 2538929"/>
                <a:gd name="connsiteY34" fmla="*/ 1034917 h 2247213"/>
                <a:gd name="connsiteX35" fmla="*/ 495067 w 2538929"/>
                <a:gd name="connsiteY35" fmla="*/ 953072 h 2247213"/>
                <a:gd name="connsiteX36" fmla="*/ 561072 w 2538929"/>
                <a:gd name="connsiteY36" fmla="*/ 878685 h 2247213"/>
                <a:gd name="connsiteX37" fmla="*/ 629546 w 2538929"/>
                <a:gd name="connsiteY37" fmla="*/ 805053 h 2247213"/>
                <a:gd name="connsiteX38" fmla="*/ 699758 w 2538929"/>
                <a:gd name="connsiteY38" fmla="*/ 736496 h 2247213"/>
                <a:gd name="connsiteX39" fmla="*/ 775961 w 2538929"/>
                <a:gd name="connsiteY39" fmla="*/ 666331 h 2247213"/>
                <a:gd name="connsiteX40" fmla="*/ 847007 w 2538929"/>
                <a:gd name="connsiteY40" fmla="*/ 606259 h 2247213"/>
                <a:gd name="connsiteX41" fmla="*/ 934079 w 2538929"/>
                <a:gd name="connsiteY41" fmla="*/ 537713 h 2247213"/>
                <a:gd name="connsiteX42" fmla="*/ 1003186 w 2538929"/>
                <a:gd name="connsiteY42" fmla="*/ 487314 h 2247213"/>
                <a:gd name="connsiteX43" fmla="*/ 1103313 w 2538929"/>
                <a:gd name="connsiteY43" fmla="*/ 420312 h 2247213"/>
                <a:gd name="connsiteX44" fmla="*/ 1168421 w 2538929"/>
                <a:gd name="connsiteY44" fmla="*/ 379672 h 2247213"/>
                <a:gd name="connsiteX45" fmla="*/ 1282750 w 2538929"/>
                <a:gd name="connsiteY45" fmla="*/ 315350 h 2247213"/>
                <a:gd name="connsiteX46" fmla="*/ 1342595 w 2538929"/>
                <a:gd name="connsiteY46" fmla="*/ 283779 h 2247213"/>
                <a:gd name="connsiteX47" fmla="*/ 1470915 w 2538929"/>
                <a:gd name="connsiteY47" fmla="*/ 224157 h 2247213"/>
                <a:gd name="connsiteX48" fmla="*/ 1525458 w 2538929"/>
                <a:gd name="connsiteY48" fmla="*/ 200299 h 2247213"/>
                <a:gd name="connsiteX49" fmla="*/ 1666008 w 2538929"/>
                <a:gd name="connsiteY49" fmla="*/ 147867 h 2247213"/>
                <a:gd name="connsiteX50" fmla="*/ 1716416 w 2538929"/>
                <a:gd name="connsiteY50" fmla="*/ 130116 h 2247213"/>
                <a:gd name="connsiteX51" fmla="*/ 1866042 w 2538929"/>
                <a:gd name="connsiteY51" fmla="*/ 87306 h 2247213"/>
                <a:gd name="connsiteX52" fmla="*/ 1914630 w 2538929"/>
                <a:gd name="connsiteY52" fmla="*/ 74162 h 2247213"/>
                <a:gd name="connsiteX53" fmla="*/ 2069685 w 2538929"/>
                <a:gd name="connsiteY53" fmla="*/ 42778 h 2247213"/>
                <a:gd name="connsiteX54" fmla="*/ 2118870 w 2538929"/>
                <a:gd name="connsiteY54" fmla="*/ 33359 h 2247213"/>
                <a:gd name="connsiteX55" fmla="*/ 2279283 w 2538929"/>
                <a:gd name="connsiteY55" fmla="*/ 13989 h 2247213"/>
                <a:gd name="connsiteX56" fmla="*/ 2327594 w 2538929"/>
                <a:gd name="connsiteY56" fmla="*/ 8471 h 2247213"/>
                <a:gd name="connsiteX57" fmla="*/ 2535836 w 2538929"/>
                <a:gd name="connsiteY57" fmla="*/ 117 h 2247213"/>
                <a:gd name="connsiteX58" fmla="*/ 2538929 w 2538929"/>
                <a:gd name="connsiteY58" fmla="*/ 0 h 224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538929" h="2247213">
                  <a:moveTo>
                    <a:pt x="2538929" y="0"/>
                  </a:moveTo>
                  <a:lnTo>
                    <a:pt x="2538929" y="1300473"/>
                  </a:lnTo>
                  <a:lnTo>
                    <a:pt x="2538928" y="1300473"/>
                  </a:lnTo>
                  <a:lnTo>
                    <a:pt x="2538925" y="1300473"/>
                  </a:lnTo>
                  <a:lnTo>
                    <a:pt x="2433523" y="1304468"/>
                  </a:lnTo>
                  <a:lnTo>
                    <a:pt x="2412686" y="1306848"/>
                  </a:lnTo>
                  <a:lnTo>
                    <a:pt x="2398856" y="1307546"/>
                  </a:lnTo>
                  <a:lnTo>
                    <a:pt x="2375906" y="1311049"/>
                  </a:lnTo>
                  <a:lnTo>
                    <a:pt x="2330296" y="1316258"/>
                  </a:lnTo>
                  <a:lnTo>
                    <a:pt x="2307798" y="1321443"/>
                  </a:lnTo>
                  <a:lnTo>
                    <a:pt x="2262831" y="1328306"/>
                  </a:lnTo>
                  <a:cubicBezTo>
                    <a:pt x="2173649" y="1346556"/>
                    <a:pt x="2087623" y="1373470"/>
                    <a:pt x="2005672" y="1408133"/>
                  </a:cubicBezTo>
                  <a:lnTo>
                    <a:pt x="1965483" y="1427493"/>
                  </a:lnTo>
                  <a:lnTo>
                    <a:pt x="1944989" y="1435568"/>
                  </a:lnTo>
                  <a:lnTo>
                    <a:pt x="1925669" y="1446672"/>
                  </a:lnTo>
                  <a:lnTo>
                    <a:pt x="1885917" y="1465822"/>
                  </a:lnTo>
                  <a:cubicBezTo>
                    <a:pt x="1808271" y="1508002"/>
                    <a:pt x="1735158" y="1557470"/>
                    <a:pt x="1667497" y="1613309"/>
                  </a:cubicBezTo>
                  <a:lnTo>
                    <a:pt x="1634993" y="1642851"/>
                  </a:lnTo>
                  <a:lnTo>
                    <a:pt x="1617789" y="1656368"/>
                  </a:lnTo>
                  <a:lnTo>
                    <a:pt x="1602662" y="1672235"/>
                  </a:lnTo>
                  <a:lnTo>
                    <a:pt x="1570210" y="1701730"/>
                  </a:lnTo>
                  <a:cubicBezTo>
                    <a:pt x="1508231" y="1763709"/>
                    <a:pt x="1452163" y="1831599"/>
                    <a:pt x="1402924" y="1904482"/>
                  </a:cubicBezTo>
                  <a:lnTo>
                    <a:pt x="1380107" y="1942040"/>
                  </a:lnTo>
                  <a:lnTo>
                    <a:pt x="1367291" y="1960067"/>
                  </a:lnTo>
                  <a:lnTo>
                    <a:pt x="1357303" y="1979576"/>
                  </a:lnTo>
                  <a:lnTo>
                    <a:pt x="1334302" y="2017437"/>
                  </a:lnTo>
                  <a:cubicBezTo>
                    <a:pt x="1313212" y="2056260"/>
                    <a:pt x="1293944" y="2096217"/>
                    <a:pt x="1276613" y="2137192"/>
                  </a:cubicBezTo>
                  <a:lnTo>
                    <a:pt x="1236345" y="2247213"/>
                  </a:lnTo>
                  <a:lnTo>
                    <a:pt x="0" y="1845500"/>
                  </a:lnTo>
                  <a:lnTo>
                    <a:pt x="74587" y="1641712"/>
                  </a:lnTo>
                  <a:lnTo>
                    <a:pt x="163498" y="1450041"/>
                  </a:lnTo>
                  <a:lnTo>
                    <a:pt x="262163" y="1275241"/>
                  </a:lnTo>
                  <a:lnTo>
                    <a:pt x="303360" y="1212647"/>
                  </a:lnTo>
                  <a:lnTo>
                    <a:pt x="372587" y="1109886"/>
                  </a:lnTo>
                  <a:lnTo>
                    <a:pt x="430062" y="1034917"/>
                  </a:lnTo>
                  <a:lnTo>
                    <a:pt x="495067" y="953072"/>
                  </a:lnTo>
                  <a:lnTo>
                    <a:pt x="561072" y="878685"/>
                  </a:lnTo>
                  <a:lnTo>
                    <a:pt x="629546" y="805053"/>
                  </a:lnTo>
                  <a:lnTo>
                    <a:pt x="699758" y="736496"/>
                  </a:lnTo>
                  <a:lnTo>
                    <a:pt x="775961" y="666331"/>
                  </a:lnTo>
                  <a:lnTo>
                    <a:pt x="847007" y="606259"/>
                  </a:lnTo>
                  <a:lnTo>
                    <a:pt x="934079" y="537713"/>
                  </a:lnTo>
                  <a:lnTo>
                    <a:pt x="1003186" y="487314"/>
                  </a:lnTo>
                  <a:lnTo>
                    <a:pt x="1103313" y="420312"/>
                  </a:lnTo>
                  <a:lnTo>
                    <a:pt x="1168421" y="379672"/>
                  </a:lnTo>
                  <a:lnTo>
                    <a:pt x="1282750" y="315350"/>
                  </a:lnTo>
                  <a:lnTo>
                    <a:pt x="1342595" y="283779"/>
                  </a:lnTo>
                  <a:lnTo>
                    <a:pt x="1470915" y="224157"/>
                  </a:lnTo>
                  <a:lnTo>
                    <a:pt x="1525458" y="200299"/>
                  </a:lnTo>
                  <a:lnTo>
                    <a:pt x="1666008" y="147867"/>
                  </a:lnTo>
                  <a:lnTo>
                    <a:pt x="1716416" y="130116"/>
                  </a:lnTo>
                  <a:lnTo>
                    <a:pt x="1866042" y="87306"/>
                  </a:lnTo>
                  <a:lnTo>
                    <a:pt x="1914630" y="74162"/>
                  </a:lnTo>
                  <a:lnTo>
                    <a:pt x="2069685" y="42778"/>
                  </a:lnTo>
                  <a:lnTo>
                    <a:pt x="2118870" y="33359"/>
                  </a:lnTo>
                  <a:lnTo>
                    <a:pt x="2279283" y="13989"/>
                  </a:lnTo>
                  <a:lnTo>
                    <a:pt x="2327594" y="8471"/>
                  </a:lnTo>
                  <a:lnTo>
                    <a:pt x="2535836" y="117"/>
                  </a:lnTo>
                  <a:lnTo>
                    <a:pt x="2538929" y="0"/>
                  </a:lnTo>
                  <a:close/>
                </a:path>
              </a:pathLst>
            </a:custGeom>
            <a:solidFill>
              <a:srgbClr val="795944"/>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4" name="Freeform: Shape 13">
              <a:extLst>
                <a:ext uri="{FF2B5EF4-FFF2-40B4-BE49-F238E27FC236}">
                  <a16:creationId xmlns:a16="http://schemas.microsoft.com/office/drawing/2014/main" id="{3F47740F-FE0D-0640-9836-E33852533B40}"/>
                </a:ext>
              </a:extLst>
            </p:cNvPr>
            <p:cNvSpPr/>
            <p:nvPr/>
          </p:nvSpPr>
          <p:spPr>
            <a:xfrm>
              <a:off x="5444407" y="845474"/>
              <a:ext cx="1140788" cy="45720"/>
            </a:xfrm>
            <a:custGeom>
              <a:avLst/>
              <a:gdLst>
                <a:gd name="connsiteX0" fmla="*/ 3093 w 3093"/>
                <a:gd name="connsiteY0" fmla="*/ 0 h 124"/>
                <a:gd name="connsiteX1" fmla="*/ 3093 w 3093"/>
                <a:gd name="connsiteY1" fmla="*/ 7 h 124"/>
                <a:gd name="connsiteX2" fmla="*/ 0 w 3093"/>
                <a:gd name="connsiteY2" fmla="*/ 124 h 124"/>
                <a:gd name="connsiteX3" fmla="*/ 3093 w 3093"/>
                <a:gd name="connsiteY3" fmla="*/ 0 h 124"/>
              </a:gdLst>
              <a:ahLst/>
              <a:cxnLst>
                <a:cxn ang="0">
                  <a:pos x="connsiteX0" y="connsiteY0"/>
                </a:cxn>
                <a:cxn ang="0">
                  <a:pos x="connsiteX1" y="connsiteY1"/>
                </a:cxn>
                <a:cxn ang="0">
                  <a:pos x="connsiteX2" y="connsiteY2"/>
                </a:cxn>
                <a:cxn ang="0">
                  <a:pos x="connsiteX3" y="connsiteY3"/>
                </a:cxn>
              </a:cxnLst>
              <a:rect l="l" t="t" r="r" b="b"/>
              <a:pathLst>
                <a:path w="3093" h="124">
                  <a:moveTo>
                    <a:pt x="3093" y="0"/>
                  </a:moveTo>
                  <a:lnTo>
                    <a:pt x="3093" y="7"/>
                  </a:lnTo>
                  <a:lnTo>
                    <a:pt x="0" y="124"/>
                  </a:lnTo>
                  <a:lnTo>
                    <a:pt x="309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5" name="Freeform: Shape 14">
              <a:extLst>
                <a:ext uri="{FF2B5EF4-FFF2-40B4-BE49-F238E27FC236}">
                  <a16:creationId xmlns:a16="http://schemas.microsoft.com/office/drawing/2014/main" id="{5C811EE6-D7BB-9A25-6ECC-51E780140735}"/>
                </a:ext>
              </a:extLst>
            </p:cNvPr>
            <p:cNvSpPr/>
            <p:nvPr/>
          </p:nvSpPr>
          <p:spPr>
            <a:xfrm>
              <a:off x="3477416" y="868272"/>
              <a:ext cx="5209566" cy="5340910"/>
            </a:xfrm>
            <a:custGeom>
              <a:avLst/>
              <a:gdLst>
                <a:gd name="connsiteX0" fmla="*/ 2539111 w 5209566"/>
                <a:gd name="connsiteY0" fmla="*/ 0 h 5340910"/>
                <a:gd name="connsiteX1" fmla="*/ 2539111 w 5209566"/>
                <a:gd name="connsiteY1" fmla="*/ 1300480 h 5340910"/>
                <a:gd name="connsiteX2" fmla="*/ 1169136 w 5209566"/>
                <a:gd name="connsiteY2" fmla="*/ 2670455 h 5340910"/>
                <a:gd name="connsiteX3" fmla="*/ 2539111 w 5209566"/>
                <a:gd name="connsiteY3" fmla="*/ 4040430 h 5340910"/>
                <a:gd name="connsiteX4" fmla="*/ 3909086 w 5209566"/>
                <a:gd name="connsiteY4" fmla="*/ 2670455 h 5340910"/>
                <a:gd name="connsiteX5" fmla="*/ 5209566 w 5209566"/>
                <a:gd name="connsiteY5" fmla="*/ 2670455 h 5340910"/>
                <a:gd name="connsiteX6" fmla="*/ 2539111 w 5209566"/>
                <a:gd name="connsiteY6" fmla="*/ 5340910 h 5340910"/>
                <a:gd name="connsiteX7" fmla="*/ 1046034 w 5209566"/>
                <a:gd name="connsiteY7" fmla="*/ 4884838 h 5340910"/>
                <a:gd name="connsiteX8" fmla="*/ 970904 w 5209566"/>
                <a:gd name="connsiteY8" fmla="*/ 4828657 h 5340910"/>
                <a:gd name="connsiteX9" fmla="*/ 1734481 w 5209566"/>
                <a:gd name="connsiteY9" fmla="*/ 3777684 h 5340910"/>
                <a:gd name="connsiteX10" fmla="*/ 1667498 w 5209566"/>
                <a:gd name="connsiteY10" fmla="*/ 3727595 h 5340910"/>
                <a:gd name="connsiteX11" fmla="*/ 1667451 w 5209566"/>
                <a:gd name="connsiteY11" fmla="*/ 3727552 h 5340910"/>
                <a:gd name="connsiteX12" fmla="*/ 1570211 w 5209566"/>
                <a:gd name="connsiteY12" fmla="*/ 3639174 h 5340910"/>
                <a:gd name="connsiteX13" fmla="*/ 1564314 w 5209566"/>
                <a:gd name="connsiteY13" fmla="*/ 3632686 h 5340910"/>
                <a:gd name="connsiteX14" fmla="*/ 1558659 w 5209566"/>
                <a:gd name="connsiteY14" fmla="*/ 3627485 h 5340910"/>
                <a:gd name="connsiteX15" fmla="*/ 1533387 w 5209566"/>
                <a:gd name="connsiteY15" fmla="*/ 3598657 h 5340910"/>
                <a:gd name="connsiteX16" fmla="*/ 1481790 w 5209566"/>
                <a:gd name="connsiteY16" fmla="*/ 3541886 h 5340910"/>
                <a:gd name="connsiteX17" fmla="*/ 1471193 w 5209566"/>
                <a:gd name="connsiteY17" fmla="*/ 3527715 h 5340910"/>
                <a:gd name="connsiteX18" fmla="*/ 1461151 w 5209566"/>
                <a:gd name="connsiteY18" fmla="*/ 3516261 h 5340910"/>
                <a:gd name="connsiteX19" fmla="*/ 1438491 w 5209566"/>
                <a:gd name="connsiteY19" fmla="*/ 3483984 h 5340910"/>
                <a:gd name="connsiteX20" fmla="*/ 1402925 w 5209566"/>
                <a:gd name="connsiteY20" fmla="*/ 3436421 h 5340910"/>
                <a:gd name="connsiteX21" fmla="*/ 1388942 w 5209566"/>
                <a:gd name="connsiteY21" fmla="*/ 3413405 h 5340910"/>
                <a:gd name="connsiteX22" fmla="*/ 1375954 w 5209566"/>
                <a:gd name="connsiteY22" fmla="*/ 3394905 h 5340910"/>
                <a:gd name="connsiteX23" fmla="*/ 1358916 w 5209566"/>
                <a:gd name="connsiteY23" fmla="*/ 3363981 h 5340910"/>
                <a:gd name="connsiteX24" fmla="*/ 1334303 w 5209566"/>
                <a:gd name="connsiteY24" fmla="*/ 3323466 h 5340910"/>
                <a:gd name="connsiteX25" fmla="*/ 1318363 w 5209566"/>
                <a:gd name="connsiteY25" fmla="*/ 3290377 h 5340910"/>
                <a:gd name="connsiteX26" fmla="*/ 1304049 w 5209566"/>
                <a:gd name="connsiteY26" fmla="*/ 3264397 h 5340910"/>
                <a:gd name="connsiteX27" fmla="*/ 1292746 w 5209566"/>
                <a:gd name="connsiteY27" fmla="*/ 3237200 h 5340910"/>
                <a:gd name="connsiteX28" fmla="*/ 1276614 w 5209566"/>
                <a:gd name="connsiteY28" fmla="*/ 3203711 h 5340910"/>
                <a:gd name="connsiteX29" fmla="*/ 1260263 w 5209566"/>
                <a:gd name="connsiteY29" fmla="*/ 3159038 h 5340910"/>
                <a:gd name="connsiteX30" fmla="*/ 1246416 w 5209566"/>
                <a:gd name="connsiteY30" fmla="*/ 3125718 h 5340910"/>
                <a:gd name="connsiteX31" fmla="*/ 1240056 w 5209566"/>
                <a:gd name="connsiteY31" fmla="*/ 3103827 h 5340910"/>
                <a:gd name="connsiteX32" fmla="*/ 1230546 w 5209566"/>
                <a:gd name="connsiteY32" fmla="*/ 3077844 h 5340910"/>
                <a:gd name="connsiteX33" fmla="*/ 1215453 w 5209566"/>
                <a:gd name="connsiteY33" fmla="*/ 3019148 h 5340910"/>
                <a:gd name="connsiteX34" fmla="*/ 1204035 w 5209566"/>
                <a:gd name="connsiteY34" fmla="*/ 2979848 h 5340910"/>
                <a:gd name="connsiteX35" fmla="*/ 1201386 w 5209566"/>
                <a:gd name="connsiteY35" fmla="*/ 2964436 h 5340910"/>
                <a:gd name="connsiteX36" fmla="*/ 1196787 w 5209566"/>
                <a:gd name="connsiteY36" fmla="*/ 2946553 h 5340910"/>
                <a:gd name="connsiteX37" fmla="*/ 1184747 w 5209566"/>
                <a:gd name="connsiteY37" fmla="*/ 2867660 h 5340910"/>
                <a:gd name="connsiteX38" fmla="*/ 1177888 w 5209566"/>
                <a:gd name="connsiteY38" fmla="*/ 2827767 h 5340910"/>
                <a:gd name="connsiteX39" fmla="*/ 1177431 w 5209566"/>
                <a:gd name="connsiteY39" fmla="*/ 2819727 h 5340910"/>
                <a:gd name="connsiteX40" fmla="*/ 1176027 w 5209566"/>
                <a:gd name="connsiteY40" fmla="*/ 2810527 h 5340910"/>
                <a:gd name="connsiteX41" fmla="*/ 1168955 w 5209566"/>
                <a:gd name="connsiteY41" fmla="*/ 2670464 h 5340910"/>
                <a:gd name="connsiteX42" fmla="*/ 1168954 w 5209566"/>
                <a:gd name="connsiteY42" fmla="*/ 2670456 h 5340910"/>
                <a:gd name="connsiteX43" fmla="*/ 1168954 w 5209566"/>
                <a:gd name="connsiteY43" fmla="*/ 2670455 h 5340910"/>
                <a:gd name="connsiteX44" fmla="*/ 1176027 w 5209566"/>
                <a:gd name="connsiteY44" fmla="*/ 2530383 h 5340910"/>
                <a:gd name="connsiteX45" fmla="*/ 1183018 w 5209566"/>
                <a:gd name="connsiteY45" fmla="*/ 2484577 h 5340910"/>
                <a:gd name="connsiteX46" fmla="*/ 1184740 w 5209566"/>
                <a:gd name="connsiteY46" fmla="*/ 2461823 h 5340910"/>
                <a:gd name="connsiteX47" fmla="*/ 1189924 w 5209566"/>
                <a:gd name="connsiteY47" fmla="*/ 2439330 h 5340910"/>
                <a:gd name="connsiteX48" fmla="*/ 1196787 w 5209566"/>
                <a:gd name="connsiteY48" fmla="*/ 2394358 h 5340910"/>
                <a:gd name="connsiteX49" fmla="*/ 1230546 w 5209566"/>
                <a:gd name="connsiteY49" fmla="*/ 2263067 h 5340910"/>
                <a:gd name="connsiteX50" fmla="*/ 1236345 w 5209566"/>
                <a:gd name="connsiteY50" fmla="*/ 2247221 h 5340910"/>
                <a:gd name="connsiteX51" fmla="*/ 0 w 5209566"/>
                <a:gd name="connsiteY51" fmla="*/ 1845508 h 5340910"/>
                <a:gd name="connsiteX52" fmla="*/ 1 w 5209566"/>
                <a:gd name="connsiteY52" fmla="*/ 1845507 h 5340910"/>
                <a:gd name="connsiteX53" fmla="*/ 1236346 w 5209566"/>
                <a:gd name="connsiteY53" fmla="*/ 2247220 h 5340910"/>
                <a:gd name="connsiteX54" fmla="*/ 1276614 w 5209566"/>
                <a:gd name="connsiteY54" fmla="*/ 2137199 h 5340910"/>
                <a:gd name="connsiteX55" fmla="*/ 1334303 w 5209566"/>
                <a:gd name="connsiteY55" fmla="*/ 2017444 h 5340910"/>
                <a:gd name="connsiteX56" fmla="*/ 1357304 w 5209566"/>
                <a:gd name="connsiteY56" fmla="*/ 1979583 h 5340910"/>
                <a:gd name="connsiteX57" fmla="*/ 1367292 w 5209566"/>
                <a:gd name="connsiteY57" fmla="*/ 1960074 h 5340910"/>
                <a:gd name="connsiteX58" fmla="*/ 1380108 w 5209566"/>
                <a:gd name="connsiteY58" fmla="*/ 1942047 h 5340910"/>
                <a:gd name="connsiteX59" fmla="*/ 1402925 w 5209566"/>
                <a:gd name="connsiteY59" fmla="*/ 1904489 h 5340910"/>
                <a:gd name="connsiteX60" fmla="*/ 1570211 w 5209566"/>
                <a:gd name="connsiteY60" fmla="*/ 1701737 h 5340910"/>
                <a:gd name="connsiteX61" fmla="*/ 1602663 w 5209566"/>
                <a:gd name="connsiteY61" fmla="*/ 1672242 h 5340910"/>
                <a:gd name="connsiteX62" fmla="*/ 1617790 w 5209566"/>
                <a:gd name="connsiteY62" fmla="*/ 1656375 h 5340910"/>
                <a:gd name="connsiteX63" fmla="*/ 1634994 w 5209566"/>
                <a:gd name="connsiteY63" fmla="*/ 1642858 h 5340910"/>
                <a:gd name="connsiteX64" fmla="*/ 1667498 w 5209566"/>
                <a:gd name="connsiteY64" fmla="*/ 1613316 h 5340910"/>
                <a:gd name="connsiteX65" fmla="*/ 1885918 w 5209566"/>
                <a:gd name="connsiteY65" fmla="*/ 1465829 h 5340910"/>
                <a:gd name="connsiteX66" fmla="*/ 1925670 w 5209566"/>
                <a:gd name="connsiteY66" fmla="*/ 1446679 h 5340910"/>
                <a:gd name="connsiteX67" fmla="*/ 1944990 w 5209566"/>
                <a:gd name="connsiteY67" fmla="*/ 1435575 h 5340910"/>
                <a:gd name="connsiteX68" fmla="*/ 1965484 w 5209566"/>
                <a:gd name="connsiteY68" fmla="*/ 1427500 h 5340910"/>
                <a:gd name="connsiteX69" fmla="*/ 2005673 w 5209566"/>
                <a:gd name="connsiteY69" fmla="*/ 1408140 h 5340910"/>
                <a:gd name="connsiteX70" fmla="*/ 2262832 w 5209566"/>
                <a:gd name="connsiteY70" fmla="*/ 1328313 h 5340910"/>
                <a:gd name="connsiteX71" fmla="*/ 2307799 w 5209566"/>
                <a:gd name="connsiteY71" fmla="*/ 1321450 h 5340910"/>
                <a:gd name="connsiteX72" fmla="*/ 2330297 w 5209566"/>
                <a:gd name="connsiteY72" fmla="*/ 1316265 h 5340910"/>
                <a:gd name="connsiteX73" fmla="*/ 2375907 w 5209566"/>
                <a:gd name="connsiteY73" fmla="*/ 1311056 h 5340910"/>
                <a:gd name="connsiteX74" fmla="*/ 2398857 w 5209566"/>
                <a:gd name="connsiteY74" fmla="*/ 1307553 h 5340910"/>
                <a:gd name="connsiteX75" fmla="*/ 2412687 w 5209566"/>
                <a:gd name="connsiteY75" fmla="*/ 1306855 h 5340910"/>
                <a:gd name="connsiteX76" fmla="*/ 2433524 w 5209566"/>
                <a:gd name="connsiteY76" fmla="*/ 1304475 h 5340910"/>
                <a:gd name="connsiteX77" fmla="*/ 2538926 w 5209566"/>
                <a:gd name="connsiteY77" fmla="*/ 1300480 h 5340910"/>
                <a:gd name="connsiteX78" fmla="*/ 2538929 w 5209566"/>
                <a:gd name="connsiteY78" fmla="*/ 1300480 h 5340910"/>
                <a:gd name="connsiteX79" fmla="*/ 2538930 w 5209566"/>
                <a:gd name="connsiteY79" fmla="*/ 1300480 h 5340910"/>
                <a:gd name="connsiteX80" fmla="*/ 2538930 w 5209566"/>
                <a:gd name="connsiteY80" fmla="*/ 7 h 5340910"/>
                <a:gd name="connsiteX81" fmla="*/ 2539111 w 5209566"/>
                <a:gd name="connsiteY81" fmla="*/ 0 h 534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209566" h="5340910">
                  <a:moveTo>
                    <a:pt x="2539111" y="0"/>
                  </a:moveTo>
                  <a:lnTo>
                    <a:pt x="2539111" y="1300480"/>
                  </a:lnTo>
                  <a:cubicBezTo>
                    <a:pt x="1782495" y="1300480"/>
                    <a:pt x="1169136" y="1913839"/>
                    <a:pt x="1169136" y="2670455"/>
                  </a:cubicBezTo>
                  <a:cubicBezTo>
                    <a:pt x="1169136" y="3427071"/>
                    <a:pt x="1782495" y="4040430"/>
                    <a:pt x="2539111" y="4040430"/>
                  </a:cubicBezTo>
                  <a:cubicBezTo>
                    <a:pt x="3295727" y="4040430"/>
                    <a:pt x="3909086" y="3427071"/>
                    <a:pt x="3909086" y="2670455"/>
                  </a:cubicBezTo>
                  <a:lnTo>
                    <a:pt x="5209566" y="2670455"/>
                  </a:lnTo>
                  <a:cubicBezTo>
                    <a:pt x="5209566" y="4145307"/>
                    <a:pt x="4013963" y="5340910"/>
                    <a:pt x="2539111" y="5340910"/>
                  </a:cubicBezTo>
                  <a:cubicBezTo>
                    <a:pt x="1986042" y="5340910"/>
                    <a:pt x="1472242" y="5172779"/>
                    <a:pt x="1046034" y="4884838"/>
                  </a:cubicBezTo>
                  <a:lnTo>
                    <a:pt x="970904" y="4828657"/>
                  </a:lnTo>
                  <a:lnTo>
                    <a:pt x="1734481" y="3777684"/>
                  </a:lnTo>
                  <a:lnTo>
                    <a:pt x="1667498" y="3727595"/>
                  </a:lnTo>
                  <a:lnTo>
                    <a:pt x="1667451" y="3727552"/>
                  </a:lnTo>
                  <a:lnTo>
                    <a:pt x="1570211" y="3639174"/>
                  </a:lnTo>
                  <a:lnTo>
                    <a:pt x="1564314" y="3632686"/>
                  </a:lnTo>
                  <a:lnTo>
                    <a:pt x="1558659" y="3627485"/>
                  </a:lnTo>
                  <a:lnTo>
                    <a:pt x="1533387" y="3598657"/>
                  </a:lnTo>
                  <a:lnTo>
                    <a:pt x="1481790" y="3541886"/>
                  </a:lnTo>
                  <a:lnTo>
                    <a:pt x="1471193" y="3527715"/>
                  </a:lnTo>
                  <a:lnTo>
                    <a:pt x="1461151" y="3516261"/>
                  </a:lnTo>
                  <a:lnTo>
                    <a:pt x="1438491" y="3483984"/>
                  </a:lnTo>
                  <a:lnTo>
                    <a:pt x="1402925" y="3436421"/>
                  </a:lnTo>
                  <a:lnTo>
                    <a:pt x="1388942" y="3413405"/>
                  </a:lnTo>
                  <a:lnTo>
                    <a:pt x="1375954" y="3394905"/>
                  </a:lnTo>
                  <a:lnTo>
                    <a:pt x="1358916" y="3363981"/>
                  </a:lnTo>
                  <a:lnTo>
                    <a:pt x="1334303" y="3323466"/>
                  </a:lnTo>
                  <a:lnTo>
                    <a:pt x="1318363" y="3290377"/>
                  </a:lnTo>
                  <a:lnTo>
                    <a:pt x="1304049" y="3264397"/>
                  </a:lnTo>
                  <a:lnTo>
                    <a:pt x="1292746" y="3237200"/>
                  </a:lnTo>
                  <a:lnTo>
                    <a:pt x="1276614" y="3203711"/>
                  </a:lnTo>
                  <a:lnTo>
                    <a:pt x="1260263" y="3159038"/>
                  </a:lnTo>
                  <a:lnTo>
                    <a:pt x="1246416" y="3125718"/>
                  </a:lnTo>
                  <a:lnTo>
                    <a:pt x="1240056" y="3103827"/>
                  </a:lnTo>
                  <a:lnTo>
                    <a:pt x="1230546" y="3077844"/>
                  </a:lnTo>
                  <a:lnTo>
                    <a:pt x="1215453" y="3019148"/>
                  </a:lnTo>
                  <a:lnTo>
                    <a:pt x="1204035" y="2979848"/>
                  </a:lnTo>
                  <a:lnTo>
                    <a:pt x="1201386" y="2964436"/>
                  </a:lnTo>
                  <a:lnTo>
                    <a:pt x="1196787" y="2946553"/>
                  </a:lnTo>
                  <a:lnTo>
                    <a:pt x="1184747" y="2867660"/>
                  </a:lnTo>
                  <a:lnTo>
                    <a:pt x="1177888" y="2827767"/>
                  </a:lnTo>
                  <a:lnTo>
                    <a:pt x="1177431" y="2819727"/>
                  </a:lnTo>
                  <a:lnTo>
                    <a:pt x="1176027" y="2810527"/>
                  </a:lnTo>
                  <a:lnTo>
                    <a:pt x="1168955" y="2670464"/>
                  </a:lnTo>
                  <a:lnTo>
                    <a:pt x="1168954" y="2670456"/>
                  </a:lnTo>
                  <a:lnTo>
                    <a:pt x="1168954" y="2670455"/>
                  </a:lnTo>
                  <a:cubicBezTo>
                    <a:pt x="1168954" y="2623167"/>
                    <a:pt x="1171350" y="2576438"/>
                    <a:pt x="1176027" y="2530383"/>
                  </a:cubicBezTo>
                  <a:lnTo>
                    <a:pt x="1183018" y="2484577"/>
                  </a:lnTo>
                  <a:lnTo>
                    <a:pt x="1184740" y="2461823"/>
                  </a:lnTo>
                  <a:lnTo>
                    <a:pt x="1189924" y="2439330"/>
                  </a:lnTo>
                  <a:lnTo>
                    <a:pt x="1196787" y="2394358"/>
                  </a:lnTo>
                  <a:cubicBezTo>
                    <a:pt x="1205912" y="2349767"/>
                    <a:pt x="1217203" y="2305965"/>
                    <a:pt x="1230546" y="2263067"/>
                  </a:cubicBezTo>
                  <a:lnTo>
                    <a:pt x="1236345" y="2247221"/>
                  </a:lnTo>
                  <a:lnTo>
                    <a:pt x="0" y="1845508"/>
                  </a:lnTo>
                  <a:lnTo>
                    <a:pt x="1" y="1845507"/>
                  </a:lnTo>
                  <a:lnTo>
                    <a:pt x="1236346" y="2247220"/>
                  </a:lnTo>
                  <a:lnTo>
                    <a:pt x="1276614" y="2137199"/>
                  </a:lnTo>
                  <a:cubicBezTo>
                    <a:pt x="1293945" y="2096224"/>
                    <a:pt x="1313213" y="2056267"/>
                    <a:pt x="1334303" y="2017444"/>
                  </a:cubicBezTo>
                  <a:lnTo>
                    <a:pt x="1357304" y="1979583"/>
                  </a:lnTo>
                  <a:lnTo>
                    <a:pt x="1367292" y="1960074"/>
                  </a:lnTo>
                  <a:lnTo>
                    <a:pt x="1380108" y="1942047"/>
                  </a:lnTo>
                  <a:lnTo>
                    <a:pt x="1402925" y="1904489"/>
                  </a:lnTo>
                  <a:cubicBezTo>
                    <a:pt x="1452164" y="1831606"/>
                    <a:pt x="1508232" y="1763716"/>
                    <a:pt x="1570211" y="1701737"/>
                  </a:cubicBezTo>
                  <a:lnTo>
                    <a:pt x="1602663" y="1672242"/>
                  </a:lnTo>
                  <a:lnTo>
                    <a:pt x="1617790" y="1656375"/>
                  </a:lnTo>
                  <a:lnTo>
                    <a:pt x="1634994" y="1642858"/>
                  </a:lnTo>
                  <a:lnTo>
                    <a:pt x="1667498" y="1613316"/>
                  </a:lnTo>
                  <a:cubicBezTo>
                    <a:pt x="1735159" y="1557477"/>
                    <a:pt x="1808272" y="1508009"/>
                    <a:pt x="1885918" y="1465829"/>
                  </a:cubicBezTo>
                  <a:lnTo>
                    <a:pt x="1925670" y="1446679"/>
                  </a:lnTo>
                  <a:lnTo>
                    <a:pt x="1944990" y="1435575"/>
                  </a:lnTo>
                  <a:lnTo>
                    <a:pt x="1965484" y="1427500"/>
                  </a:lnTo>
                  <a:lnTo>
                    <a:pt x="2005673" y="1408140"/>
                  </a:lnTo>
                  <a:cubicBezTo>
                    <a:pt x="2087624" y="1373477"/>
                    <a:pt x="2173650" y="1346563"/>
                    <a:pt x="2262832" y="1328313"/>
                  </a:cubicBezTo>
                  <a:lnTo>
                    <a:pt x="2307799" y="1321450"/>
                  </a:lnTo>
                  <a:lnTo>
                    <a:pt x="2330297" y="1316265"/>
                  </a:lnTo>
                  <a:lnTo>
                    <a:pt x="2375907" y="1311056"/>
                  </a:lnTo>
                  <a:lnTo>
                    <a:pt x="2398857" y="1307553"/>
                  </a:lnTo>
                  <a:lnTo>
                    <a:pt x="2412687" y="1306855"/>
                  </a:lnTo>
                  <a:lnTo>
                    <a:pt x="2433524" y="1304475"/>
                  </a:lnTo>
                  <a:lnTo>
                    <a:pt x="2538926" y="1300480"/>
                  </a:lnTo>
                  <a:lnTo>
                    <a:pt x="2538929" y="1300480"/>
                  </a:lnTo>
                  <a:lnTo>
                    <a:pt x="2538930" y="1300480"/>
                  </a:lnTo>
                  <a:lnTo>
                    <a:pt x="2538930" y="7"/>
                  </a:lnTo>
                  <a:lnTo>
                    <a:pt x="2539111" y="0"/>
                  </a:lnTo>
                  <a:close/>
                </a:path>
              </a:pathLst>
            </a:custGeom>
            <a:solidFill>
              <a:srgbClr val="795944"/>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6" name="Freeform: Shape 15">
              <a:extLst>
                <a:ext uri="{FF2B5EF4-FFF2-40B4-BE49-F238E27FC236}">
                  <a16:creationId xmlns:a16="http://schemas.microsoft.com/office/drawing/2014/main" id="{E2E0BEB7-3742-9EA2-A5DB-6AE501310AB5}"/>
                </a:ext>
              </a:extLst>
            </p:cNvPr>
            <p:cNvSpPr/>
            <p:nvPr/>
          </p:nvSpPr>
          <p:spPr>
            <a:xfrm>
              <a:off x="5339296" y="849713"/>
              <a:ext cx="1139672" cy="45720"/>
            </a:xfrm>
            <a:custGeom>
              <a:avLst/>
              <a:gdLst>
                <a:gd name="connsiteX0" fmla="*/ 208242 w 208242"/>
                <a:gd name="connsiteY0" fmla="*/ 0 h 8354"/>
                <a:gd name="connsiteX1" fmla="*/ 0 w 208242"/>
                <a:gd name="connsiteY1" fmla="*/ 8354 h 8354"/>
                <a:gd name="connsiteX2" fmla="*/ 6050 w 208242"/>
                <a:gd name="connsiteY2" fmla="*/ 7663 h 8354"/>
                <a:gd name="connsiteX3" fmla="*/ 208242 w 208242"/>
                <a:gd name="connsiteY3" fmla="*/ 0 h 8354"/>
              </a:gdLst>
              <a:ahLst/>
              <a:cxnLst>
                <a:cxn ang="0">
                  <a:pos x="connsiteX0" y="connsiteY0"/>
                </a:cxn>
                <a:cxn ang="0">
                  <a:pos x="connsiteX1" y="connsiteY1"/>
                </a:cxn>
                <a:cxn ang="0">
                  <a:pos x="connsiteX2" y="connsiteY2"/>
                </a:cxn>
                <a:cxn ang="0">
                  <a:pos x="connsiteX3" y="connsiteY3"/>
                </a:cxn>
              </a:cxnLst>
              <a:rect l="l" t="t" r="r" b="b"/>
              <a:pathLst>
                <a:path w="208242" h="8354">
                  <a:moveTo>
                    <a:pt x="208242" y="0"/>
                  </a:moveTo>
                  <a:lnTo>
                    <a:pt x="0" y="8354"/>
                  </a:lnTo>
                  <a:lnTo>
                    <a:pt x="6050" y="7663"/>
                  </a:lnTo>
                  <a:lnTo>
                    <a:pt x="20824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7" name="Freeform: Shape 16">
              <a:extLst>
                <a:ext uri="{FF2B5EF4-FFF2-40B4-BE49-F238E27FC236}">
                  <a16:creationId xmlns:a16="http://schemas.microsoft.com/office/drawing/2014/main" id="{D2AB9850-721B-57CB-A5EA-6F50BCB0FCCB}"/>
                </a:ext>
              </a:extLst>
            </p:cNvPr>
            <p:cNvSpPr/>
            <p:nvPr/>
          </p:nvSpPr>
          <p:spPr>
            <a:xfrm>
              <a:off x="5580710" y="856649"/>
              <a:ext cx="400294" cy="45720"/>
            </a:xfrm>
            <a:custGeom>
              <a:avLst/>
              <a:gdLst>
                <a:gd name="connsiteX0" fmla="*/ 48311 w 48311"/>
                <a:gd name="connsiteY0" fmla="*/ 0 h 5518"/>
                <a:gd name="connsiteX1" fmla="*/ 0 w 48311"/>
                <a:gd name="connsiteY1" fmla="*/ 5518 h 5518"/>
                <a:gd name="connsiteX2" fmla="*/ 44398 w 48311"/>
                <a:gd name="connsiteY2" fmla="*/ 157 h 5518"/>
                <a:gd name="connsiteX3" fmla="*/ 48311 w 48311"/>
                <a:gd name="connsiteY3" fmla="*/ 0 h 5518"/>
              </a:gdLst>
              <a:ahLst/>
              <a:cxnLst>
                <a:cxn ang="0">
                  <a:pos x="connsiteX0" y="connsiteY0"/>
                </a:cxn>
                <a:cxn ang="0">
                  <a:pos x="connsiteX1" y="connsiteY1"/>
                </a:cxn>
                <a:cxn ang="0">
                  <a:pos x="connsiteX2" y="connsiteY2"/>
                </a:cxn>
                <a:cxn ang="0">
                  <a:pos x="connsiteX3" y="connsiteY3"/>
                </a:cxn>
              </a:cxnLst>
              <a:rect l="l" t="t" r="r" b="b"/>
              <a:pathLst>
                <a:path w="48311" h="5518">
                  <a:moveTo>
                    <a:pt x="48311" y="0"/>
                  </a:moveTo>
                  <a:lnTo>
                    <a:pt x="0" y="5518"/>
                  </a:lnTo>
                  <a:lnTo>
                    <a:pt x="44398" y="157"/>
                  </a:lnTo>
                  <a:lnTo>
                    <a:pt x="483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9" name="Freeform: Shape 18">
              <a:extLst>
                <a:ext uri="{FF2B5EF4-FFF2-40B4-BE49-F238E27FC236}">
                  <a16:creationId xmlns:a16="http://schemas.microsoft.com/office/drawing/2014/main" id="{EAB107DA-6F26-63AA-3205-6A717DED0495}"/>
                </a:ext>
              </a:extLst>
            </p:cNvPr>
            <p:cNvSpPr/>
            <p:nvPr/>
          </p:nvSpPr>
          <p:spPr>
            <a:xfrm>
              <a:off x="5487178" y="869093"/>
              <a:ext cx="378634" cy="45720"/>
            </a:xfrm>
            <a:custGeom>
              <a:avLst/>
              <a:gdLst>
                <a:gd name="connsiteX0" fmla="*/ 160413 w 160413"/>
                <a:gd name="connsiteY0" fmla="*/ 0 h 19370"/>
                <a:gd name="connsiteX1" fmla="*/ 0 w 160413"/>
                <a:gd name="connsiteY1" fmla="*/ 19370 h 19370"/>
                <a:gd name="connsiteX2" fmla="*/ 13556 w 160413"/>
                <a:gd name="connsiteY2" fmla="*/ 16774 h 19370"/>
                <a:gd name="connsiteX3" fmla="*/ 160413 w 160413"/>
                <a:gd name="connsiteY3" fmla="*/ 0 h 19370"/>
              </a:gdLst>
              <a:ahLst/>
              <a:cxnLst>
                <a:cxn ang="0">
                  <a:pos x="connsiteX0" y="connsiteY0"/>
                </a:cxn>
                <a:cxn ang="0">
                  <a:pos x="connsiteX1" y="connsiteY1"/>
                </a:cxn>
                <a:cxn ang="0">
                  <a:pos x="connsiteX2" y="connsiteY2"/>
                </a:cxn>
                <a:cxn ang="0">
                  <a:pos x="connsiteX3" y="connsiteY3"/>
                </a:cxn>
              </a:cxnLst>
              <a:rect l="l" t="t" r="r" b="b"/>
              <a:pathLst>
                <a:path w="160413" h="19370">
                  <a:moveTo>
                    <a:pt x="160413" y="0"/>
                  </a:moveTo>
                  <a:lnTo>
                    <a:pt x="0" y="19370"/>
                  </a:lnTo>
                  <a:lnTo>
                    <a:pt x="13556" y="16774"/>
                  </a:lnTo>
                  <a:lnTo>
                    <a:pt x="16041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0" name="Freeform: Shape 19">
              <a:extLst>
                <a:ext uri="{FF2B5EF4-FFF2-40B4-BE49-F238E27FC236}">
                  <a16:creationId xmlns:a16="http://schemas.microsoft.com/office/drawing/2014/main" id="{90BFD65B-2358-F52C-C6EF-732978CF77F3}"/>
                </a:ext>
              </a:extLst>
            </p:cNvPr>
            <p:cNvSpPr/>
            <p:nvPr/>
          </p:nvSpPr>
          <p:spPr>
            <a:xfrm>
              <a:off x="5452334" y="883489"/>
              <a:ext cx="238724" cy="45720"/>
            </a:xfrm>
            <a:custGeom>
              <a:avLst/>
              <a:gdLst>
                <a:gd name="connsiteX0" fmla="*/ 49185 w 49185"/>
                <a:gd name="connsiteY0" fmla="*/ 0 h 9419"/>
                <a:gd name="connsiteX1" fmla="*/ 0 w 49185"/>
                <a:gd name="connsiteY1" fmla="*/ 9419 h 9419"/>
                <a:gd name="connsiteX2" fmla="*/ 42618 w 49185"/>
                <a:gd name="connsiteY2" fmla="*/ 793 h 9419"/>
                <a:gd name="connsiteX3" fmla="*/ 49185 w 49185"/>
                <a:gd name="connsiteY3" fmla="*/ 0 h 9419"/>
              </a:gdLst>
              <a:ahLst/>
              <a:cxnLst>
                <a:cxn ang="0">
                  <a:pos x="connsiteX0" y="connsiteY0"/>
                </a:cxn>
                <a:cxn ang="0">
                  <a:pos x="connsiteX1" y="connsiteY1"/>
                </a:cxn>
                <a:cxn ang="0">
                  <a:pos x="connsiteX2" y="connsiteY2"/>
                </a:cxn>
                <a:cxn ang="0">
                  <a:pos x="connsiteX3" y="connsiteY3"/>
                </a:cxn>
              </a:cxnLst>
              <a:rect l="l" t="t" r="r" b="b"/>
              <a:pathLst>
                <a:path w="49185" h="9419">
                  <a:moveTo>
                    <a:pt x="49185" y="0"/>
                  </a:moveTo>
                  <a:lnTo>
                    <a:pt x="0" y="9419"/>
                  </a:lnTo>
                  <a:lnTo>
                    <a:pt x="42618" y="793"/>
                  </a:lnTo>
                  <a:lnTo>
                    <a:pt x="4918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1" name="Freeform: Shape 20">
              <a:extLst>
                <a:ext uri="{FF2B5EF4-FFF2-40B4-BE49-F238E27FC236}">
                  <a16:creationId xmlns:a16="http://schemas.microsoft.com/office/drawing/2014/main" id="{AC5DFA86-D4C1-4A9C-DF48-4C66923F4A6A}"/>
                </a:ext>
              </a:extLst>
            </p:cNvPr>
            <p:cNvSpPr/>
            <p:nvPr/>
          </p:nvSpPr>
          <p:spPr>
            <a:xfrm>
              <a:off x="5356634" y="903889"/>
              <a:ext cx="225884" cy="45720"/>
            </a:xfrm>
            <a:custGeom>
              <a:avLst/>
              <a:gdLst>
                <a:gd name="connsiteX0" fmla="*/ 155055 w 155055"/>
                <a:gd name="connsiteY0" fmla="*/ 0 h 31384"/>
                <a:gd name="connsiteX1" fmla="*/ 0 w 155055"/>
                <a:gd name="connsiteY1" fmla="*/ 31384 h 31384"/>
                <a:gd name="connsiteX2" fmla="*/ 21392 w 155055"/>
                <a:gd name="connsiteY2" fmla="*/ 25597 h 31384"/>
                <a:gd name="connsiteX3" fmla="*/ 155055 w 155055"/>
                <a:gd name="connsiteY3" fmla="*/ 0 h 31384"/>
              </a:gdLst>
              <a:ahLst/>
              <a:cxnLst>
                <a:cxn ang="0">
                  <a:pos x="connsiteX0" y="connsiteY0"/>
                </a:cxn>
                <a:cxn ang="0">
                  <a:pos x="connsiteX1" y="connsiteY1"/>
                </a:cxn>
                <a:cxn ang="0">
                  <a:pos x="connsiteX2" y="connsiteY2"/>
                </a:cxn>
                <a:cxn ang="0">
                  <a:pos x="connsiteX3" y="connsiteY3"/>
                </a:cxn>
              </a:cxnLst>
              <a:rect l="l" t="t" r="r" b="b"/>
              <a:pathLst>
                <a:path w="155055" h="31384">
                  <a:moveTo>
                    <a:pt x="155055" y="0"/>
                  </a:moveTo>
                  <a:lnTo>
                    <a:pt x="0" y="31384"/>
                  </a:lnTo>
                  <a:lnTo>
                    <a:pt x="21392" y="25597"/>
                  </a:lnTo>
                  <a:lnTo>
                    <a:pt x="15505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2" name="Freeform: Shape 21">
              <a:extLst>
                <a:ext uri="{FF2B5EF4-FFF2-40B4-BE49-F238E27FC236}">
                  <a16:creationId xmlns:a16="http://schemas.microsoft.com/office/drawing/2014/main" id="{8C545465-A449-D99E-1263-97FC6DEE5C5C}"/>
                </a:ext>
              </a:extLst>
            </p:cNvPr>
            <p:cNvSpPr/>
            <p:nvPr/>
          </p:nvSpPr>
          <p:spPr>
            <a:xfrm>
              <a:off x="5283249" y="926153"/>
              <a:ext cx="169008" cy="45720"/>
            </a:xfrm>
            <a:custGeom>
              <a:avLst/>
              <a:gdLst>
                <a:gd name="connsiteX0" fmla="*/ 48588 w 48588"/>
                <a:gd name="connsiteY0" fmla="*/ 0 h 13144"/>
                <a:gd name="connsiteX1" fmla="*/ 0 w 48588"/>
                <a:gd name="connsiteY1" fmla="*/ 13144 h 13144"/>
                <a:gd name="connsiteX2" fmla="*/ 39537 w 48588"/>
                <a:gd name="connsiteY2" fmla="*/ 1832 h 13144"/>
                <a:gd name="connsiteX3" fmla="*/ 48588 w 48588"/>
                <a:gd name="connsiteY3" fmla="*/ 0 h 13144"/>
              </a:gdLst>
              <a:ahLst/>
              <a:cxnLst>
                <a:cxn ang="0">
                  <a:pos x="connsiteX0" y="connsiteY0"/>
                </a:cxn>
                <a:cxn ang="0">
                  <a:pos x="connsiteX1" y="connsiteY1"/>
                </a:cxn>
                <a:cxn ang="0">
                  <a:pos x="connsiteX2" y="connsiteY2"/>
                </a:cxn>
                <a:cxn ang="0">
                  <a:pos x="connsiteX3" y="connsiteY3"/>
                </a:cxn>
              </a:cxnLst>
              <a:rect l="l" t="t" r="r" b="b"/>
              <a:pathLst>
                <a:path w="48588" h="13144">
                  <a:moveTo>
                    <a:pt x="48588" y="0"/>
                  </a:moveTo>
                  <a:lnTo>
                    <a:pt x="0" y="13144"/>
                  </a:lnTo>
                  <a:lnTo>
                    <a:pt x="39537" y="1832"/>
                  </a:lnTo>
                  <a:lnTo>
                    <a:pt x="4858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3" name="Freeform: Shape 22">
              <a:extLst>
                <a:ext uri="{FF2B5EF4-FFF2-40B4-BE49-F238E27FC236}">
                  <a16:creationId xmlns:a16="http://schemas.microsoft.com/office/drawing/2014/main" id="{4C4B0BCC-C69E-8C24-2FEA-CB95FE0A06A9}"/>
                </a:ext>
              </a:extLst>
            </p:cNvPr>
            <p:cNvSpPr/>
            <p:nvPr/>
          </p:nvSpPr>
          <p:spPr>
            <a:xfrm>
              <a:off x="5188748" y="954130"/>
              <a:ext cx="159796" cy="45720"/>
            </a:xfrm>
            <a:custGeom>
              <a:avLst/>
              <a:gdLst>
                <a:gd name="connsiteX0" fmla="*/ 149626 w 149626"/>
                <a:gd name="connsiteY0" fmla="*/ 0 h 42810"/>
                <a:gd name="connsiteX1" fmla="*/ 0 w 149626"/>
                <a:gd name="connsiteY1" fmla="*/ 42810 h 42810"/>
                <a:gd name="connsiteX2" fmla="*/ 28582 w 149626"/>
                <a:gd name="connsiteY2" fmla="*/ 32745 h 42810"/>
                <a:gd name="connsiteX3" fmla="*/ 149626 w 149626"/>
                <a:gd name="connsiteY3" fmla="*/ 0 h 42810"/>
              </a:gdLst>
              <a:ahLst/>
              <a:cxnLst>
                <a:cxn ang="0">
                  <a:pos x="connsiteX0" y="connsiteY0"/>
                </a:cxn>
                <a:cxn ang="0">
                  <a:pos x="connsiteX1" y="connsiteY1"/>
                </a:cxn>
                <a:cxn ang="0">
                  <a:pos x="connsiteX2" y="connsiteY2"/>
                </a:cxn>
                <a:cxn ang="0">
                  <a:pos x="connsiteX3" y="connsiteY3"/>
                </a:cxn>
              </a:cxnLst>
              <a:rect l="l" t="t" r="r" b="b"/>
              <a:pathLst>
                <a:path w="149626" h="42810">
                  <a:moveTo>
                    <a:pt x="149626" y="0"/>
                  </a:moveTo>
                  <a:lnTo>
                    <a:pt x="0" y="42810"/>
                  </a:lnTo>
                  <a:lnTo>
                    <a:pt x="28582" y="32745"/>
                  </a:lnTo>
                  <a:lnTo>
                    <a:pt x="14962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4" name="Freeform: Shape 23">
              <a:extLst>
                <a:ext uri="{FF2B5EF4-FFF2-40B4-BE49-F238E27FC236}">
                  <a16:creationId xmlns:a16="http://schemas.microsoft.com/office/drawing/2014/main" id="{ED237E00-1E5A-F40E-767B-64A70F4FD59A}"/>
                </a:ext>
              </a:extLst>
            </p:cNvPr>
            <p:cNvSpPr/>
            <p:nvPr/>
          </p:nvSpPr>
          <p:spPr>
            <a:xfrm>
              <a:off x="5103716" y="984412"/>
              <a:ext cx="129826" cy="45720"/>
            </a:xfrm>
            <a:custGeom>
              <a:avLst/>
              <a:gdLst>
                <a:gd name="connsiteX0" fmla="*/ 50408 w 50408"/>
                <a:gd name="connsiteY0" fmla="*/ 0 h 17751"/>
                <a:gd name="connsiteX1" fmla="*/ 0 w 50408"/>
                <a:gd name="connsiteY1" fmla="*/ 17751 h 17751"/>
                <a:gd name="connsiteX2" fmla="*/ 38287 w 50408"/>
                <a:gd name="connsiteY2" fmla="*/ 3468 h 17751"/>
                <a:gd name="connsiteX3" fmla="*/ 50408 w 50408"/>
                <a:gd name="connsiteY3" fmla="*/ 0 h 17751"/>
              </a:gdLst>
              <a:ahLst/>
              <a:cxnLst>
                <a:cxn ang="0">
                  <a:pos x="connsiteX0" y="connsiteY0"/>
                </a:cxn>
                <a:cxn ang="0">
                  <a:pos x="connsiteX1" y="connsiteY1"/>
                </a:cxn>
                <a:cxn ang="0">
                  <a:pos x="connsiteX2" y="connsiteY2"/>
                </a:cxn>
                <a:cxn ang="0">
                  <a:pos x="connsiteX3" y="connsiteY3"/>
                </a:cxn>
              </a:cxnLst>
              <a:rect l="l" t="t" r="r" b="b"/>
              <a:pathLst>
                <a:path w="50408" h="17751">
                  <a:moveTo>
                    <a:pt x="50408" y="0"/>
                  </a:moveTo>
                  <a:lnTo>
                    <a:pt x="0" y="17751"/>
                  </a:lnTo>
                  <a:lnTo>
                    <a:pt x="38287" y="3468"/>
                  </a:lnTo>
                  <a:lnTo>
                    <a:pt x="504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7" name="Freeform: Shape 26">
              <a:extLst>
                <a:ext uri="{FF2B5EF4-FFF2-40B4-BE49-F238E27FC236}">
                  <a16:creationId xmlns:a16="http://schemas.microsoft.com/office/drawing/2014/main" id="{4E11B13A-74C5-EB8F-AF92-5FE65418BDF1}"/>
                </a:ext>
              </a:extLst>
            </p:cNvPr>
            <p:cNvSpPr/>
            <p:nvPr/>
          </p:nvSpPr>
          <p:spPr>
            <a:xfrm>
              <a:off x="5002875" y="1016146"/>
              <a:ext cx="140550" cy="52432"/>
            </a:xfrm>
            <a:custGeom>
              <a:avLst/>
              <a:gdLst>
                <a:gd name="connsiteX0" fmla="*/ 140550 w 140550"/>
                <a:gd name="connsiteY0" fmla="*/ 0 h 52432"/>
                <a:gd name="connsiteX1" fmla="*/ 0 w 140550"/>
                <a:gd name="connsiteY1" fmla="*/ 52432 h 52432"/>
                <a:gd name="connsiteX2" fmla="*/ 34463 w 140550"/>
                <a:gd name="connsiteY2" fmla="*/ 37358 h 52432"/>
                <a:gd name="connsiteX3" fmla="*/ 140550 w 140550"/>
                <a:gd name="connsiteY3" fmla="*/ 0 h 52432"/>
              </a:gdLst>
              <a:ahLst/>
              <a:cxnLst>
                <a:cxn ang="0">
                  <a:pos x="connsiteX0" y="connsiteY0"/>
                </a:cxn>
                <a:cxn ang="0">
                  <a:pos x="connsiteX1" y="connsiteY1"/>
                </a:cxn>
                <a:cxn ang="0">
                  <a:pos x="connsiteX2" y="connsiteY2"/>
                </a:cxn>
                <a:cxn ang="0">
                  <a:pos x="connsiteX3" y="connsiteY3"/>
                </a:cxn>
              </a:cxnLst>
              <a:rect l="l" t="t" r="r" b="b"/>
              <a:pathLst>
                <a:path w="140550" h="52432">
                  <a:moveTo>
                    <a:pt x="140550" y="0"/>
                  </a:moveTo>
                  <a:lnTo>
                    <a:pt x="0" y="52432"/>
                  </a:lnTo>
                  <a:lnTo>
                    <a:pt x="34463" y="37358"/>
                  </a:lnTo>
                  <a:lnTo>
                    <a:pt x="1405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8" name="Freeform: Shape 27">
              <a:extLst>
                <a:ext uri="{FF2B5EF4-FFF2-40B4-BE49-F238E27FC236}">
                  <a16:creationId xmlns:a16="http://schemas.microsoft.com/office/drawing/2014/main" id="{7037E003-F88E-F2DC-6F16-A78960F4A666}"/>
                </a:ext>
              </a:extLst>
            </p:cNvPr>
            <p:cNvSpPr/>
            <p:nvPr/>
          </p:nvSpPr>
          <p:spPr>
            <a:xfrm>
              <a:off x="4923343" y="1057647"/>
              <a:ext cx="104524" cy="45720"/>
            </a:xfrm>
            <a:custGeom>
              <a:avLst/>
              <a:gdLst>
                <a:gd name="connsiteX0" fmla="*/ 54543 w 54543"/>
                <a:gd name="connsiteY0" fmla="*/ 0 h 23858"/>
                <a:gd name="connsiteX1" fmla="*/ 0 w 54543"/>
                <a:gd name="connsiteY1" fmla="*/ 23858 h 23858"/>
                <a:gd name="connsiteX2" fmla="*/ 38323 w 54543"/>
                <a:gd name="connsiteY2" fmla="*/ 6051 h 23858"/>
                <a:gd name="connsiteX3" fmla="*/ 54543 w 54543"/>
                <a:gd name="connsiteY3" fmla="*/ 0 h 23858"/>
              </a:gdLst>
              <a:ahLst/>
              <a:cxnLst>
                <a:cxn ang="0">
                  <a:pos x="connsiteX0" y="connsiteY0"/>
                </a:cxn>
                <a:cxn ang="0">
                  <a:pos x="connsiteX1" y="connsiteY1"/>
                </a:cxn>
                <a:cxn ang="0">
                  <a:pos x="connsiteX2" y="connsiteY2"/>
                </a:cxn>
                <a:cxn ang="0">
                  <a:pos x="connsiteX3" y="connsiteY3"/>
                </a:cxn>
              </a:cxnLst>
              <a:rect l="l" t="t" r="r" b="b"/>
              <a:pathLst>
                <a:path w="54543" h="23858">
                  <a:moveTo>
                    <a:pt x="54543" y="0"/>
                  </a:moveTo>
                  <a:lnTo>
                    <a:pt x="0" y="23858"/>
                  </a:lnTo>
                  <a:lnTo>
                    <a:pt x="38323" y="6051"/>
                  </a:lnTo>
                  <a:lnTo>
                    <a:pt x="5454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9" name="Freeform: Shape 28">
              <a:extLst>
                <a:ext uri="{FF2B5EF4-FFF2-40B4-BE49-F238E27FC236}">
                  <a16:creationId xmlns:a16="http://schemas.microsoft.com/office/drawing/2014/main" id="{5BE2C486-1FC4-66F8-AF59-FD3C12C5C5FE}"/>
                </a:ext>
              </a:extLst>
            </p:cNvPr>
            <p:cNvSpPr/>
            <p:nvPr/>
          </p:nvSpPr>
          <p:spPr>
            <a:xfrm>
              <a:off x="4820012" y="1092436"/>
              <a:ext cx="128320" cy="59622"/>
            </a:xfrm>
            <a:custGeom>
              <a:avLst/>
              <a:gdLst>
                <a:gd name="connsiteX0" fmla="*/ 128320 w 128320"/>
                <a:gd name="connsiteY0" fmla="*/ 0 h 59622"/>
                <a:gd name="connsiteX1" fmla="*/ 0 w 128320"/>
                <a:gd name="connsiteY1" fmla="*/ 59622 h 59622"/>
                <a:gd name="connsiteX2" fmla="*/ 38762 w 128320"/>
                <a:gd name="connsiteY2" fmla="*/ 39172 h 59622"/>
                <a:gd name="connsiteX3" fmla="*/ 128320 w 128320"/>
                <a:gd name="connsiteY3" fmla="*/ 0 h 59622"/>
              </a:gdLst>
              <a:ahLst/>
              <a:cxnLst>
                <a:cxn ang="0">
                  <a:pos x="connsiteX0" y="connsiteY0"/>
                </a:cxn>
                <a:cxn ang="0">
                  <a:pos x="connsiteX1" y="connsiteY1"/>
                </a:cxn>
                <a:cxn ang="0">
                  <a:pos x="connsiteX2" y="connsiteY2"/>
                </a:cxn>
                <a:cxn ang="0">
                  <a:pos x="connsiteX3" y="connsiteY3"/>
                </a:cxn>
              </a:cxnLst>
              <a:rect l="l" t="t" r="r" b="b"/>
              <a:pathLst>
                <a:path w="128320" h="59622">
                  <a:moveTo>
                    <a:pt x="128320" y="0"/>
                  </a:moveTo>
                  <a:lnTo>
                    <a:pt x="0" y="59622"/>
                  </a:lnTo>
                  <a:lnTo>
                    <a:pt x="38762" y="39172"/>
                  </a:lnTo>
                  <a:lnTo>
                    <a:pt x="12832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0" name="Freeform: Shape 29">
              <a:extLst>
                <a:ext uri="{FF2B5EF4-FFF2-40B4-BE49-F238E27FC236}">
                  <a16:creationId xmlns:a16="http://schemas.microsoft.com/office/drawing/2014/main" id="{053EF639-F9E7-5AD4-A7BC-3EA2ECF05DE4}"/>
                </a:ext>
              </a:extLst>
            </p:cNvPr>
            <p:cNvSpPr/>
            <p:nvPr/>
          </p:nvSpPr>
          <p:spPr>
            <a:xfrm>
              <a:off x="4746759" y="1144985"/>
              <a:ext cx="86664" cy="45720"/>
            </a:xfrm>
            <a:custGeom>
              <a:avLst/>
              <a:gdLst>
                <a:gd name="connsiteX0" fmla="*/ 59845 w 59845"/>
                <a:gd name="connsiteY0" fmla="*/ 0 h 31571"/>
                <a:gd name="connsiteX1" fmla="*/ 0 w 59845"/>
                <a:gd name="connsiteY1" fmla="*/ 31571 h 31571"/>
                <a:gd name="connsiteX2" fmla="*/ 38442 w 59845"/>
                <a:gd name="connsiteY2" fmla="*/ 9944 h 31571"/>
                <a:gd name="connsiteX3" fmla="*/ 59845 w 59845"/>
                <a:gd name="connsiteY3" fmla="*/ 0 h 31571"/>
              </a:gdLst>
              <a:ahLst/>
              <a:cxnLst>
                <a:cxn ang="0">
                  <a:pos x="connsiteX0" y="connsiteY0"/>
                </a:cxn>
                <a:cxn ang="0">
                  <a:pos x="connsiteX1" y="connsiteY1"/>
                </a:cxn>
                <a:cxn ang="0">
                  <a:pos x="connsiteX2" y="connsiteY2"/>
                </a:cxn>
                <a:cxn ang="0">
                  <a:pos x="connsiteX3" y="connsiteY3"/>
                </a:cxn>
              </a:cxnLst>
              <a:rect l="l" t="t" r="r" b="b"/>
              <a:pathLst>
                <a:path w="59845" h="31571">
                  <a:moveTo>
                    <a:pt x="59845" y="0"/>
                  </a:moveTo>
                  <a:lnTo>
                    <a:pt x="0" y="31571"/>
                  </a:lnTo>
                  <a:lnTo>
                    <a:pt x="38442" y="9944"/>
                  </a:lnTo>
                  <a:lnTo>
                    <a:pt x="5984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1" name="Freeform: Shape 30">
              <a:extLst>
                <a:ext uri="{FF2B5EF4-FFF2-40B4-BE49-F238E27FC236}">
                  <a16:creationId xmlns:a16="http://schemas.microsoft.com/office/drawing/2014/main" id="{8FD6ADDE-FA60-B53B-4121-2649134917A2}"/>
                </a:ext>
              </a:extLst>
            </p:cNvPr>
            <p:cNvSpPr/>
            <p:nvPr/>
          </p:nvSpPr>
          <p:spPr>
            <a:xfrm>
              <a:off x="4645839" y="1183629"/>
              <a:ext cx="114330" cy="64322"/>
            </a:xfrm>
            <a:custGeom>
              <a:avLst/>
              <a:gdLst>
                <a:gd name="connsiteX0" fmla="*/ 114329 w 114329"/>
                <a:gd name="connsiteY0" fmla="*/ 0 h 64322"/>
                <a:gd name="connsiteX1" fmla="*/ 0 w 114329"/>
                <a:gd name="connsiteY1" fmla="*/ 64322 h 64322"/>
                <a:gd name="connsiteX2" fmla="*/ 41451 w 114329"/>
                <a:gd name="connsiteY2" fmla="*/ 38448 h 64322"/>
                <a:gd name="connsiteX3" fmla="*/ 114329 w 114329"/>
                <a:gd name="connsiteY3" fmla="*/ 0 h 64322"/>
              </a:gdLst>
              <a:ahLst/>
              <a:cxnLst>
                <a:cxn ang="0">
                  <a:pos x="connsiteX0" y="connsiteY0"/>
                </a:cxn>
                <a:cxn ang="0">
                  <a:pos x="connsiteX1" y="connsiteY1"/>
                </a:cxn>
                <a:cxn ang="0">
                  <a:pos x="connsiteX2" y="connsiteY2"/>
                </a:cxn>
                <a:cxn ang="0">
                  <a:pos x="connsiteX3" y="connsiteY3"/>
                </a:cxn>
              </a:cxnLst>
              <a:rect l="l" t="t" r="r" b="b"/>
              <a:pathLst>
                <a:path w="114329" h="64322">
                  <a:moveTo>
                    <a:pt x="114329" y="0"/>
                  </a:moveTo>
                  <a:lnTo>
                    <a:pt x="0" y="64322"/>
                  </a:lnTo>
                  <a:lnTo>
                    <a:pt x="41451" y="38448"/>
                  </a:lnTo>
                  <a:lnTo>
                    <a:pt x="11432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2" name="Freeform: Shape 31">
              <a:extLst>
                <a:ext uri="{FF2B5EF4-FFF2-40B4-BE49-F238E27FC236}">
                  <a16:creationId xmlns:a16="http://schemas.microsoft.com/office/drawing/2014/main" id="{343F70DD-BBE5-BB55-4C86-1CBE784019DF}"/>
                </a:ext>
              </a:extLst>
            </p:cNvPr>
            <p:cNvSpPr/>
            <p:nvPr/>
          </p:nvSpPr>
          <p:spPr>
            <a:xfrm>
              <a:off x="4576661" y="1245411"/>
              <a:ext cx="73246" cy="45720"/>
            </a:xfrm>
            <a:custGeom>
              <a:avLst/>
              <a:gdLst>
                <a:gd name="connsiteX0" fmla="*/ 65108 w 65108"/>
                <a:gd name="connsiteY0" fmla="*/ 0 h 40640"/>
                <a:gd name="connsiteX1" fmla="*/ 0 w 65108"/>
                <a:gd name="connsiteY1" fmla="*/ 40640 h 40640"/>
                <a:gd name="connsiteX2" fmla="*/ 37629 w 65108"/>
                <a:gd name="connsiteY2" fmla="*/ 15459 h 40640"/>
                <a:gd name="connsiteX3" fmla="*/ 65108 w 65108"/>
                <a:gd name="connsiteY3" fmla="*/ 0 h 40640"/>
              </a:gdLst>
              <a:ahLst/>
              <a:cxnLst>
                <a:cxn ang="0">
                  <a:pos x="connsiteX0" y="connsiteY0"/>
                </a:cxn>
                <a:cxn ang="0">
                  <a:pos x="connsiteX1" y="connsiteY1"/>
                </a:cxn>
                <a:cxn ang="0">
                  <a:pos x="connsiteX2" y="connsiteY2"/>
                </a:cxn>
                <a:cxn ang="0">
                  <a:pos x="connsiteX3" y="connsiteY3"/>
                </a:cxn>
              </a:cxnLst>
              <a:rect l="l" t="t" r="r" b="b"/>
              <a:pathLst>
                <a:path w="65108" h="40640">
                  <a:moveTo>
                    <a:pt x="65108" y="0"/>
                  </a:moveTo>
                  <a:lnTo>
                    <a:pt x="0" y="40640"/>
                  </a:lnTo>
                  <a:lnTo>
                    <a:pt x="37629" y="15459"/>
                  </a:lnTo>
                  <a:lnTo>
                    <a:pt x="651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3" name="Freeform: Shape 32">
              <a:extLst>
                <a:ext uri="{FF2B5EF4-FFF2-40B4-BE49-F238E27FC236}">
                  <a16:creationId xmlns:a16="http://schemas.microsoft.com/office/drawing/2014/main" id="{E4B40C4E-8B35-D1BF-D576-D1475AAA34D5}"/>
                </a:ext>
              </a:extLst>
            </p:cNvPr>
            <p:cNvSpPr/>
            <p:nvPr/>
          </p:nvSpPr>
          <p:spPr>
            <a:xfrm>
              <a:off x="4480604" y="1288591"/>
              <a:ext cx="100128" cy="67002"/>
            </a:xfrm>
            <a:custGeom>
              <a:avLst/>
              <a:gdLst>
                <a:gd name="connsiteX0" fmla="*/ 100127 w 100127"/>
                <a:gd name="connsiteY0" fmla="*/ 0 h 67002"/>
                <a:gd name="connsiteX1" fmla="*/ 0 w 100127"/>
                <a:gd name="connsiteY1" fmla="*/ 67002 h 67002"/>
                <a:gd name="connsiteX2" fmla="*/ 42847 w 100127"/>
                <a:gd name="connsiteY2" fmla="*/ 35753 h 67002"/>
                <a:gd name="connsiteX3" fmla="*/ 100127 w 100127"/>
                <a:gd name="connsiteY3" fmla="*/ 0 h 67002"/>
              </a:gdLst>
              <a:ahLst/>
              <a:cxnLst>
                <a:cxn ang="0">
                  <a:pos x="connsiteX0" y="connsiteY0"/>
                </a:cxn>
                <a:cxn ang="0">
                  <a:pos x="connsiteX1" y="connsiteY1"/>
                </a:cxn>
                <a:cxn ang="0">
                  <a:pos x="connsiteX2" y="connsiteY2"/>
                </a:cxn>
                <a:cxn ang="0">
                  <a:pos x="connsiteX3" y="connsiteY3"/>
                </a:cxn>
              </a:cxnLst>
              <a:rect l="l" t="t" r="r" b="b"/>
              <a:pathLst>
                <a:path w="100127" h="67002">
                  <a:moveTo>
                    <a:pt x="100127" y="0"/>
                  </a:moveTo>
                  <a:lnTo>
                    <a:pt x="0" y="67002"/>
                  </a:lnTo>
                  <a:lnTo>
                    <a:pt x="42847" y="35753"/>
                  </a:lnTo>
                  <a:lnTo>
                    <a:pt x="1001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4" name="Freeform: Shape 33">
              <a:extLst>
                <a:ext uri="{FF2B5EF4-FFF2-40B4-BE49-F238E27FC236}">
                  <a16:creationId xmlns:a16="http://schemas.microsoft.com/office/drawing/2014/main" id="{152EA361-2780-9D34-2726-3D007F4F413C}"/>
                </a:ext>
              </a:extLst>
            </p:cNvPr>
            <p:cNvSpPr/>
            <p:nvPr/>
          </p:nvSpPr>
          <p:spPr>
            <a:xfrm>
              <a:off x="4411497" y="1355594"/>
              <a:ext cx="69108" cy="50400"/>
            </a:xfrm>
            <a:custGeom>
              <a:avLst/>
              <a:gdLst>
                <a:gd name="connsiteX0" fmla="*/ 69107 w 69107"/>
                <a:gd name="connsiteY0" fmla="*/ 0 h 50399"/>
                <a:gd name="connsiteX1" fmla="*/ 0 w 69107"/>
                <a:gd name="connsiteY1" fmla="*/ 50399 h 50399"/>
                <a:gd name="connsiteX2" fmla="*/ 35197 w 69107"/>
                <a:gd name="connsiteY2" fmla="*/ 22691 h 50399"/>
                <a:gd name="connsiteX3" fmla="*/ 69107 w 69107"/>
                <a:gd name="connsiteY3" fmla="*/ 0 h 50399"/>
              </a:gdLst>
              <a:ahLst/>
              <a:cxnLst>
                <a:cxn ang="0">
                  <a:pos x="connsiteX0" y="connsiteY0"/>
                </a:cxn>
                <a:cxn ang="0">
                  <a:pos x="connsiteX1" y="connsiteY1"/>
                </a:cxn>
                <a:cxn ang="0">
                  <a:pos x="connsiteX2" y="connsiteY2"/>
                </a:cxn>
                <a:cxn ang="0">
                  <a:pos x="connsiteX3" y="connsiteY3"/>
                </a:cxn>
              </a:cxnLst>
              <a:rect l="l" t="t" r="r" b="b"/>
              <a:pathLst>
                <a:path w="69107" h="50399">
                  <a:moveTo>
                    <a:pt x="69107" y="0"/>
                  </a:moveTo>
                  <a:lnTo>
                    <a:pt x="0" y="50399"/>
                  </a:lnTo>
                  <a:lnTo>
                    <a:pt x="35197" y="22691"/>
                  </a:lnTo>
                  <a:lnTo>
                    <a:pt x="6910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5" name="Freeform: Shape 34">
              <a:extLst>
                <a:ext uri="{FF2B5EF4-FFF2-40B4-BE49-F238E27FC236}">
                  <a16:creationId xmlns:a16="http://schemas.microsoft.com/office/drawing/2014/main" id="{B3B6964A-BC4F-A8D5-CBF6-EE7448EB5504}"/>
                </a:ext>
              </a:extLst>
            </p:cNvPr>
            <p:cNvSpPr/>
            <p:nvPr/>
          </p:nvSpPr>
          <p:spPr>
            <a:xfrm>
              <a:off x="4324424" y="1405992"/>
              <a:ext cx="87072" cy="68546"/>
            </a:xfrm>
            <a:custGeom>
              <a:avLst/>
              <a:gdLst>
                <a:gd name="connsiteX0" fmla="*/ 87072 w 87072"/>
                <a:gd name="connsiteY0" fmla="*/ 0 h 68546"/>
                <a:gd name="connsiteX1" fmla="*/ 0 w 87072"/>
                <a:gd name="connsiteY1" fmla="*/ 68546 h 68546"/>
                <a:gd name="connsiteX2" fmla="*/ 43399 w 87072"/>
                <a:gd name="connsiteY2" fmla="*/ 31851 h 68546"/>
                <a:gd name="connsiteX3" fmla="*/ 87072 w 87072"/>
                <a:gd name="connsiteY3" fmla="*/ 0 h 68546"/>
              </a:gdLst>
              <a:ahLst/>
              <a:cxnLst>
                <a:cxn ang="0">
                  <a:pos x="connsiteX0" y="connsiteY0"/>
                </a:cxn>
                <a:cxn ang="0">
                  <a:pos x="connsiteX1" y="connsiteY1"/>
                </a:cxn>
                <a:cxn ang="0">
                  <a:pos x="connsiteX2" y="connsiteY2"/>
                </a:cxn>
                <a:cxn ang="0">
                  <a:pos x="connsiteX3" y="connsiteY3"/>
                </a:cxn>
              </a:cxnLst>
              <a:rect l="l" t="t" r="r" b="b"/>
              <a:pathLst>
                <a:path w="87072" h="68546">
                  <a:moveTo>
                    <a:pt x="87072" y="0"/>
                  </a:moveTo>
                  <a:lnTo>
                    <a:pt x="0" y="68546"/>
                  </a:lnTo>
                  <a:lnTo>
                    <a:pt x="43399" y="31851"/>
                  </a:lnTo>
                  <a:lnTo>
                    <a:pt x="8707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6" name="Freeform: Shape 35">
              <a:extLst>
                <a:ext uri="{FF2B5EF4-FFF2-40B4-BE49-F238E27FC236}">
                  <a16:creationId xmlns:a16="http://schemas.microsoft.com/office/drawing/2014/main" id="{F2C0FB4C-772C-DBAC-4288-F1AFE201C7C7}"/>
                </a:ext>
              </a:extLst>
            </p:cNvPr>
            <p:cNvSpPr/>
            <p:nvPr/>
          </p:nvSpPr>
          <p:spPr>
            <a:xfrm>
              <a:off x="4253378" y="1474538"/>
              <a:ext cx="71046" cy="60072"/>
            </a:xfrm>
            <a:custGeom>
              <a:avLst/>
              <a:gdLst>
                <a:gd name="connsiteX0" fmla="*/ 71046 w 71046"/>
                <a:gd name="connsiteY0" fmla="*/ 0 h 60072"/>
                <a:gd name="connsiteX1" fmla="*/ 0 w 71046"/>
                <a:gd name="connsiteY1" fmla="*/ 60072 h 60072"/>
                <a:gd name="connsiteX2" fmla="*/ 31016 w 71046"/>
                <a:gd name="connsiteY2" fmla="*/ 31513 h 60072"/>
                <a:gd name="connsiteX3" fmla="*/ 71046 w 71046"/>
                <a:gd name="connsiteY3" fmla="*/ 0 h 60072"/>
              </a:gdLst>
              <a:ahLst/>
              <a:cxnLst>
                <a:cxn ang="0">
                  <a:pos x="connsiteX0" y="connsiteY0"/>
                </a:cxn>
                <a:cxn ang="0">
                  <a:pos x="connsiteX1" y="connsiteY1"/>
                </a:cxn>
                <a:cxn ang="0">
                  <a:pos x="connsiteX2" y="connsiteY2"/>
                </a:cxn>
                <a:cxn ang="0">
                  <a:pos x="connsiteX3" y="connsiteY3"/>
                </a:cxn>
              </a:cxnLst>
              <a:rect l="l" t="t" r="r" b="b"/>
              <a:pathLst>
                <a:path w="71046" h="60072">
                  <a:moveTo>
                    <a:pt x="71046" y="0"/>
                  </a:moveTo>
                  <a:lnTo>
                    <a:pt x="0" y="60072"/>
                  </a:lnTo>
                  <a:lnTo>
                    <a:pt x="31016" y="31513"/>
                  </a:lnTo>
                  <a:lnTo>
                    <a:pt x="7104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7" name="Freeform: Shape 36">
              <a:extLst>
                <a:ext uri="{FF2B5EF4-FFF2-40B4-BE49-F238E27FC236}">
                  <a16:creationId xmlns:a16="http://schemas.microsoft.com/office/drawing/2014/main" id="{7BB27EEB-3FE7-61A3-D4CC-78AF1A8EB437}"/>
                </a:ext>
              </a:extLst>
            </p:cNvPr>
            <p:cNvSpPr/>
            <p:nvPr/>
          </p:nvSpPr>
          <p:spPr>
            <a:xfrm>
              <a:off x="4177176" y="1534611"/>
              <a:ext cx="76204" cy="70166"/>
            </a:xfrm>
            <a:custGeom>
              <a:avLst/>
              <a:gdLst>
                <a:gd name="connsiteX0" fmla="*/ 76203 w 76203"/>
                <a:gd name="connsiteY0" fmla="*/ 0 h 70165"/>
                <a:gd name="connsiteX1" fmla="*/ 0 w 76203"/>
                <a:gd name="connsiteY1" fmla="*/ 70165 h 70165"/>
                <a:gd name="connsiteX2" fmla="*/ 43799 w 76203"/>
                <a:gd name="connsiteY2" fmla="*/ 27398 h 70165"/>
                <a:gd name="connsiteX3" fmla="*/ 76203 w 76203"/>
                <a:gd name="connsiteY3" fmla="*/ 0 h 70165"/>
              </a:gdLst>
              <a:ahLst/>
              <a:cxnLst>
                <a:cxn ang="0">
                  <a:pos x="connsiteX0" y="connsiteY0"/>
                </a:cxn>
                <a:cxn ang="0">
                  <a:pos x="connsiteX1" y="connsiteY1"/>
                </a:cxn>
                <a:cxn ang="0">
                  <a:pos x="connsiteX2" y="connsiteY2"/>
                </a:cxn>
                <a:cxn ang="0">
                  <a:pos x="connsiteX3" y="connsiteY3"/>
                </a:cxn>
              </a:cxnLst>
              <a:rect l="l" t="t" r="r" b="b"/>
              <a:pathLst>
                <a:path w="76203" h="70165">
                  <a:moveTo>
                    <a:pt x="76203" y="0"/>
                  </a:moveTo>
                  <a:lnTo>
                    <a:pt x="0" y="70165"/>
                  </a:lnTo>
                  <a:lnTo>
                    <a:pt x="43799" y="27398"/>
                  </a:lnTo>
                  <a:lnTo>
                    <a:pt x="7620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8" name="Freeform: Shape 37">
              <a:extLst>
                <a:ext uri="{FF2B5EF4-FFF2-40B4-BE49-F238E27FC236}">
                  <a16:creationId xmlns:a16="http://schemas.microsoft.com/office/drawing/2014/main" id="{56E99C41-9D6E-B578-D280-7EC048898057}"/>
                </a:ext>
              </a:extLst>
            </p:cNvPr>
            <p:cNvSpPr/>
            <p:nvPr/>
          </p:nvSpPr>
          <p:spPr>
            <a:xfrm>
              <a:off x="4106963" y="1604776"/>
              <a:ext cx="70212" cy="68558"/>
            </a:xfrm>
            <a:custGeom>
              <a:avLst/>
              <a:gdLst>
                <a:gd name="connsiteX0" fmla="*/ 70212 w 70212"/>
                <a:gd name="connsiteY0" fmla="*/ 0 h 68557"/>
                <a:gd name="connsiteX1" fmla="*/ 0 w 70212"/>
                <a:gd name="connsiteY1" fmla="*/ 68557 h 68557"/>
                <a:gd name="connsiteX2" fmla="*/ 25286 w 70212"/>
                <a:gd name="connsiteY2" fmla="*/ 41366 h 68557"/>
                <a:gd name="connsiteX3" fmla="*/ 70212 w 70212"/>
                <a:gd name="connsiteY3" fmla="*/ 0 h 68557"/>
              </a:gdLst>
              <a:ahLst/>
              <a:cxnLst>
                <a:cxn ang="0">
                  <a:pos x="connsiteX0" y="connsiteY0"/>
                </a:cxn>
                <a:cxn ang="0">
                  <a:pos x="connsiteX1" y="connsiteY1"/>
                </a:cxn>
                <a:cxn ang="0">
                  <a:pos x="connsiteX2" y="connsiteY2"/>
                </a:cxn>
                <a:cxn ang="0">
                  <a:pos x="connsiteX3" y="connsiteY3"/>
                </a:cxn>
              </a:cxnLst>
              <a:rect l="l" t="t" r="r" b="b"/>
              <a:pathLst>
                <a:path w="70212" h="68557">
                  <a:moveTo>
                    <a:pt x="70212" y="0"/>
                  </a:moveTo>
                  <a:lnTo>
                    <a:pt x="0" y="68557"/>
                  </a:lnTo>
                  <a:lnTo>
                    <a:pt x="25286" y="41366"/>
                  </a:lnTo>
                  <a:lnTo>
                    <a:pt x="7021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9" name="Freeform: Shape 38">
              <a:extLst>
                <a:ext uri="{FF2B5EF4-FFF2-40B4-BE49-F238E27FC236}">
                  <a16:creationId xmlns:a16="http://schemas.microsoft.com/office/drawing/2014/main" id="{F9B2E781-C5A1-4B68-8FC0-4BF3B0065976}"/>
                </a:ext>
              </a:extLst>
            </p:cNvPr>
            <p:cNvSpPr/>
            <p:nvPr/>
          </p:nvSpPr>
          <p:spPr>
            <a:xfrm>
              <a:off x="4038489" y="1673332"/>
              <a:ext cx="68474" cy="73632"/>
            </a:xfrm>
            <a:custGeom>
              <a:avLst/>
              <a:gdLst>
                <a:gd name="connsiteX0" fmla="*/ 68474 w 68474"/>
                <a:gd name="connsiteY0" fmla="*/ 0 h 73632"/>
                <a:gd name="connsiteX1" fmla="*/ 0 w 68474"/>
                <a:gd name="connsiteY1" fmla="*/ 73632 h 73632"/>
                <a:gd name="connsiteX2" fmla="*/ 44980 w 68474"/>
                <a:gd name="connsiteY2" fmla="*/ 22940 h 73632"/>
                <a:gd name="connsiteX3" fmla="*/ 68474 w 68474"/>
                <a:gd name="connsiteY3" fmla="*/ 0 h 73632"/>
              </a:gdLst>
              <a:ahLst/>
              <a:cxnLst>
                <a:cxn ang="0">
                  <a:pos x="connsiteX0" y="connsiteY0"/>
                </a:cxn>
                <a:cxn ang="0">
                  <a:pos x="connsiteX1" y="connsiteY1"/>
                </a:cxn>
                <a:cxn ang="0">
                  <a:pos x="connsiteX2" y="connsiteY2"/>
                </a:cxn>
                <a:cxn ang="0">
                  <a:pos x="connsiteX3" y="connsiteY3"/>
                </a:cxn>
              </a:cxnLst>
              <a:rect l="l" t="t" r="r" b="b"/>
              <a:pathLst>
                <a:path w="68474" h="73632">
                  <a:moveTo>
                    <a:pt x="68474" y="0"/>
                  </a:moveTo>
                  <a:lnTo>
                    <a:pt x="0" y="73632"/>
                  </a:lnTo>
                  <a:lnTo>
                    <a:pt x="44980" y="22940"/>
                  </a:lnTo>
                  <a:lnTo>
                    <a:pt x="6847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0" name="Freeform: Shape 39">
              <a:extLst>
                <a:ext uri="{FF2B5EF4-FFF2-40B4-BE49-F238E27FC236}">
                  <a16:creationId xmlns:a16="http://schemas.microsoft.com/office/drawing/2014/main" id="{B8FA8351-6966-DF21-5E76-48AB6A4DC81D}"/>
                </a:ext>
              </a:extLst>
            </p:cNvPr>
            <p:cNvSpPr/>
            <p:nvPr/>
          </p:nvSpPr>
          <p:spPr>
            <a:xfrm>
              <a:off x="3972485" y="1746965"/>
              <a:ext cx="66006" cy="74388"/>
            </a:xfrm>
            <a:custGeom>
              <a:avLst/>
              <a:gdLst>
                <a:gd name="connsiteX0" fmla="*/ 66005 w 66005"/>
                <a:gd name="connsiteY0" fmla="*/ 0 h 74387"/>
                <a:gd name="connsiteX1" fmla="*/ 0 w 66005"/>
                <a:gd name="connsiteY1" fmla="*/ 74387 h 74387"/>
                <a:gd name="connsiteX2" fmla="*/ 18559 w 66005"/>
                <a:gd name="connsiteY2" fmla="*/ 51020 h 74387"/>
                <a:gd name="connsiteX3" fmla="*/ 66005 w 66005"/>
                <a:gd name="connsiteY3" fmla="*/ 0 h 74387"/>
              </a:gdLst>
              <a:ahLst/>
              <a:cxnLst>
                <a:cxn ang="0">
                  <a:pos x="connsiteX0" y="connsiteY0"/>
                </a:cxn>
                <a:cxn ang="0">
                  <a:pos x="connsiteX1" y="connsiteY1"/>
                </a:cxn>
                <a:cxn ang="0">
                  <a:pos x="connsiteX2" y="connsiteY2"/>
                </a:cxn>
                <a:cxn ang="0">
                  <a:pos x="connsiteX3" y="connsiteY3"/>
                </a:cxn>
              </a:cxnLst>
              <a:rect l="l" t="t" r="r" b="b"/>
              <a:pathLst>
                <a:path w="66005" h="74387">
                  <a:moveTo>
                    <a:pt x="66005" y="0"/>
                  </a:moveTo>
                  <a:lnTo>
                    <a:pt x="0" y="74387"/>
                  </a:lnTo>
                  <a:lnTo>
                    <a:pt x="18559" y="51020"/>
                  </a:lnTo>
                  <a:lnTo>
                    <a:pt x="66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1" name="Freeform: Shape 40">
              <a:extLst>
                <a:ext uri="{FF2B5EF4-FFF2-40B4-BE49-F238E27FC236}">
                  <a16:creationId xmlns:a16="http://schemas.microsoft.com/office/drawing/2014/main" id="{15A4FDEB-4CBC-4C99-21F3-2826963A1623}"/>
                </a:ext>
              </a:extLst>
            </p:cNvPr>
            <p:cNvSpPr/>
            <p:nvPr/>
          </p:nvSpPr>
          <p:spPr>
            <a:xfrm>
              <a:off x="3907480" y="1821352"/>
              <a:ext cx="65006" cy="81846"/>
            </a:xfrm>
            <a:custGeom>
              <a:avLst/>
              <a:gdLst>
                <a:gd name="connsiteX0" fmla="*/ 65005 w 65005"/>
                <a:gd name="connsiteY0" fmla="*/ 0 h 81845"/>
                <a:gd name="connsiteX1" fmla="*/ 0 w 65005"/>
                <a:gd name="connsiteY1" fmla="*/ 81845 h 81845"/>
                <a:gd name="connsiteX2" fmla="*/ 48395 w 65005"/>
                <a:gd name="connsiteY2" fmla="*/ 18719 h 81845"/>
                <a:gd name="connsiteX3" fmla="*/ 65005 w 65005"/>
                <a:gd name="connsiteY3" fmla="*/ 0 h 81845"/>
              </a:gdLst>
              <a:ahLst/>
              <a:cxnLst>
                <a:cxn ang="0">
                  <a:pos x="connsiteX0" y="connsiteY0"/>
                </a:cxn>
                <a:cxn ang="0">
                  <a:pos x="connsiteX1" y="connsiteY1"/>
                </a:cxn>
                <a:cxn ang="0">
                  <a:pos x="connsiteX2" y="connsiteY2"/>
                </a:cxn>
                <a:cxn ang="0">
                  <a:pos x="connsiteX3" y="connsiteY3"/>
                </a:cxn>
              </a:cxnLst>
              <a:rect l="l" t="t" r="r" b="b"/>
              <a:pathLst>
                <a:path w="65005" h="81845">
                  <a:moveTo>
                    <a:pt x="65005" y="0"/>
                  </a:moveTo>
                  <a:lnTo>
                    <a:pt x="0" y="81845"/>
                  </a:lnTo>
                  <a:lnTo>
                    <a:pt x="48395" y="18719"/>
                  </a:lnTo>
                  <a:lnTo>
                    <a:pt x="65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2" name="Freeform: Shape 41">
              <a:extLst>
                <a:ext uri="{FF2B5EF4-FFF2-40B4-BE49-F238E27FC236}">
                  <a16:creationId xmlns:a16="http://schemas.microsoft.com/office/drawing/2014/main" id="{16C0A36A-3D4A-31FA-E98D-FABED54A8CB1}"/>
                </a:ext>
              </a:extLst>
            </p:cNvPr>
            <p:cNvSpPr/>
            <p:nvPr/>
          </p:nvSpPr>
          <p:spPr>
            <a:xfrm>
              <a:off x="3850005" y="1903197"/>
              <a:ext cx="57476" cy="74970"/>
            </a:xfrm>
            <a:custGeom>
              <a:avLst/>
              <a:gdLst>
                <a:gd name="connsiteX0" fmla="*/ 57475 w 57475"/>
                <a:gd name="connsiteY0" fmla="*/ 0 h 74969"/>
                <a:gd name="connsiteX1" fmla="*/ 0 w 57475"/>
                <a:gd name="connsiteY1" fmla="*/ 74969 h 74969"/>
                <a:gd name="connsiteX2" fmla="*/ 11557 w 57475"/>
                <a:gd name="connsiteY2" fmla="*/ 57812 h 74969"/>
                <a:gd name="connsiteX3" fmla="*/ 57475 w 57475"/>
                <a:gd name="connsiteY3" fmla="*/ 0 h 74969"/>
              </a:gdLst>
              <a:ahLst/>
              <a:cxnLst>
                <a:cxn ang="0">
                  <a:pos x="connsiteX0" y="connsiteY0"/>
                </a:cxn>
                <a:cxn ang="0">
                  <a:pos x="connsiteX1" y="connsiteY1"/>
                </a:cxn>
                <a:cxn ang="0">
                  <a:pos x="connsiteX2" y="connsiteY2"/>
                </a:cxn>
                <a:cxn ang="0">
                  <a:pos x="connsiteX3" y="connsiteY3"/>
                </a:cxn>
              </a:cxnLst>
              <a:rect l="l" t="t" r="r" b="b"/>
              <a:pathLst>
                <a:path w="57475" h="74969">
                  <a:moveTo>
                    <a:pt x="57475" y="0"/>
                  </a:moveTo>
                  <a:lnTo>
                    <a:pt x="0" y="74969"/>
                  </a:lnTo>
                  <a:lnTo>
                    <a:pt x="11557" y="57812"/>
                  </a:lnTo>
                  <a:lnTo>
                    <a:pt x="5747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3" name="Freeform: Shape 42">
              <a:extLst>
                <a:ext uri="{FF2B5EF4-FFF2-40B4-BE49-F238E27FC236}">
                  <a16:creationId xmlns:a16="http://schemas.microsoft.com/office/drawing/2014/main" id="{C4327FA3-1F73-62C3-EDA4-C951D9535CF3}"/>
                </a:ext>
              </a:extLst>
            </p:cNvPr>
            <p:cNvSpPr/>
            <p:nvPr/>
          </p:nvSpPr>
          <p:spPr>
            <a:xfrm>
              <a:off x="3780778" y="1978166"/>
              <a:ext cx="69228" cy="102762"/>
            </a:xfrm>
            <a:custGeom>
              <a:avLst/>
              <a:gdLst>
                <a:gd name="connsiteX0" fmla="*/ 69227 w 69227"/>
                <a:gd name="connsiteY0" fmla="*/ 0 h 102761"/>
                <a:gd name="connsiteX1" fmla="*/ 0 w 69227"/>
                <a:gd name="connsiteY1" fmla="*/ 102761 h 102761"/>
                <a:gd name="connsiteX2" fmla="*/ 57980 w 69227"/>
                <a:gd name="connsiteY2" fmla="*/ 14669 h 102761"/>
                <a:gd name="connsiteX3" fmla="*/ 69227 w 69227"/>
                <a:gd name="connsiteY3" fmla="*/ 0 h 102761"/>
              </a:gdLst>
              <a:ahLst/>
              <a:cxnLst>
                <a:cxn ang="0">
                  <a:pos x="connsiteX0" y="connsiteY0"/>
                </a:cxn>
                <a:cxn ang="0">
                  <a:pos x="connsiteX1" y="connsiteY1"/>
                </a:cxn>
                <a:cxn ang="0">
                  <a:pos x="connsiteX2" y="connsiteY2"/>
                </a:cxn>
                <a:cxn ang="0">
                  <a:pos x="connsiteX3" y="connsiteY3"/>
                </a:cxn>
              </a:cxnLst>
              <a:rect l="l" t="t" r="r" b="b"/>
              <a:pathLst>
                <a:path w="69227" h="102761">
                  <a:moveTo>
                    <a:pt x="69227" y="0"/>
                  </a:moveTo>
                  <a:lnTo>
                    <a:pt x="0" y="102761"/>
                  </a:lnTo>
                  <a:lnTo>
                    <a:pt x="57980" y="14669"/>
                  </a:lnTo>
                  <a:lnTo>
                    <a:pt x="692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4" name="Freeform: Shape 43">
              <a:extLst>
                <a:ext uri="{FF2B5EF4-FFF2-40B4-BE49-F238E27FC236}">
                  <a16:creationId xmlns:a16="http://schemas.microsoft.com/office/drawing/2014/main" id="{61350633-44F4-109C-EA73-B81085123109}"/>
                </a:ext>
              </a:extLst>
            </p:cNvPr>
            <p:cNvSpPr/>
            <p:nvPr/>
          </p:nvSpPr>
          <p:spPr>
            <a:xfrm>
              <a:off x="3737320" y="2077491"/>
              <a:ext cx="45720" cy="69464"/>
            </a:xfrm>
            <a:custGeom>
              <a:avLst/>
              <a:gdLst>
                <a:gd name="connsiteX0" fmla="*/ 41197 w 41197"/>
                <a:gd name="connsiteY0" fmla="*/ 0 h 62594"/>
                <a:gd name="connsiteX1" fmla="*/ 0 w 41197"/>
                <a:gd name="connsiteY1" fmla="*/ 62594 h 62594"/>
                <a:gd name="connsiteX2" fmla="*/ 5010 w 41197"/>
                <a:gd name="connsiteY2" fmla="*/ 53718 h 62594"/>
                <a:gd name="connsiteX3" fmla="*/ 41197 w 41197"/>
                <a:gd name="connsiteY3" fmla="*/ 0 h 62594"/>
              </a:gdLst>
              <a:ahLst/>
              <a:cxnLst>
                <a:cxn ang="0">
                  <a:pos x="connsiteX0" y="connsiteY0"/>
                </a:cxn>
                <a:cxn ang="0">
                  <a:pos x="connsiteX1" y="connsiteY1"/>
                </a:cxn>
                <a:cxn ang="0">
                  <a:pos x="connsiteX2" y="connsiteY2"/>
                </a:cxn>
                <a:cxn ang="0">
                  <a:pos x="connsiteX3" y="connsiteY3"/>
                </a:cxn>
              </a:cxnLst>
              <a:rect l="l" t="t" r="r" b="b"/>
              <a:pathLst>
                <a:path w="41197" h="62594">
                  <a:moveTo>
                    <a:pt x="41197" y="0"/>
                  </a:moveTo>
                  <a:lnTo>
                    <a:pt x="0" y="62594"/>
                  </a:lnTo>
                  <a:lnTo>
                    <a:pt x="5010" y="53718"/>
                  </a:lnTo>
                  <a:lnTo>
                    <a:pt x="4119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5" name="Freeform: Shape 44">
              <a:extLst>
                <a:ext uri="{FF2B5EF4-FFF2-40B4-BE49-F238E27FC236}">
                  <a16:creationId xmlns:a16="http://schemas.microsoft.com/office/drawing/2014/main" id="{08C660E6-87BA-FF47-2E89-B8DA61BCE7A5}"/>
                </a:ext>
              </a:extLst>
            </p:cNvPr>
            <p:cNvSpPr/>
            <p:nvPr/>
          </p:nvSpPr>
          <p:spPr>
            <a:xfrm>
              <a:off x="3552004" y="2143521"/>
              <a:ext cx="187576" cy="366472"/>
            </a:xfrm>
            <a:custGeom>
              <a:avLst/>
              <a:gdLst>
                <a:gd name="connsiteX0" fmla="*/ 187576 w 187576"/>
                <a:gd name="connsiteY0" fmla="*/ 0 h 366471"/>
                <a:gd name="connsiteX1" fmla="*/ 88911 w 187576"/>
                <a:gd name="connsiteY1" fmla="*/ 174800 h 366471"/>
                <a:gd name="connsiteX2" fmla="*/ 0 w 187576"/>
                <a:gd name="connsiteY2" fmla="*/ 366471 h 366471"/>
                <a:gd name="connsiteX3" fmla="*/ 3926 w 187576"/>
                <a:gd name="connsiteY3" fmla="*/ 355745 h 366471"/>
                <a:gd name="connsiteX4" fmla="*/ 180679 w 187576"/>
                <a:gd name="connsiteY4" fmla="*/ 10479 h 366471"/>
                <a:gd name="connsiteX5" fmla="*/ 187576 w 187576"/>
                <a:gd name="connsiteY5" fmla="*/ 0 h 36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576" h="366471">
                  <a:moveTo>
                    <a:pt x="187576" y="0"/>
                  </a:moveTo>
                  <a:lnTo>
                    <a:pt x="88911" y="174800"/>
                  </a:lnTo>
                  <a:lnTo>
                    <a:pt x="0" y="366471"/>
                  </a:lnTo>
                  <a:lnTo>
                    <a:pt x="3926" y="355745"/>
                  </a:lnTo>
                  <a:cubicBezTo>
                    <a:pt x="54601" y="235937"/>
                    <a:pt x="113770" y="120596"/>
                    <a:pt x="180679" y="10479"/>
                  </a:cubicBezTo>
                  <a:lnTo>
                    <a:pt x="18757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6" name="Freeform: Shape 45">
              <a:extLst>
                <a:ext uri="{FF2B5EF4-FFF2-40B4-BE49-F238E27FC236}">
                  <a16:creationId xmlns:a16="http://schemas.microsoft.com/office/drawing/2014/main" id="{F6255220-9501-1D80-71DB-85221801F9D9}"/>
                </a:ext>
              </a:extLst>
            </p:cNvPr>
            <p:cNvSpPr/>
            <p:nvPr/>
          </p:nvSpPr>
          <p:spPr>
            <a:xfrm>
              <a:off x="3476594" y="2509991"/>
              <a:ext cx="75412" cy="203788"/>
            </a:xfrm>
            <a:custGeom>
              <a:avLst/>
              <a:gdLst>
                <a:gd name="connsiteX0" fmla="*/ 75411 w 75411"/>
                <a:gd name="connsiteY0" fmla="*/ 0 h 203788"/>
                <a:gd name="connsiteX1" fmla="*/ 824 w 75411"/>
                <a:gd name="connsiteY1" fmla="*/ 203788 h 203788"/>
                <a:gd name="connsiteX2" fmla="*/ 0 w 75411"/>
                <a:gd name="connsiteY2" fmla="*/ 203520 h 203788"/>
                <a:gd name="connsiteX3" fmla="*/ 74727 w 75411"/>
                <a:gd name="connsiteY3" fmla="*/ 1475 h 203788"/>
                <a:gd name="connsiteX4" fmla="*/ 75411 w 75411"/>
                <a:gd name="connsiteY4" fmla="*/ 0 h 203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11" h="203788">
                  <a:moveTo>
                    <a:pt x="75411" y="0"/>
                  </a:moveTo>
                  <a:lnTo>
                    <a:pt x="824" y="203788"/>
                  </a:lnTo>
                  <a:lnTo>
                    <a:pt x="0" y="203520"/>
                  </a:lnTo>
                  <a:cubicBezTo>
                    <a:pt x="22344" y="134752"/>
                    <a:pt x="47297" y="67372"/>
                    <a:pt x="74727" y="1475"/>
                  </a:cubicBezTo>
                  <a:lnTo>
                    <a:pt x="754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7" name="Freeform: Shape 46">
              <a:extLst>
                <a:ext uri="{FF2B5EF4-FFF2-40B4-BE49-F238E27FC236}">
                  <a16:creationId xmlns:a16="http://schemas.microsoft.com/office/drawing/2014/main" id="{17C20F5D-9208-C9D4-569D-F09667E2B71D}"/>
                </a:ext>
              </a:extLst>
            </p:cNvPr>
            <p:cNvSpPr/>
            <p:nvPr/>
          </p:nvSpPr>
          <p:spPr>
            <a:xfrm>
              <a:off x="3452617" y="2654904"/>
              <a:ext cx="45720" cy="128082"/>
            </a:xfrm>
            <a:custGeom>
              <a:avLst/>
              <a:gdLst>
                <a:gd name="connsiteX0" fmla="*/ 3054 w 3878"/>
                <a:gd name="connsiteY0" fmla="*/ 0 h 10863"/>
                <a:gd name="connsiteX1" fmla="*/ 3878 w 3878"/>
                <a:gd name="connsiteY1" fmla="*/ 268 h 10863"/>
                <a:gd name="connsiteX2" fmla="*/ 0 w 3878"/>
                <a:gd name="connsiteY2" fmla="*/ 10863 h 10863"/>
                <a:gd name="connsiteX3" fmla="*/ 3054 w 3878"/>
                <a:gd name="connsiteY3" fmla="*/ 0 h 10863"/>
              </a:gdLst>
              <a:ahLst/>
              <a:cxnLst>
                <a:cxn ang="0">
                  <a:pos x="connsiteX0" y="connsiteY0"/>
                </a:cxn>
                <a:cxn ang="0">
                  <a:pos x="connsiteX1" y="connsiteY1"/>
                </a:cxn>
                <a:cxn ang="0">
                  <a:pos x="connsiteX2" y="connsiteY2"/>
                </a:cxn>
                <a:cxn ang="0">
                  <a:pos x="connsiteX3" y="connsiteY3"/>
                </a:cxn>
              </a:cxnLst>
              <a:rect l="l" t="t" r="r" b="b"/>
              <a:pathLst>
                <a:path w="3878" h="10863">
                  <a:moveTo>
                    <a:pt x="3054" y="0"/>
                  </a:moveTo>
                  <a:lnTo>
                    <a:pt x="3878" y="268"/>
                  </a:lnTo>
                  <a:lnTo>
                    <a:pt x="0" y="10863"/>
                  </a:lnTo>
                  <a:lnTo>
                    <a:pt x="305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8" name="Freeform: Shape 47">
              <a:extLst>
                <a:ext uri="{FF2B5EF4-FFF2-40B4-BE49-F238E27FC236}">
                  <a16:creationId xmlns:a16="http://schemas.microsoft.com/office/drawing/2014/main" id="{7566CCBF-BF11-6E3F-6690-0F3FECB3CE97}"/>
                </a:ext>
              </a:extLst>
            </p:cNvPr>
            <p:cNvSpPr/>
            <p:nvPr/>
          </p:nvSpPr>
          <p:spPr>
            <a:xfrm>
              <a:off x="3437778" y="2688949"/>
              <a:ext cx="45720" cy="162624"/>
            </a:xfrm>
            <a:custGeom>
              <a:avLst/>
              <a:gdLst>
                <a:gd name="connsiteX0" fmla="*/ 25800 w 25800"/>
                <a:gd name="connsiteY0" fmla="*/ 0 h 91769"/>
                <a:gd name="connsiteX1" fmla="*/ 0 w 25800"/>
                <a:gd name="connsiteY1" fmla="*/ 91769 h 91769"/>
                <a:gd name="connsiteX2" fmla="*/ 18392 w 25800"/>
                <a:gd name="connsiteY2" fmla="*/ 20240 h 91769"/>
                <a:gd name="connsiteX3" fmla="*/ 25800 w 25800"/>
                <a:gd name="connsiteY3" fmla="*/ 0 h 91769"/>
              </a:gdLst>
              <a:ahLst/>
              <a:cxnLst>
                <a:cxn ang="0">
                  <a:pos x="connsiteX0" y="connsiteY0"/>
                </a:cxn>
                <a:cxn ang="0">
                  <a:pos x="connsiteX1" y="connsiteY1"/>
                </a:cxn>
                <a:cxn ang="0">
                  <a:pos x="connsiteX2" y="connsiteY2"/>
                </a:cxn>
                <a:cxn ang="0">
                  <a:pos x="connsiteX3" y="connsiteY3"/>
                </a:cxn>
              </a:cxnLst>
              <a:rect l="l" t="t" r="r" b="b"/>
              <a:pathLst>
                <a:path w="25800" h="91769">
                  <a:moveTo>
                    <a:pt x="25800" y="0"/>
                  </a:moveTo>
                  <a:lnTo>
                    <a:pt x="0" y="91769"/>
                  </a:lnTo>
                  <a:lnTo>
                    <a:pt x="18392" y="20240"/>
                  </a:lnTo>
                  <a:lnTo>
                    <a:pt x="2580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9" name="Freeform: Shape 48">
              <a:extLst>
                <a:ext uri="{FF2B5EF4-FFF2-40B4-BE49-F238E27FC236}">
                  <a16:creationId xmlns:a16="http://schemas.microsoft.com/office/drawing/2014/main" id="{7907B406-167F-8394-AEC0-F634D505F3E6}"/>
                </a:ext>
              </a:extLst>
            </p:cNvPr>
            <p:cNvSpPr/>
            <p:nvPr/>
          </p:nvSpPr>
          <p:spPr>
            <a:xfrm>
              <a:off x="3406082" y="2800347"/>
              <a:ext cx="45720" cy="177812"/>
            </a:xfrm>
            <a:custGeom>
              <a:avLst/>
              <a:gdLst>
                <a:gd name="connsiteX0" fmla="*/ 37595 w 37595"/>
                <a:gd name="connsiteY0" fmla="*/ 0 h 146215"/>
                <a:gd name="connsiteX1" fmla="*/ 0 w 37595"/>
                <a:gd name="connsiteY1" fmla="*/ 146215 h 146215"/>
                <a:gd name="connsiteX2" fmla="*/ 8146 w 37595"/>
                <a:gd name="connsiteY2" fmla="*/ 104749 h 146215"/>
                <a:gd name="connsiteX3" fmla="*/ 37595 w 37595"/>
                <a:gd name="connsiteY3" fmla="*/ 0 h 146215"/>
              </a:gdLst>
              <a:ahLst/>
              <a:cxnLst>
                <a:cxn ang="0">
                  <a:pos x="connsiteX0" y="connsiteY0"/>
                </a:cxn>
                <a:cxn ang="0">
                  <a:pos x="connsiteX1" y="connsiteY1"/>
                </a:cxn>
                <a:cxn ang="0">
                  <a:pos x="connsiteX2" y="connsiteY2"/>
                </a:cxn>
                <a:cxn ang="0">
                  <a:pos x="connsiteX3" y="connsiteY3"/>
                </a:cxn>
              </a:cxnLst>
              <a:rect l="l" t="t" r="r" b="b"/>
              <a:pathLst>
                <a:path w="37595" h="146215">
                  <a:moveTo>
                    <a:pt x="37595" y="0"/>
                  </a:moveTo>
                  <a:lnTo>
                    <a:pt x="0" y="146215"/>
                  </a:lnTo>
                  <a:lnTo>
                    <a:pt x="8146" y="104749"/>
                  </a:lnTo>
                  <a:lnTo>
                    <a:pt x="3759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0" name="Freeform: Shape 49">
              <a:extLst>
                <a:ext uri="{FF2B5EF4-FFF2-40B4-BE49-F238E27FC236}">
                  <a16:creationId xmlns:a16="http://schemas.microsoft.com/office/drawing/2014/main" id="{E401624F-B984-5BD2-9343-D3F462A1EE50}"/>
                </a:ext>
              </a:extLst>
            </p:cNvPr>
            <p:cNvSpPr/>
            <p:nvPr/>
          </p:nvSpPr>
          <p:spPr>
            <a:xfrm>
              <a:off x="3378345" y="2891511"/>
              <a:ext cx="45720" cy="232702"/>
            </a:xfrm>
            <a:custGeom>
              <a:avLst/>
              <a:gdLst>
                <a:gd name="connsiteX0" fmla="*/ 17879 w 17879"/>
                <a:gd name="connsiteY0" fmla="*/ 0 h 91003"/>
                <a:gd name="connsiteX1" fmla="*/ 0 w 17879"/>
                <a:gd name="connsiteY1" fmla="*/ 91003 h 91003"/>
                <a:gd name="connsiteX2" fmla="*/ 8062 w 17879"/>
                <a:gd name="connsiteY2" fmla="*/ 38178 h 91003"/>
                <a:gd name="connsiteX3" fmla="*/ 17879 w 17879"/>
                <a:gd name="connsiteY3" fmla="*/ 0 h 91003"/>
              </a:gdLst>
              <a:ahLst/>
              <a:cxnLst>
                <a:cxn ang="0">
                  <a:pos x="connsiteX0" y="connsiteY0"/>
                </a:cxn>
                <a:cxn ang="0">
                  <a:pos x="connsiteX1" y="connsiteY1"/>
                </a:cxn>
                <a:cxn ang="0">
                  <a:pos x="connsiteX2" y="connsiteY2"/>
                </a:cxn>
                <a:cxn ang="0">
                  <a:pos x="connsiteX3" y="connsiteY3"/>
                </a:cxn>
              </a:cxnLst>
              <a:rect l="l" t="t" r="r" b="b"/>
              <a:pathLst>
                <a:path w="17879" h="91003">
                  <a:moveTo>
                    <a:pt x="17879" y="0"/>
                  </a:moveTo>
                  <a:lnTo>
                    <a:pt x="0" y="91003"/>
                  </a:lnTo>
                  <a:lnTo>
                    <a:pt x="8062" y="38178"/>
                  </a:lnTo>
                  <a:lnTo>
                    <a:pt x="1787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1" name="Freeform: Shape 50">
              <a:extLst>
                <a:ext uri="{FF2B5EF4-FFF2-40B4-BE49-F238E27FC236}">
                  <a16:creationId xmlns:a16="http://schemas.microsoft.com/office/drawing/2014/main" id="{92395019-7944-6218-2723-DF28AA0FEF9A}"/>
                </a:ext>
              </a:extLst>
            </p:cNvPr>
            <p:cNvSpPr/>
            <p:nvPr/>
          </p:nvSpPr>
          <p:spPr>
            <a:xfrm>
              <a:off x="3356779" y="2986299"/>
              <a:ext cx="45720" cy="299572"/>
            </a:xfrm>
            <a:custGeom>
              <a:avLst/>
              <a:gdLst>
                <a:gd name="connsiteX0" fmla="*/ 25250 w 25250"/>
                <a:gd name="connsiteY0" fmla="*/ 0 h 165446"/>
                <a:gd name="connsiteX1" fmla="*/ 0 w 25250"/>
                <a:gd name="connsiteY1" fmla="*/ 165446 h 165446"/>
                <a:gd name="connsiteX2" fmla="*/ 10230 w 25250"/>
                <a:gd name="connsiteY2" fmla="*/ 76452 h 165446"/>
                <a:gd name="connsiteX3" fmla="*/ 25250 w 25250"/>
                <a:gd name="connsiteY3" fmla="*/ 0 h 165446"/>
              </a:gdLst>
              <a:ahLst/>
              <a:cxnLst>
                <a:cxn ang="0">
                  <a:pos x="connsiteX0" y="connsiteY0"/>
                </a:cxn>
                <a:cxn ang="0">
                  <a:pos x="connsiteX1" y="connsiteY1"/>
                </a:cxn>
                <a:cxn ang="0">
                  <a:pos x="connsiteX2" y="connsiteY2"/>
                </a:cxn>
                <a:cxn ang="0">
                  <a:pos x="connsiteX3" y="connsiteY3"/>
                </a:cxn>
              </a:cxnLst>
              <a:rect l="l" t="t" r="r" b="b"/>
              <a:pathLst>
                <a:path w="25250" h="165446">
                  <a:moveTo>
                    <a:pt x="25250" y="0"/>
                  </a:moveTo>
                  <a:lnTo>
                    <a:pt x="0" y="165446"/>
                  </a:lnTo>
                  <a:lnTo>
                    <a:pt x="10230" y="76452"/>
                  </a:lnTo>
                  <a:lnTo>
                    <a:pt x="252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2" name="Freeform: Shape 51">
              <a:extLst>
                <a:ext uri="{FF2B5EF4-FFF2-40B4-BE49-F238E27FC236}">
                  <a16:creationId xmlns:a16="http://schemas.microsoft.com/office/drawing/2014/main" id="{AFE1532F-626C-0A7F-0F9E-FD2F0E96315F}"/>
                </a:ext>
              </a:extLst>
            </p:cNvPr>
            <p:cNvSpPr/>
            <p:nvPr/>
          </p:nvSpPr>
          <p:spPr>
            <a:xfrm>
              <a:off x="3339885" y="3057082"/>
              <a:ext cx="45720" cy="397728"/>
            </a:xfrm>
            <a:custGeom>
              <a:avLst/>
              <a:gdLst>
                <a:gd name="connsiteX0" fmla="*/ 8538 w 8538"/>
                <a:gd name="connsiteY0" fmla="*/ 0 h 74273"/>
                <a:gd name="connsiteX1" fmla="*/ 0 w 8538"/>
                <a:gd name="connsiteY1" fmla="*/ 74273 h 74273"/>
                <a:gd name="connsiteX2" fmla="*/ 1383 w 8538"/>
                <a:gd name="connsiteY2" fmla="*/ 46880 h 74273"/>
                <a:gd name="connsiteX3" fmla="*/ 8538 w 8538"/>
                <a:gd name="connsiteY3" fmla="*/ 0 h 74273"/>
              </a:gdLst>
              <a:ahLst/>
              <a:cxnLst>
                <a:cxn ang="0">
                  <a:pos x="connsiteX0" y="connsiteY0"/>
                </a:cxn>
                <a:cxn ang="0">
                  <a:pos x="connsiteX1" y="connsiteY1"/>
                </a:cxn>
                <a:cxn ang="0">
                  <a:pos x="connsiteX2" y="connsiteY2"/>
                </a:cxn>
                <a:cxn ang="0">
                  <a:pos x="connsiteX3" y="connsiteY3"/>
                </a:cxn>
              </a:cxnLst>
              <a:rect l="l" t="t" r="r" b="b"/>
              <a:pathLst>
                <a:path w="8538" h="74273">
                  <a:moveTo>
                    <a:pt x="8538" y="0"/>
                  </a:moveTo>
                  <a:lnTo>
                    <a:pt x="0" y="74273"/>
                  </a:lnTo>
                  <a:lnTo>
                    <a:pt x="1383" y="46880"/>
                  </a:lnTo>
                  <a:lnTo>
                    <a:pt x="853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3" name="Freeform: Shape 52">
              <a:extLst>
                <a:ext uri="{FF2B5EF4-FFF2-40B4-BE49-F238E27FC236}">
                  <a16:creationId xmlns:a16="http://schemas.microsoft.com/office/drawing/2014/main" id="{560FE8B6-D6B5-2E63-5B35-89B5E368E915}"/>
                </a:ext>
              </a:extLst>
            </p:cNvPr>
            <p:cNvSpPr/>
            <p:nvPr/>
          </p:nvSpPr>
          <p:spPr>
            <a:xfrm>
              <a:off x="3329424" y="2962976"/>
              <a:ext cx="45720" cy="905474"/>
            </a:xfrm>
            <a:custGeom>
              <a:avLst/>
              <a:gdLst>
                <a:gd name="connsiteX0" fmla="*/ 12384 w 12384"/>
                <a:gd name="connsiteY0" fmla="*/ 0 h 245261"/>
                <a:gd name="connsiteX1" fmla="*/ 0 w 12384"/>
                <a:gd name="connsiteY1" fmla="*/ 245261 h 245261"/>
                <a:gd name="connsiteX2" fmla="*/ 7065 w 12384"/>
                <a:gd name="connsiteY2" fmla="*/ 46269 h 245261"/>
                <a:gd name="connsiteX3" fmla="*/ 12384 w 12384"/>
                <a:gd name="connsiteY3" fmla="*/ 0 h 245261"/>
              </a:gdLst>
              <a:ahLst/>
              <a:cxnLst>
                <a:cxn ang="0">
                  <a:pos x="connsiteX0" y="connsiteY0"/>
                </a:cxn>
                <a:cxn ang="0">
                  <a:pos x="connsiteX1" y="connsiteY1"/>
                </a:cxn>
                <a:cxn ang="0">
                  <a:pos x="connsiteX2" y="connsiteY2"/>
                </a:cxn>
                <a:cxn ang="0">
                  <a:pos x="connsiteX3" y="connsiteY3"/>
                </a:cxn>
              </a:cxnLst>
              <a:rect l="l" t="t" r="r" b="b"/>
              <a:pathLst>
                <a:path w="12384" h="245261">
                  <a:moveTo>
                    <a:pt x="12384" y="0"/>
                  </a:moveTo>
                  <a:lnTo>
                    <a:pt x="0" y="245261"/>
                  </a:lnTo>
                  <a:lnTo>
                    <a:pt x="7065" y="46269"/>
                  </a:lnTo>
                  <a:lnTo>
                    <a:pt x="1238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4" name="Freeform: Shape 53">
              <a:extLst>
                <a:ext uri="{FF2B5EF4-FFF2-40B4-BE49-F238E27FC236}">
                  <a16:creationId xmlns:a16="http://schemas.microsoft.com/office/drawing/2014/main" id="{7D6F9CC9-F37A-DEA3-2A3F-94CD36C1E2D5}"/>
                </a:ext>
              </a:extLst>
            </p:cNvPr>
            <p:cNvSpPr/>
            <p:nvPr/>
          </p:nvSpPr>
          <p:spPr>
            <a:xfrm>
              <a:off x="3329400" y="3224023"/>
              <a:ext cx="45720" cy="881390"/>
            </a:xfrm>
            <a:custGeom>
              <a:avLst/>
              <a:gdLst>
                <a:gd name="connsiteX0" fmla="*/ 348 w 13064"/>
                <a:gd name="connsiteY0" fmla="*/ 0 h 251848"/>
                <a:gd name="connsiteX1" fmla="*/ 13064 w 13064"/>
                <a:gd name="connsiteY1" fmla="*/ 251848 h 251848"/>
                <a:gd name="connsiteX2" fmla="*/ 8929 w 13064"/>
                <a:gd name="connsiteY2" fmla="*/ 217781 h 251848"/>
                <a:gd name="connsiteX3" fmla="*/ 0 w 13064"/>
                <a:gd name="connsiteY3" fmla="*/ 9784 h 251848"/>
                <a:gd name="connsiteX4" fmla="*/ 348 w 13064"/>
                <a:gd name="connsiteY4" fmla="*/ 0 h 251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4" h="251848">
                  <a:moveTo>
                    <a:pt x="348" y="0"/>
                  </a:moveTo>
                  <a:lnTo>
                    <a:pt x="13064" y="251848"/>
                  </a:lnTo>
                  <a:lnTo>
                    <a:pt x="8929" y="217781"/>
                  </a:lnTo>
                  <a:cubicBezTo>
                    <a:pt x="3260" y="148757"/>
                    <a:pt x="266" y="79373"/>
                    <a:pt x="0" y="9784"/>
                  </a:cubicBezTo>
                  <a:lnTo>
                    <a:pt x="34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5" name="Freeform: Shape 54">
              <a:extLst>
                <a:ext uri="{FF2B5EF4-FFF2-40B4-BE49-F238E27FC236}">
                  <a16:creationId xmlns:a16="http://schemas.microsoft.com/office/drawing/2014/main" id="{52AAFD52-2E8D-10D7-9519-5699014511AB}"/>
                </a:ext>
              </a:extLst>
            </p:cNvPr>
            <p:cNvSpPr/>
            <p:nvPr/>
          </p:nvSpPr>
          <p:spPr>
            <a:xfrm>
              <a:off x="3340125" y="3636873"/>
              <a:ext cx="45720" cy="376620"/>
            </a:xfrm>
            <a:custGeom>
              <a:avLst/>
              <a:gdLst>
                <a:gd name="connsiteX0" fmla="*/ 0 w 8386"/>
                <a:gd name="connsiteY0" fmla="*/ 0 h 69079"/>
                <a:gd name="connsiteX1" fmla="*/ 8386 w 8386"/>
                <a:gd name="connsiteY1" fmla="*/ 69079 h 69079"/>
                <a:gd name="connsiteX2" fmla="*/ 1067 w 8386"/>
                <a:gd name="connsiteY2" fmla="*/ 21124 h 69079"/>
                <a:gd name="connsiteX3" fmla="*/ 0 w 8386"/>
                <a:gd name="connsiteY3" fmla="*/ 0 h 69079"/>
              </a:gdLst>
              <a:ahLst/>
              <a:cxnLst>
                <a:cxn ang="0">
                  <a:pos x="connsiteX0" y="connsiteY0"/>
                </a:cxn>
                <a:cxn ang="0">
                  <a:pos x="connsiteX1" y="connsiteY1"/>
                </a:cxn>
                <a:cxn ang="0">
                  <a:pos x="connsiteX2" y="connsiteY2"/>
                </a:cxn>
                <a:cxn ang="0">
                  <a:pos x="connsiteX3" y="connsiteY3"/>
                </a:cxn>
              </a:cxnLst>
              <a:rect l="l" t="t" r="r" b="b"/>
              <a:pathLst>
                <a:path w="8386" h="69079">
                  <a:moveTo>
                    <a:pt x="0" y="0"/>
                  </a:moveTo>
                  <a:lnTo>
                    <a:pt x="8386" y="69079"/>
                  </a:lnTo>
                  <a:lnTo>
                    <a:pt x="1067" y="2112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6" name="Freeform: Shape 55">
              <a:extLst>
                <a:ext uri="{FF2B5EF4-FFF2-40B4-BE49-F238E27FC236}">
                  <a16:creationId xmlns:a16="http://schemas.microsoft.com/office/drawing/2014/main" id="{377899A8-92FA-4B1E-3CC0-08CB7A35AFB2}"/>
                </a:ext>
              </a:extLst>
            </p:cNvPr>
            <p:cNvSpPr/>
            <p:nvPr/>
          </p:nvSpPr>
          <p:spPr>
            <a:xfrm>
              <a:off x="3357220" y="3794469"/>
              <a:ext cx="45720" cy="299564"/>
            </a:xfrm>
            <a:custGeom>
              <a:avLst/>
              <a:gdLst>
                <a:gd name="connsiteX0" fmla="*/ 0 w 25801"/>
                <a:gd name="connsiteY0" fmla="*/ 0 h 169057"/>
                <a:gd name="connsiteX1" fmla="*/ 25801 w 25801"/>
                <a:gd name="connsiteY1" fmla="*/ 169057 h 169057"/>
                <a:gd name="connsiteX2" fmla="*/ 12466 w 25801"/>
                <a:gd name="connsiteY2" fmla="*/ 102696 h 169057"/>
                <a:gd name="connsiteX3" fmla="*/ 0 w 25801"/>
                <a:gd name="connsiteY3" fmla="*/ 0 h 169057"/>
              </a:gdLst>
              <a:ahLst/>
              <a:cxnLst>
                <a:cxn ang="0">
                  <a:pos x="connsiteX0" y="connsiteY0"/>
                </a:cxn>
                <a:cxn ang="0">
                  <a:pos x="connsiteX1" y="connsiteY1"/>
                </a:cxn>
                <a:cxn ang="0">
                  <a:pos x="connsiteX2" y="connsiteY2"/>
                </a:cxn>
                <a:cxn ang="0">
                  <a:pos x="connsiteX3" y="connsiteY3"/>
                </a:cxn>
              </a:cxnLst>
              <a:rect l="l" t="t" r="r" b="b"/>
              <a:pathLst>
                <a:path w="25801" h="169057">
                  <a:moveTo>
                    <a:pt x="0" y="0"/>
                  </a:moveTo>
                  <a:lnTo>
                    <a:pt x="25801" y="169057"/>
                  </a:lnTo>
                  <a:lnTo>
                    <a:pt x="12466" y="10269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7" name="Freeform: Shape 56">
              <a:extLst>
                <a:ext uri="{FF2B5EF4-FFF2-40B4-BE49-F238E27FC236}">
                  <a16:creationId xmlns:a16="http://schemas.microsoft.com/office/drawing/2014/main" id="{3FFB059F-FA7E-D26F-07A2-41758BC3E1FE}"/>
                </a:ext>
              </a:extLst>
            </p:cNvPr>
            <p:cNvSpPr/>
            <p:nvPr/>
          </p:nvSpPr>
          <p:spPr>
            <a:xfrm>
              <a:off x="3379117" y="3959797"/>
              <a:ext cx="45720" cy="227518"/>
            </a:xfrm>
            <a:custGeom>
              <a:avLst/>
              <a:gdLst>
                <a:gd name="connsiteX0" fmla="*/ 0 w 17996"/>
                <a:gd name="connsiteY0" fmla="*/ 0 h 89553"/>
                <a:gd name="connsiteX1" fmla="*/ 17996 w 17996"/>
                <a:gd name="connsiteY1" fmla="*/ 89553 h 89553"/>
                <a:gd name="connsiteX2" fmla="*/ 7347 w 17996"/>
                <a:gd name="connsiteY2" fmla="*/ 48139 h 89553"/>
                <a:gd name="connsiteX3" fmla="*/ 0 w 17996"/>
                <a:gd name="connsiteY3" fmla="*/ 0 h 89553"/>
              </a:gdLst>
              <a:ahLst/>
              <a:cxnLst>
                <a:cxn ang="0">
                  <a:pos x="connsiteX0" y="connsiteY0"/>
                </a:cxn>
                <a:cxn ang="0">
                  <a:pos x="connsiteX1" y="connsiteY1"/>
                </a:cxn>
                <a:cxn ang="0">
                  <a:pos x="connsiteX2" y="connsiteY2"/>
                </a:cxn>
                <a:cxn ang="0">
                  <a:pos x="connsiteX3" y="connsiteY3"/>
                </a:cxn>
              </a:cxnLst>
              <a:rect l="l" t="t" r="r" b="b"/>
              <a:pathLst>
                <a:path w="17996" h="89553">
                  <a:moveTo>
                    <a:pt x="0" y="0"/>
                  </a:moveTo>
                  <a:lnTo>
                    <a:pt x="17996" y="89553"/>
                  </a:lnTo>
                  <a:lnTo>
                    <a:pt x="7347" y="481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8" name="Freeform: Shape 57">
              <a:extLst>
                <a:ext uri="{FF2B5EF4-FFF2-40B4-BE49-F238E27FC236}">
                  <a16:creationId xmlns:a16="http://schemas.microsoft.com/office/drawing/2014/main" id="{00BEBD27-4345-A529-1B69-2DAD0B8C63AE}"/>
                </a:ext>
              </a:extLst>
            </p:cNvPr>
            <p:cNvSpPr/>
            <p:nvPr/>
          </p:nvSpPr>
          <p:spPr>
            <a:xfrm>
              <a:off x="3407337" y="4104179"/>
              <a:ext cx="45720" cy="177808"/>
            </a:xfrm>
            <a:custGeom>
              <a:avLst/>
              <a:gdLst>
                <a:gd name="connsiteX0" fmla="*/ 0 w 38441"/>
                <a:gd name="connsiteY0" fmla="*/ 0 h 149504"/>
                <a:gd name="connsiteX1" fmla="*/ 38441 w 38441"/>
                <a:gd name="connsiteY1" fmla="*/ 149504 h 149504"/>
                <a:gd name="connsiteX2" fmla="*/ 9414 w 38441"/>
                <a:gd name="connsiteY2" fmla="*/ 46850 h 149504"/>
                <a:gd name="connsiteX3" fmla="*/ 0 w 38441"/>
                <a:gd name="connsiteY3" fmla="*/ 0 h 149504"/>
              </a:gdLst>
              <a:ahLst/>
              <a:cxnLst>
                <a:cxn ang="0">
                  <a:pos x="connsiteX0" y="connsiteY0"/>
                </a:cxn>
                <a:cxn ang="0">
                  <a:pos x="connsiteX1" y="connsiteY1"/>
                </a:cxn>
                <a:cxn ang="0">
                  <a:pos x="connsiteX2" y="connsiteY2"/>
                </a:cxn>
                <a:cxn ang="0">
                  <a:pos x="connsiteX3" y="connsiteY3"/>
                </a:cxn>
              </a:cxnLst>
              <a:rect l="l" t="t" r="r" b="b"/>
              <a:pathLst>
                <a:path w="38441" h="149504">
                  <a:moveTo>
                    <a:pt x="0" y="0"/>
                  </a:moveTo>
                  <a:lnTo>
                    <a:pt x="38441" y="149504"/>
                  </a:lnTo>
                  <a:lnTo>
                    <a:pt x="9414" y="46850"/>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9" name="Freeform: Shape 58">
              <a:extLst>
                <a:ext uri="{FF2B5EF4-FFF2-40B4-BE49-F238E27FC236}">
                  <a16:creationId xmlns:a16="http://schemas.microsoft.com/office/drawing/2014/main" id="{63B5AFDA-B05D-8A62-4976-73C2B20E6CBF}"/>
                </a:ext>
              </a:extLst>
            </p:cNvPr>
            <p:cNvSpPr/>
            <p:nvPr/>
          </p:nvSpPr>
          <p:spPr>
            <a:xfrm>
              <a:off x="3438577" y="4229503"/>
              <a:ext cx="45720" cy="161692"/>
            </a:xfrm>
            <a:custGeom>
              <a:avLst/>
              <a:gdLst>
                <a:gd name="connsiteX0" fmla="*/ 0 w 24042"/>
                <a:gd name="connsiteY0" fmla="*/ 0 h 85025"/>
                <a:gd name="connsiteX1" fmla="*/ 24042 w 24042"/>
                <a:gd name="connsiteY1" fmla="*/ 85025 h 85025"/>
                <a:gd name="connsiteX2" fmla="*/ 16714 w 24042"/>
                <a:gd name="connsiteY2" fmla="*/ 65004 h 85025"/>
                <a:gd name="connsiteX3" fmla="*/ 0 w 24042"/>
                <a:gd name="connsiteY3" fmla="*/ 0 h 85025"/>
              </a:gdLst>
              <a:ahLst/>
              <a:cxnLst>
                <a:cxn ang="0">
                  <a:pos x="connsiteX0" y="connsiteY0"/>
                </a:cxn>
                <a:cxn ang="0">
                  <a:pos x="connsiteX1" y="connsiteY1"/>
                </a:cxn>
                <a:cxn ang="0">
                  <a:pos x="connsiteX2" y="connsiteY2"/>
                </a:cxn>
                <a:cxn ang="0">
                  <a:pos x="connsiteX3" y="connsiteY3"/>
                </a:cxn>
              </a:cxnLst>
              <a:rect l="l" t="t" r="r" b="b"/>
              <a:pathLst>
                <a:path w="24042" h="85025">
                  <a:moveTo>
                    <a:pt x="0" y="0"/>
                  </a:moveTo>
                  <a:lnTo>
                    <a:pt x="24042" y="85025"/>
                  </a:lnTo>
                  <a:lnTo>
                    <a:pt x="16714" y="6500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0" name="Freeform: Shape 59">
              <a:extLst>
                <a:ext uri="{FF2B5EF4-FFF2-40B4-BE49-F238E27FC236}">
                  <a16:creationId xmlns:a16="http://schemas.microsoft.com/office/drawing/2014/main" id="{6FFCEF39-7894-4B49-1C5A-A3A7988576F8}"/>
                </a:ext>
              </a:extLst>
            </p:cNvPr>
            <p:cNvSpPr/>
            <p:nvPr/>
          </p:nvSpPr>
          <p:spPr>
            <a:xfrm>
              <a:off x="3473458" y="4352861"/>
              <a:ext cx="77012" cy="210412"/>
            </a:xfrm>
            <a:custGeom>
              <a:avLst/>
              <a:gdLst>
                <a:gd name="connsiteX0" fmla="*/ 0 w 77012"/>
                <a:gd name="connsiteY0" fmla="*/ 0 h 210411"/>
                <a:gd name="connsiteX1" fmla="*/ 77012 w 77012"/>
                <a:gd name="connsiteY1" fmla="*/ 210411 h 210411"/>
                <a:gd name="connsiteX2" fmla="*/ 74494 w 77012"/>
                <a:gd name="connsiteY2" fmla="*/ 204921 h 210411"/>
                <a:gd name="connsiteX3" fmla="*/ 3134 w 77012"/>
                <a:gd name="connsiteY3" fmla="*/ 11084 h 210411"/>
                <a:gd name="connsiteX4" fmla="*/ 0 w 77012"/>
                <a:gd name="connsiteY4" fmla="*/ 0 h 210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12" h="210411">
                  <a:moveTo>
                    <a:pt x="0" y="0"/>
                  </a:moveTo>
                  <a:lnTo>
                    <a:pt x="77012" y="210411"/>
                  </a:lnTo>
                  <a:lnTo>
                    <a:pt x="74494" y="204921"/>
                  </a:lnTo>
                  <a:cubicBezTo>
                    <a:pt x="48215" y="141232"/>
                    <a:pt x="24411" y="76569"/>
                    <a:pt x="3134" y="1108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1" name="Freeform: Shape 60">
              <a:extLst>
                <a:ext uri="{FF2B5EF4-FFF2-40B4-BE49-F238E27FC236}">
                  <a16:creationId xmlns:a16="http://schemas.microsoft.com/office/drawing/2014/main" id="{17346E45-B618-523D-3C49-F5A73FF6A61B}"/>
                </a:ext>
              </a:extLst>
            </p:cNvPr>
            <p:cNvSpPr/>
            <p:nvPr/>
          </p:nvSpPr>
          <p:spPr>
            <a:xfrm>
              <a:off x="3544760" y="4550821"/>
              <a:ext cx="45720" cy="99686"/>
            </a:xfrm>
            <a:custGeom>
              <a:avLst/>
              <a:gdLst>
                <a:gd name="connsiteX0" fmla="*/ 0 w 34300"/>
                <a:gd name="connsiteY0" fmla="*/ 0 h 74786"/>
                <a:gd name="connsiteX1" fmla="*/ 34300 w 34300"/>
                <a:gd name="connsiteY1" fmla="*/ 74786 h 74786"/>
                <a:gd name="connsiteX2" fmla="*/ 5460 w 34300"/>
                <a:gd name="connsiteY2" fmla="*/ 14918 h 74786"/>
                <a:gd name="connsiteX3" fmla="*/ 0 w 34300"/>
                <a:gd name="connsiteY3" fmla="*/ 0 h 74786"/>
              </a:gdLst>
              <a:ahLst/>
              <a:cxnLst>
                <a:cxn ang="0">
                  <a:pos x="connsiteX0" y="connsiteY0"/>
                </a:cxn>
                <a:cxn ang="0">
                  <a:pos x="connsiteX1" y="connsiteY1"/>
                </a:cxn>
                <a:cxn ang="0">
                  <a:pos x="connsiteX2" y="connsiteY2"/>
                </a:cxn>
                <a:cxn ang="0">
                  <a:pos x="connsiteX3" y="connsiteY3"/>
                </a:cxn>
              </a:cxnLst>
              <a:rect l="l" t="t" r="r" b="b"/>
              <a:pathLst>
                <a:path w="34300" h="74786">
                  <a:moveTo>
                    <a:pt x="0" y="0"/>
                  </a:moveTo>
                  <a:lnTo>
                    <a:pt x="34300" y="74786"/>
                  </a:lnTo>
                  <a:lnTo>
                    <a:pt x="5460" y="1491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2" name="Freeform: Shape 61">
              <a:extLst>
                <a:ext uri="{FF2B5EF4-FFF2-40B4-BE49-F238E27FC236}">
                  <a16:creationId xmlns:a16="http://schemas.microsoft.com/office/drawing/2014/main" id="{46BF468C-62FF-D3C1-CC43-06C5D96D1632}"/>
                </a:ext>
              </a:extLst>
            </p:cNvPr>
            <p:cNvSpPr/>
            <p:nvPr/>
          </p:nvSpPr>
          <p:spPr>
            <a:xfrm>
              <a:off x="3584770" y="4638058"/>
              <a:ext cx="67988" cy="141138"/>
            </a:xfrm>
            <a:custGeom>
              <a:avLst/>
              <a:gdLst>
                <a:gd name="connsiteX0" fmla="*/ 0 w 67988"/>
                <a:gd name="connsiteY0" fmla="*/ 0 h 141137"/>
                <a:gd name="connsiteX1" fmla="*/ 67988 w 67988"/>
                <a:gd name="connsiteY1" fmla="*/ 141137 h 141137"/>
                <a:gd name="connsiteX2" fmla="*/ 49401 w 67988"/>
                <a:gd name="connsiteY2" fmla="*/ 107713 h 141137"/>
                <a:gd name="connsiteX3" fmla="*/ 0 w 67988"/>
                <a:gd name="connsiteY3" fmla="*/ 0 h 141137"/>
              </a:gdLst>
              <a:ahLst/>
              <a:cxnLst>
                <a:cxn ang="0">
                  <a:pos x="connsiteX0" y="connsiteY0"/>
                </a:cxn>
                <a:cxn ang="0">
                  <a:pos x="connsiteX1" y="connsiteY1"/>
                </a:cxn>
                <a:cxn ang="0">
                  <a:pos x="connsiteX2" y="connsiteY2"/>
                </a:cxn>
                <a:cxn ang="0">
                  <a:pos x="connsiteX3" y="connsiteY3"/>
                </a:cxn>
              </a:cxnLst>
              <a:rect l="l" t="t" r="r" b="b"/>
              <a:pathLst>
                <a:path w="67988" h="141137">
                  <a:moveTo>
                    <a:pt x="0" y="0"/>
                  </a:moveTo>
                  <a:lnTo>
                    <a:pt x="67988" y="141137"/>
                  </a:lnTo>
                  <a:lnTo>
                    <a:pt x="49401" y="107713"/>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3" name="Freeform: Shape 62">
              <a:extLst>
                <a:ext uri="{FF2B5EF4-FFF2-40B4-BE49-F238E27FC236}">
                  <a16:creationId xmlns:a16="http://schemas.microsoft.com/office/drawing/2014/main" id="{2ECF860D-2011-A250-B883-13CFBC63F6C7}"/>
                </a:ext>
              </a:extLst>
            </p:cNvPr>
            <p:cNvSpPr/>
            <p:nvPr/>
          </p:nvSpPr>
          <p:spPr>
            <a:xfrm>
              <a:off x="3651963" y="4777764"/>
              <a:ext cx="45720" cy="82214"/>
            </a:xfrm>
            <a:custGeom>
              <a:avLst/>
              <a:gdLst>
                <a:gd name="connsiteX0" fmla="*/ 0 w 44130"/>
                <a:gd name="connsiteY0" fmla="*/ 0 h 79354"/>
                <a:gd name="connsiteX1" fmla="*/ 44130 w 44130"/>
                <a:gd name="connsiteY1" fmla="*/ 79354 h 79354"/>
                <a:gd name="connsiteX2" fmla="*/ 15623 w 44130"/>
                <a:gd name="connsiteY2" fmla="*/ 32431 h 79354"/>
                <a:gd name="connsiteX3" fmla="*/ 0 w 44130"/>
                <a:gd name="connsiteY3" fmla="*/ 0 h 79354"/>
              </a:gdLst>
              <a:ahLst/>
              <a:cxnLst>
                <a:cxn ang="0">
                  <a:pos x="connsiteX0" y="connsiteY0"/>
                </a:cxn>
                <a:cxn ang="0">
                  <a:pos x="connsiteX1" y="connsiteY1"/>
                </a:cxn>
                <a:cxn ang="0">
                  <a:pos x="connsiteX2" y="connsiteY2"/>
                </a:cxn>
                <a:cxn ang="0">
                  <a:pos x="connsiteX3" y="connsiteY3"/>
                </a:cxn>
              </a:cxnLst>
              <a:rect l="l" t="t" r="r" b="b"/>
              <a:pathLst>
                <a:path w="44130" h="79354">
                  <a:moveTo>
                    <a:pt x="0" y="0"/>
                  </a:moveTo>
                  <a:lnTo>
                    <a:pt x="44130" y="79354"/>
                  </a:lnTo>
                  <a:lnTo>
                    <a:pt x="15623" y="32431"/>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4" name="Freeform: Shape 63">
              <a:extLst>
                <a:ext uri="{FF2B5EF4-FFF2-40B4-BE49-F238E27FC236}">
                  <a16:creationId xmlns:a16="http://schemas.microsoft.com/office/drawing/2014/main" id="{33738DC0-3579-AD23-CE95-A4557B2A78BC}"/>
                </a:ext>
              </a:extLst>
            </p:cNvPr>
            <p:cNvSpPr/>
            <p:nvPr/>
          </p:nvSpPr>
          <p:spPr>
            <a:xfrm>
              <a:off x="3696889" y="4858549"/>
              <a:ext cx="80150" cy="131930"/>
            </a:xfrm>
            <a:custGeom>
              <a:avLst/>
              <a:gdLst>
                <a:gd name="connsiteX0" fmla="*/ 0 w 80149"/>
                <a:gd name="connsiteY0" fmla="*/ 0 h 131929"/>
                <a:gd name="connsiteX1" fmla="*/ 80149 w 80149"/>
                <a:gd name="connsiteY1" fmla="*/ 131929 h 131929"/>
                <a:gd name="connsiteX2" fmla="*/ 38059 w 80149"/>
                <a:gd name="connsiteY2" fmla="*/ 68439 h 131929"/>
                <a:gd name="connsiteX3" fmla="*/ 0 w 80149"/>
                <a:gd name="connsiteY3" fmla="*/ 0 h 131929"/>
              </a:gdLst>
              <a:ahLst/>
              <a:cxnLst>
                <a:cxn ang="0">
                  <a:pos x="connsiteX0" y="connsiteY0"/>
                </a:cxn>
                <a:cxn ang="0">
                  <a:pos x="connsiteX1" y="connsiteY1"/>
                </a:cxn>
                <a:cxn ang="0">
                  <a:pos x="connsiteX2" y="connsiteY2"/>
                </a:cxn>
                <a:cxn ang="0">
                  <a:pos x="connsiteX3" y="connsiteY3"/>
                </a:cxn>
              </a:cxnLst>
              <a:rect l="l" t="t" r="r" b="b"/>
              <a:pathLst>
                <a:path w="80149" h="131929">
                  <a:moveTo>
                    <a:pt x="0" y="0"/>
                  </a:moveTo>
                  <a:lnTo>
                    <a:pt x="80149" y="131929"/>
                  </a:lnTo>
                  <a:lnTo>
                    <a:pt x="38059" y="684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5" name="Freeform: Shape 64">
              <a:extLst>
                <a:ext uri="{FF2B5EF4-FFF2-40B4-BE49-F238E27FC236}">
                  <a16:creationId xmlns:a16="http://schemas.microsoft.com/office/drawing/2014/main" id="{8E290A74-D563-F650-0FE8-F68CA0E26DA0}"/>
                </a:ext>
              </a:extLst>
            </p:cNvPr>
            <p:cNvSpPr/>
            <p:nvPr/>
          </p:nvSpPr>
          <p:spPr>
            <a:xfrm>
              <a:off x="3776824" y="4990157"/>
              <a:ext cx="45720" cy="68966"/>
            </a:xfrm>
            <a:custGeom>
              <a:avLst/>
              <a:gdLst>
                <a:gd name="connsiteX0" fmla="*/ 0 w 45294"/>
                <a:gd name="connsiteY0" fmla="*/ 0 h 68323"/>
                <a:gd name="connsiteX1" fmla="*/ 45294 w 45294"/>
                <a:gd name="connsiteY1" fmla="*/ 68323 h 68323"/>
                <a:gd name="connsiteX2" fmla="*/ 25107 w 45294"/>
                <a:gd name="connsiteY2" fmla="*/ 41327 h 68323"/>
                <a:gd name="connsiteX3" fmla="*/ 0 w 45294"/>
                <a:gd name="connsiteY3" fmla="*/ 0 h 68323"/>
              </a:gdLst>
              <a:ahLst/>
              <a:cxnLst>
                <a:cxn ang="0">
                  <a:pos x="connsiteX0" y="connsiteY0"/>
                </a:cxn>
                <a:cxn ang="0">
                  <a:pos x="connsiteX1" y="connsiteY1"/>
                </a:cxn>
                <a:cxn ang="0">
                  <a:pos x="connsiteX2" y="connsiteY2"/>
                </a:cxn>
                <a:cxn ang="0">
                  <a:pos x="connsiteX3" y="connsiteY3"/>
                </a:cxn>
              </a:cxnLst>
              <a:rect l="l" t="t" r="r" b="b"/>
              <a:pathLst>
                <a:path w="45294" h="68323">
                  <a:moveTo>
                    <a:pt x="0" y="0"/>
                  </a:moveTo>
                  <a:lnTo>
                    <a:pt x="45294" y="68323"/>
                  </a:lnTo>
                  <a:lnTo>
                    <a:pt x="25107" y="4132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6" name="Freeform: Shape 65">
              <a:extLst>
                <a:ext uri="{FF2B5EF4-FFF2-40B4-BE49-F238E27FC236}">
                  <a16:creationId xmlns:a16="http://schemas.microsoft.com/office/drawing/2014/main" id="{D56BD965-F867-8D3C-6BDB-A8665C31C8E5}"/>
                </a:ext>
              </a:extLst>
            </p:cNvPr>
            <p:cNvSpPr/>
            <p:nvPr/>
          </p:nvSpPr>
          <p:spPr>
            <a:xfrm>
              <a:off x="3822331" y="5058801"/>
              <a:ext cx="108022" cy="144458"/>
            </a:xfrm>
            <a:custGeom>
              <a:avLst/>
              <a:gdLst>
                <a:gd name="connsiteX0" fmla="*/ 0 w 108022"/>
                <a:gd name="connsiteY0" fmla="*/ 0 h 144457"/>
                <a:gd name="connsiteX1" fmla="*/ 108022 w 108022"/>
                <a:gd name="connsiteY1" fmla="*/ 144457 h 144457"/>
                <a:gd name="connsiteX2" fmla="*/ 27650 w 108022"/>
                <a:gd name="connsiteY2" fmla="*/ 41708 h 144457"/>
                <a:gd name="connsiteX3" fmla="*/ 0 w 108022"/>
                <a:gd name="connsiteY3" fmla="*/ 0 h 144457"/>
              </a:gdLst>
              <a:ahLst/>
              <a:cxnLst>
                <a:cxn ang="0">
                  <a:pos x="connsiteX0" y="connsiteY0"/>
                </a:cxn>
                <a:cxn ang="0">
                  <a:pos x="connsiteX1" y="connsiteY1"/>
                </a:cxn>
                <a:cxn ang="0">
                  <a:pos x="connsiteX2" y="connsiteY2"/>
                </a:cxn>
                <a:cxn ang="0">
                  <a:pos x="connsiteX3" y="connsiteY3"/>
                </a:cxn>
              </a:cxnLst>
              <a:rect l="l" t="t" r="r" b="b"/>
              <a:pathLst>
                <a:path w="108022" h="144457">
                  <a:moveTo>
                    <a:pt x="0" y="0"/>
                  </a:moveTo>
                  <a:lnTo>
                    <a:pt x="108022" y="144457"/>
                  </a:lnTo>
                  <a:lnTo>
                    <a:pt x="27650" y="4170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7" name="Freeform: Shape 66">
              <a:extLst>
                <a:ext uri="{FF2B5EF4-FFF2-40B4-BE49-F238E27FC236}">
                  <a16:creationId xmlns:a16="http://schemas.microsoft.com/office/drawing/2014/main" id="{1186A0E9-4E73-2BCE-7485-217F2ADF88B7}"/>
                </a:ext>
              </a:extLst>
            </p:cNvPr>
            <p:cNvSpPr/>
            <p:nvPr/>
          </p:nvSpPr>
          <p:spPr>
            <a:xfrm>
              <a:off x="3924473" y="5195739"/>
              <a:ext cx="45720" cy="58446"/>
            </a:xfrm>
            <a:custGeom>
              <a:avLst/>
              <a:gdLst>
                <a:gd name="connsiteX0" fmla="*/ 0 w 33957"/>
                <a:gd name="connsiteY0" fmla="*/ 0 h 43410"/>
                <a:gd name="connsiteX1" fmla="*/ 33957 w 33957"/>
                <a:gd name="connsiteY1" fmla="*/ 43410 h 43410"/>
                <a:gd name="connsiteX2" fmla="*/ 25521 w 33957"/>
                <a:gd name="connsiteY2" fmla="*/ 34128 h 43410"/>
                <a:gd name="connsiteX3" fmla="*/ 0 w 33957"/>
                <a:gd name="connsiteY3" fmla="*/ 0 h 43410"/>
              </a:gdLst>
              <a:ahLst/>
              <a:cxnLst>
                <a:cxn ang="0">
                  <a:pos x="connsiteX0" y="connsiteY0"/>
                </a:cxn>
                <a:cxn ang="0">
                  <a:pos x="connsiteX1" y="connsiteY1"/>
                </a:cxn>
                <a:cxn ang="0">
                  <a:pos x="connsiteX2" y="connsiteY2"/>
                </a:cxn>
                <a:cxn ang="0">
                  <a:pos x="connsiteX3" y="connsiteY3"/>
                </a:cxn>
              </a:cxnLst>
              <a:rect l="l" t="t" r="r" b="b"/>
              <a:pathLst>
                <a:path w="33957" h="43410">
                  <a:moveTo>
                    <a:pt x="0" y="0"/>
                  </a:moveTo>
                  <a:lnTo>
                    <a:pt x="33957" y="43410"/>
                  </a:lnTo>
                  <a:lnTo>
                    <a:pt x="25521" y="3412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8" name="Freeform: Shape 67">
              <a:extLst>
                <a:ext uri="{FF2B5EF4-FFF2-40B4-BE49-F238E27FC236}">
                  <a16:creationId xmlns:a16="http://schemas.microsoft.com/office/drawing/2014/main" id="{5974646A-B50A-3366-B883-E892D50249CD}"/>
                </a:ext>
              </a:extLst>
            </p:cNvPr>
            <p:cNvSpPr/>
            <p:nvPr/>
          </p:nvSpPr>
          <p:spPr>
            <a:xfrm>
              <a:off x="3964311" y="5246668"/>
              <a:ext cx="163252" cy="179622"/>
            </a:xfrm>
            <a:custGeom>
              <a:avLst/>
              <a:gdLst>
                <a:gd name="connsiteX0" fmla="*/ 0 w 163251"/>
                <a:gd name="connsiteY0" fmla="*/ 0 h 179621"/>
                <a:gd name="connsiteX1" fmla="*/ 163251 w 163251"/>
                <a:gd name="connsiteY1" fmla="*/ 179621 h 179621"/>
                <a:gd name="connsiteX2" fmla="*/ 157311 w 163251"/>
                <a:gd name="connsiteY2" fmla="*/ 174104 h 179621"/>
                <a:gd name="connsiteX3" fmla="*/ 14662 w 163251"/>
                <a:gd name="connsiteY3" fmla="*/ 18744 h 179621"/>
                <a:gd name="connsiteX4" fmla="*/ 0 w 163251"/>
                <a:gd name="connsiteY4" fmla="*/ 0 h 17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51" h="179621">
                  <a:moveTo>
                    <a:pt x="0" y="0"/>
                  </a:moveTo>
                  <a:lnTo>
                    <a:pt x="163251" y="179621"/>
                  </a:lnTo>
                  <a:lnTo>
                    <a:pt x="157311" y="174104"/>
                  </a:lnTo>
                  <a:cubicBezTo>
                    <a:pt x="107518" y="124011"/>
                    <a:pt x="59952" y="72173"/>
                    <a:pt x="14662" y="1874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9" name="Freeform: Shape 68">
              <a:extLst>
                <a:ext uri="{FF2B5EF4-FFF2-40B4-BE49-F238E27FC236}">
                  <a16:creationId xmlns:a16="http://schemas.microsoft.com/office/drawing/2014/main" id="{BD960899-1D46-4341-EA84-1E26CD2C924F}"/>
                </a:ext>
              </a:extLst>
            </p:cNvPr>
            <p:cNvSpPr/>
            <p:nvPr/>
          </p:nvSpPr>
          <p:spPr>
            <a:xfrm>
              <a:off x="4106164" y="5406415"/>
              <a:ext cx="49226" cy="45720"/>
            </a:xfrm>
            <a:custGeom>
              <a:avLst/>
              <a:gdLst>
                <a:gd name="connsiteX0" fmla="*/ 0 w 6429"/>
                <a:gd name="connsiteY0" fmla="*/ 0 h 5971"/>
                <a:gd name="connsiteX1" fmla="*/ 6429 w 6429"/>
                <a:gd name="connsiteY1" fmla="*/ 5971 h 5971"/>
                <a:gd name="connsiteX2" fmla="*/ 669 w 6429"/>
                <a:gd name="connsiteY2" fmla="*/ 736 h 5971"/>
                <a:gd name="connsiteX3" fmla="*/ 0 w 6429"/>
                <a:gd name="connsiteY3" fmla="*/ 0 h 5971"/>
              </a:gdLst>
              <a:ahLst/>
              <a:cxnLst>
                <a:cxn ang="0">
                  <a:pos x="connsiteX0" y="connsiteY0"/>
                </a:cxn>
                <a:cxn ang="0">
                  <a:pos x="connsiteX1" y="connsiteY1"/>
                </a:cxn>
                <a:cxn ang="0">
                  <a:pos x="connsiteX2" y="connsiteY2"/>
                </a:cxn>
                <a:cxn ang="0">
                  <a:pos x="connsiteX3" y="connsiteY3"/>
                </a:cxn>
              </a:cxnLst>
              <a:rect l="l" t="t" r="r" b="b"/>
              <a:pathLst>
                <a:path w="6429" h="5971">
                  <a:moveTo>
                    <a:pt x="0" y="0"/>
                  </a:moveTo>
                  <a:lnTo>
                    <a:pt x="6429" y="5971"/>
                  </a:lnTo>
                  <a:lnTo>
                    <a:pt x="669" y="73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0" name="Freeform: Shape 69">
              <a:extLst>
                <a:ext uri="{FF2B5EF4-FFF2-40B4-BE49-F238E27FC236}">
                  <a16:creationId xmlns:a16="http://schemas.microsoft.com/office/drawing/2014/main" id="{715E564F-6275-442E-2AA0-723DAD8422F3}"/>
                </a:ext>
              </a:extLst>
            </p:cNvPr>
            <p:cNvSpPr/>
            <p:nvPr/>
          </p:nvSpPr>
          <p:spPr>
            <a:xfrm>
              <a:off x="4133990" y="5432260"/>
              <a:ext cx="167636" cy="152360"/>
            </a:xfrm>
            <a:custGeom>
              <a:avLst/>
              <a:gdLst>
                <a:gd name="connsiteX0" fmla="*/ 0 w 167636"/>
                <a:gd name="connsiteY0" fmla="*/ 0 h 152359"/>
                <a:gd name="connsiteX1" fmla="*/ 167636 w 167636"/>
                <a:gd name="connsiteY1" fmla="*/ 152359 h 152359"/>
                <a:gd name="connsiteX2" fmla="*/ 143637 w 167636"/>
                <a:gd name="connsiteY2" fmla="*/ 133407 h 152359"/>
                <a:gd name="connsiteX3" fmla="*/ 0 w 167636"/>
                <a:gd name="connsiteY3" fmla="*/ 0 h 152359"/>
              </a:gdLst>
              <a:ahLst/>
              <a:cxnLst>
                <a:cxn ang="0">
                  <a:pos x="connsiteX0" y="connsiteY0"/>
                </a:cxn>
                <a:cxn ang="0">
                  <a:pos x="connsiteX1" y="connsiteY1"/>
                </a:cxn>
                <a:cxn ang="0">
                  <a:pos x="connsiteX2" y="connsiteY2"/>
                </a:cxn>
                <a:cxn ang="0">
                  <a:pos x="connsiteX3" y="connsiteY3"/>
                </a:cxn>
              </a:cxnLst>
              <a:rect l="l" t="t" r="r" b="b"/>
              <a:pathLst>
                <a:path w="167636" h="152359">
                  <a:moveTo>
                    <a:pt x="0" y="0"/>
                  </a:moveTo>
                  <a:lnTo>
                    <a:pt x="167636" y="152359"/>
                  </a:lnTo>
                  <a:lnTo>
                    <a:pt x="143637" y="13340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1" name="Freeform: Shape 70">
              <a:extLst>
                <a:ext uri="{FF2B5EF4-FFF2-40B4-BE49-F238E27FC236}">
                  <a16:creationId xmlns:a16="http://schemas.microsoft.com/office/drawing/2014/main" id="{CB2EECDB-0843-6128-9007-70ACC527A692}"/>
                </a:ext>
              </a:extLst>
            </p:cNvPr>
            <p:cNvSpPr/>
            <p:nvPr/>
          </p:nvSpPr>
          <p:spPr>
            <a:xfrm>
              <a:off x="4301627" y="5584618"/>
              <a:ext cx="62464" cy="49324"/>
            </a:xfrm>
            <a:custGeom>
              <a:avLst/>
              <a:gdLst>
                <a:gd name="connsiteX0" fmla="*/ 0 w 62463"/>
                <a:gd name="connsiteY0" fmla="*/ 0 h 49324"/>
                <a:gd name="connsiteX1" fmla="*/ 62463 w 62463"/>
                <a:gd name="connsiteY1" fmla="*/ 49324 h 49324"/>
                <a:gd name="connsiteX2" fmla="*/ 16243 w 62463"/>
                <a:gd name="connsiteY2" fmla="*/ 14762 h 49324"/>
                <a:gd name="connsiteX3" fmla="*/ 0 w 62463"/>
                <a:gd name="connsiteY3" fmla="*/ 0 h 49324"/>
              </a:gdLst>
              <a:ahLst/>
              <a:cxnLst>
                <a:cxn ang="0">
                  <a:pos x="connsiteX0" y="connsiteY0"/>
                </a:cxn>
                <a:cxn ang="0">
                  <a:pos x="connsiteX1" y="connsiteY1"/>
                </a:cxn>
                <a:cxn ang="0">
                  <a:pos x="connsiteX2" y="connsiteY2"/>
                </a:cxn>
                <a:cxn ang="0">
                  <a:pos x="connsiteX3" y="connsiteY3"/>
                </a:cxn>
              </a:cxnLst>
              <a:rect l="l" t="t" r="r" b="b"/>
              <a:pathLst>
                <a:path w="62463" h="49324">
                  <a:moveTo>
                    <a:pt x="0" y="0"/>
                  </a:moveTo>
                  <a:lnTo>
                    <a:pt x="62463" y="49324"/>
                  </a:lnTo>
                  <a:lnTo>
                    <a:pt x="16243" y="14762"/>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2" name="Freeform: Shape 71">
              <a:extLst>
                <a:ext uri="{FF2B5EF4-FFF2-40B4-BE49-F238E27FC236}">
                  <a16:creationId xmlns:a16="http://schemas.microsoft.com/office/drawing/2014/main" id="{7E91C341-DDB9-08E1-D7EF-8D9C0582419D}"/>
                </a:ext>
              </a:extLst>
            </p:cNvPr>
            <p:cNvSpPr/>
            <p:nvPr/>
          </p:nvSpPr>
          <p:spPr>
            <a:xfrm>
              <a:off x="4364090" y="5633943"/>
              <a:ext cx="84232" cy="65230"/>
            </a:xfrm>
            <a:custGeom>
              <a:avLst/>
              <a:gdLst>
                <a:gd name="connsiteX0" fmla="*/ 0 w 84231"/>
                <a:gd name="connsiteY0" fmla="*/ 0 h 65229"/>
                <a:gd name="connsiteX1" fmla="*/ 84231 w 84231"/>
                <a:gd name="connsiteY1" fmla="*/ 62987 h 65229"/>
                <a:gd name="connsiteX2" fmla="*/ 82602 w 84231"/>
                <a:gd name="connsiteY2" fmla="*/ 65229 h 65229"/>
                <a:gd name="connsiteX3" fmla="*/ 0 w 84231"/>
                <a:gd name="connsiteY3" fmla="*/ 0 h 65229"/>
              </a:gdLst>
              <a:ahLst/>
              <a:cxnLst>
                <a:cxn ang="0">
                  <a:pos x="connsiteX0" y="connsiteY0"/>
                </a:cxn>
                <a:cxn ang="0">
                  <a:pos x="connsiteX1" y="connsiteY1"/>
                </a:cxn>
                <a:cxn ang="0">
                  <a:pos x="connsiteX2" y="connsiteY2"/>
                </a:cxn>
                <a:cxn ang="0">
                  <a:pos x="connsiteX3" y="connsiteY3"/>
                </a:cxn>
              </a:cxnLst>
              <a:rect l="l" t="t" r="r" b="b"/>
              <a:pathLst>
                <a:path w="84231" h="65229">
                  <a:moveTo>
                    <a:pt x="0" y="0"/>
                  </a:moveTo>
                  <a:lnTo>
                    <a:pt x="84231" y="62987"/>
                  </a:lnTo>
                  <a:lnTo>
                    <a:pt x="82602" y="6522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3" name="Freeform: Shape 72">
              <a:extLst>
                <a:ext uri="{FF2B5EF4-FFF2-40B4-BE49-F238E27FC236}">
                  <a16:creationId xmlns:a16="http://schemas.microsoft.com/office/drawing/2014/main" id="{BD02E428-32FA-FA6D-6A41-6C7828A53996}"/>
                </a:ext>
              </a:extLst>
            </p:cNvPr>
            <p:cNvSpPr/>
            <p:nvPr/>
          </p:nvSpPr>
          <p:spPr>
            <a:xfrm>
              <a:off x="6016346" y="868272"/>
              <a:ext cx="2539754" cy="2247220"/>
            </a:xfrm>
            <a:custGeom>
              <a:avLst/>
              <a:gdLst>
                <a:gd name="connsiteX0" fmla="*/ 0 w 2539753"/>
                <a:gd name="connsiteY0" fmla="*/ 0 h 2247220"/>
                <a:gd name="connsiteX1" fmla="*/ 2539753 w 2539753"/>
                <a:gd name="connsiteY1" fmla="*/ 1845239 h 2247220"/>
                <a:gd name="connsiteX2" fmla="*/ 1302584 w 2539753"/>
                <a:gd name="connsiteY2" fmla="*/ 2247220 h 2247220"/>
                <a:gd name="connsiteX3" fmla="*/ 1262316 w 2539753"/>
                <a:gd name="connsiteY3" fmla="*/ 2137199 h 2247220"/>
                <a:gd name="connsiteX4" fmla="*/ 1262290 w 2539753"/>
                <a:gd name="connsiteY4" fmla="*/ 2137148 h 2247220"/>
                <a:gd name="connsiteX5" fmla="*/ 1204626 w 2539753"/>
                <a:gd name="connsiteY5" fmla="*/ 2017444 h 2247220"/>
                <a:gd name="connsiteX6" fmla="*/ 1181641 w 2539753"/>
                <a:gd name="connsiteY6" fmla="*/ 1979611 h 2247220"/>
                <a:gd name="connsiteX7" fmla="*/ 1171640 w 2539753"/>
                <a:gd name="connsiteY7" fmla="*/ 1960074 h 2247220"/>
                <a:gd name="connsiteX8" fmla="*/ 1158805 w 2539753"/>
                <a:gd name="connsiteY8" fmla="*/ 1942022 h 2247220"/>
                <a:gd name="connsiteX9" fmla="*/ 1136004 w 2539753"/>
                <a:gd name="connsiteY9" fmla="*/ 1904489 h 2247220"/>
                <a:gd name="connsiteX10" fmla="*/ 1057160 w 2539753"/>
                <a:gd name="connsiteY10" fmla="*/ 1799053 h 2247220"/>
                <a:gd name="connsiteX11" fmla="*/ 1057140 w 2539753"/>
                <a:gd name="connsiteY11" fmla="*/ 1799024 h 2247220"/>
                <a:gd name="connsiteX12" fmla="*/ 1057118 w 2539753"/>
                <a:gd name="connsiteY12" fmla="*/ 1799002 h 2247220"/>
                <a:gd name="connsiteX13" fmla="*/ 968718 w 2539753"/>
                <a:gd name="connsiteY13" fmla="*/ 1701737 h 2247220"/>
                <a:gd name="connsiteX14" fmla="*/ 936283 w 2539753"/>
                <a:gd name="connsiteY14" fmla="*/ 1672258 h 2247220"/>
                <a:gd name="connsiteX15" fmla="*/ 921141 w 2539753"/>
                <a:gd name="connsiteY15" fmla="*/ 1656375 h 2247220"/>
                <a:gd name="connsiteX16" fmla="*/ 903920 w 2539753"/>
                <a:gd name="connsiteY16" fmla="*/ 1642845 h 2247220"/>
                <a:gd name="connsiteX17" fmla="*/ 871430 w 2539753"/>
                <a:gd name="connsiteY17" fmla="*/ 1613316 h 2247220"/>
                <a:gd name="connsiteX18" fmla="*/ 765983 w 2539753"/>
                <a:gd name="connsiteY18" fmla="*/ 1534464 h 2247220"/>
                <a:gd name="connsiteX19" fmla="*/ 765966 w 2539753"/>
                <a:gd name="connsiteY19" fmla="*/ 1534451 h 2247220"/>
                <a:gd name="connsiteX20" fmla="*/ 765951 w 2539753"/>
                <a:gd name="connsiteY20" fmla="*/ 1534442 h 2247220"/>
                <a:gd name="connsiteX21" fmla="*/ 653011 w 2539753"/>
                <a:gd name="connsiteY21" fmla="*/ 1465829 h 2247220"/>
                <a:gd name="connsiteX22" fmla="*/ 613272 w 2539753"/>
                <a:gd name="connsiteY22" fmla="*/ 1446686 h 2247220"/>
                <a:gd name="connsiteX23" fmla="*/ 593941 w 2539753"/>
                <a:gd name="connsiteY23" fmla="*/ 1435575 h 2247220"/>
                <a:gd name="connsiteX24" fmla="*/ 573435 w 2539753"/>
                <a:gd name="connsiteY24" fmla="*/ 1427495 h 2247220"/>
                <a:gd name="connsiteX25" fmla="*/ 533255 w 2539753"/>
                <a:gd name="connsiteY25" fmla="*/ 1408140 h 2247220"/>
                <a:gd name="connsiteX26" fmla="*/ 407398 w 2539753"/>
                <a:gd name="connsiteY26" fmla="*/ 1362075 h 2247220"/>
                <a:gd name="connsiteX27" fmla="*/ 407389 w 2539753"/>
                <a:gd name="connsiteY27" fmla="*/ 1362072 h 2247220"/>
                <a:gd name="connsiteX28" fmla="*/ 407383 w 2539753"/>
                <a:gd name="connsiteY28" fmla="*/ 1362070 h 2247220"/>
                <a:gd name="connsiteX29" fmla="*/ 276097 w 2539753"/>
                <a:gd name="connsiteY29" fmla="*/ 1328313 h 2247220"/>
                <a:gd name="connsiteX30" fmla="*/ 231136 w 2539753"/>
                <a:gd name="connsiteY30" fmla="*/ 1321451 h 2247220"/>
                <a:gd name="connsiteX31" fmla="*/ 208634 w 2539753"/>
                <a:gd name="connsiteY31" fmla="*/ 1316265 h 2247220"/>
                <a:gd name="connsiteX32" fmla="*/ 163016 w 2539753"/>
                <a:gd name="connsiteY32" fmla="*/ 1311055 h 2247220"/>
                <a:gd name="connsiteX33" fmla="*/ 140071 w 2539753"/>
                <a:gd name="connsiteY33" fmla="*/ 1307553 h 2247220"/>
                <a:gd name="connsiteX34" fmla="*/ 126245 w 2539753"/>
                <a:gd name="connsiteY34" fmla="*/ 1306855 h 2247220"/>
                <a:gd name="connsiteX35" fmla="*/ 105407 w 2539753"/>
                <a:gd name="connsiteY35" fmla="*/ 1304475 h 2247220"/>
                <a:gd name="connsiteX36" fmla="*/ 0 w 2539753"/>
                <a:gd name="connsiteY36" fmla="*/ 1300480 h 224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39753" h="2247220">
                  <a:moveTo>
                    <a:pt x="0" y="0"/>
                  </a:moveTo>
                  <a:cubicBezTo>
                    <a:pt x="1156912" y="0"/>
                    <a:pt x="2182249" y="744951"/>
                    <a:pt x="2539753" y="1845239"/>
                  </a:cubicBezTo>
                  <a:lnTo>
                    <a:pt x="1302584" y="2247220"/>
                  </a:lnTo>
                  <a:lnTo>
                    <a:pt x="1262316" y="2137199"/>
                  </a:lnTo>
                  <a:lnTo>
                    <a:pt x="1262290" y="2137148"/>
                  </a:lnTo>
                  <a:lnTo>
                    <a:pt x="1204626" y="2017444"/>
                  </a:lnTo>
                  <a:lnTo>
                    <a:pt x="1181641" y="1979611"/>
                  </a:lnTo>
                  <a:lnTo>
                    <a:pt x="1171640" y="1960074"/>
                  </a:lnTo>
                  <a:lnTo>
                    <a:pt x="1158805" y="1942022"/>
                  </a:lnTo>
                  <a:lnTo>
                    <a:pt x="1136004" y="1904489"/>
                  </a:lnTo>
                  <a:lnTo>
                    <a:pt x="1057160" y="1799053"/>
                  </a:lnTo>
                  <a:lnTo>
                    <a:pt x="1057140" y="1799024"/>
                  </a:lnTo>
                  <a:lnTo>
                    <a:pt x="1057118" y="1799002"/>
                  </a:lnTo>
                  <a:lnTo>
                    <a:pt x="968718" y="1701737"/>
                  </a:lnTo>
                  <a:lnTo>
                    <a:pt x="936283" y="1672258"/>
                  </a:lnTo>
                  <a:lnTo>
                    <a:pt x="921141" y="1656375"/>
                  </a:lnTo>
                  <a:lnTo>
                    <a:pt x="903920" y="1642845"/>
                  </a:lnTo>
                  <a:lnTo>
                    <a:pt x="871430" y="1613316"/>
                  </a:lnTo>
                  <a:lnTo>
                    <a:pt x="765983" y="1534464"/>
                  </a:lnTo>
                  <a:lnTo>
                    <a:pt x="765966" y="1534451"/>
                  </a:lnTo>
                  <a:lnTo>
                    <a:pt x="765951" y="1534442"/>
                  </a:lnTo>
                  <a:lnTo>
                    <a:pt x="653011" y="1465829"/>
                  </a:lnTo>
                  <a:lnTo>
                    <a:pt x="613272" y="1446686"/>
                  </a:lnTo>
                  <a:lnTo>
                    <a:pt x="593941" y="1435575"/>
                  </a:lnTo>
                  <a:lnTo>
                    <a:pt x="573435" y="1427495"/>
                  </a:lnTo>
                  <a:lnTo>
                    <a:pt x="533255" y="1408140"/>
                  </a:lnTo>
                  <a:lnTo>
                    <a:pt x="407398" y="1362075"/>
                  </a:lnTo>
                  <a:lnTo>
                    <a:pt x="407389" y="1362072"/>
                  </a:lnTo>
                  <a:lnTo>
                    <a:pt x="407383" y="1362070"/>
                  </a:lnTo>
                  <a:lnTo>
                    <a:pt x="276097" y="1328313"/>
                  </a:lnTo>
                  <a:lnTo>
                    <a:pt x="231136" y="1321451"/>
                  </a:lnTo>
                  <a:lnTo>
                    <a:pt x="208634" y="1316265"/>
                  </a:lnTo>
                  <a:lnTo>
                    <a:pt x="163016" y="1311055"/>
                  </a:lnTo>
                  <a:lnTo>
                    <a:pt x="140071" y="1307553"/>
                  </a:lnTo>
                  <a:lnTo>
                    <a:pt x="126245" y="1306855"/>
                  </a:lnTo>
                  <a:lnTo>
                    <a:pt x="105407" y="1304475"/>
                  </a:lnTo>
                  <a:cubicBezTo>
                    <a:pt x="70618" y="1301828"/>
                    <a:pt x="35467" y="1300480"/>
                    <a:pt x="0" y="1300480"/>
                  </a:cubicBezTo>
                  <a:close/>
                </a:path>
              </a:pathLst>
            </a:custGeom>
            <a:solidFill>
              <a:srgbClr val="795944"/>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95508" tIns="742273" rIns="736312" bIns="2877227" numCol="1" spcCol="1270" anchor="ctr" anchorCtr="0">
              <a:noAutofit/>
            </a:bodyPr>
            <a:lstStyle/>
            <a:p>
              <a:pPr marL="0" lvl="0" indent="0" algn="ctr" defTabSz="2178050">
                <a:lnSpc>
                  <a:spcPct val="90000"/>
                </a:lnSpc>
                <a:spcBef>
                  <a:spcPct val="0"/>
                </a:spcBef>
                <a:spcAft>
                  <a:spcPct val="35000"/>
                </a:spcAft>
                <a:buNone/>
              </a:pPr>
              <a:endParaRPr lang="en-US" sz="4900" kern="1200"/>
            </a:p>
          </p:txBody>
        </p:sp>
        <p:sp>
          <p:nvSpPr>
            <p:cNvPr id="74" name="Freeform: Shape 73">
              <a:extLst>
                <a:ext uri="{FF2B5EF4-FFF2-40B4-BE49-F238E27FC236}">
                  <a16:creationId xmlns:a16="http://schemas.microsoft.com/office/drawing/2014/main" id="{B8766116-21D0-CA2F-9E19-0E16CFC4F1BD}"/>
                </a:ext>
              </a:extLst>
            </p:cNvPr>
            <p:cNvSpPr/>
            <p:nvPr/>
          </p:nvSpPr>
          <p:spPr>
            <a:xfrm>
              <a:off x="6820795" y="2713512"/>
              <a:ext cx="1866188" cy="2985660"/>
            </a:xfrm>
            <a:custGeom>
              <a:avLst/>
              <a:gdLst>
                <a:gd name="connsiteX0" fmla="*/ 1735304 w 1866187"/>
                <a:gd name="connsiteY0" fmla="*/ 0 h 2985659"/>
                <a:gd name="connsiteX1" fmla="*/ 765205 w 1866187"/>
                <a:gd name="connsiteY1" fmla="*/ 2985659 h 2985659"/>
                <a:gd name="connsiteX2" fmla="*/ 0 w 1866187"/>
                <a:gd name="connsiteY2" fmla="*/ 1932444 h 2985659"/>
                <a:gd name="connsiteX3" fmla="*/ 66982 w 1866187"/>
                <a:gd name="connsiteY3" fmla="*/ 1882355 h 2985659"/>
                <a:gd name="connsiteX4" fmla="*/ 565526 w 1866187"/>
                <a:gd name="connsiteY4" fmla="*/ 825216 h 2985659"/>
                <a:gd name="connsiteX5" fmla="*/ 503935 w 1866187"/>
                <a:gd name="connsiteY5" fmla="*/ 417828 h 2985659"/>
                <a:gd name="connsiteX6" fmla="*/ 498135 w 1866187"/>
                <a:gd name="connsiteY6" fmla="*/ 401981 h 298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6187" h="2985659">
                  <a:moveTo>
                    <a:pt x="1735304" y="0"/>
                  </a:moveTo>
                  <a:cubicBezTo>
                    <a:pt x="2092809" y="1100289"/>
                    <a:pt x="1701166" y="2305644"/>
                    <a:pt x="765205" y="2985659"/>
                  </a:cubicBezTo>
                  <a:lnTo>
                    <a:pt x="0" y="1932444"/>
                  </a:lnTo>
                  <a:lnTo>
                    <a:pt x="66982" y="1882355"/>
                  </a:lnTo>
                  <a:cubicBezTo>
                    <a:pt x="371456" y="1631082"/>
                    <a:pt x="565526" y="1250813"/>
                    <a:pt x="565526" y="825216"/>
                  </a:cubicBezTo>
                  <a:cubicBezTo>
                    <a:pt x="565526" y="683351"/>
                    <a:pt x="543963" y="546522"/>
                    <a:pt x="503935" y="417828"/>
                  </a:cubicBezTo>
                  <a:lnTo>
                    <a:pt x="498135" y="401981"/>
                  </a:lnTo>
                  <a:close/>
                </a:path>
              </a:pathLst>
            </a:custGeom>
            <a:solidFill>
              <a:srgbClr val="795944"/>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29458" tIns="2113703" rIns="276776" bIns="1403859" numCol="1" spcCol="1270" anchor="ctr" anchorCtr="0">
              <a:noAutofit/>
            </a:bodyPr>
            <a:lstStyle/>
            <a:p>
              <a:pPr marL="0" lvl="0" indent="0" algn="ctr" defTabSz="1911350">
                <a:lnSpc>
                  <a:spcPct val="90000"/>
                </a:lnSpc>
                <a:spcBef>
                  <a:spcPct val="0"/>
                </a:spcBef>
                <a:spcAft>
                  <a:spcPct val="35000"/>
                </a:spcAft>
                <a:buNone/>
              </a:pPr>
              <a:endParaRPr lang="en-US" sz="4300" kern="1200"/>
            </a:p>
          </p:txBody>
        </p:sp>
        <p:cxnSp>
          <p:nvCxnSpPr>
            <p:cNvPr id="75" name="Straight Connector 74">
              <a:extLst>
                <a:ext uri="{FF2B5EF4-FFF2-40B4-BE49-F238E27FC236}">
                  <a16:creationId xmlns:a16="http://schemas.microsoft.com/office/drawing/2014/main" id="{A1CF58CF-5E59-04E3-F68F-88E92C604829}"/>
                </a:ext>
              </a:extLst>
            </p:cNvPr>
            <p:cNvCxnSpPr>
              <a:cxnSpLocks/>
            </p:cNvCxnSpPr>
            <p:nvPr/>
          </p:nvCxnSpPr>
          <p:spPr>
            <a:xfrm flipV="1">
              <a:off x="6614660" y="2509991"/>
              <a:ext cx="2474545" cy="81464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53CA152-66D5-8741-93D2-812F18F2384D}"/>
                </a:ext>
              </a:extLst>
            </p:cNvPr>
            <p:cNvCxnSpPr>
              <a:cxnSpLocks/>
            </p:cNvCxnSpPr>
            <p:nvPr/>
          </p:nvCxnSpPr>
          <p:spPr>
            <a:xfrm flipV="1">
              <a:off x="4037365" y="4229503"/>
              <a:ext cx="1518987" cy="198813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3F41BC6-B799-BA43-E4C1-2A1655669234}"/>
                </a:ext>
              </a:extLst>
            </p:cNvPr>
            <p:cNvCxnSpPr>
              <a:cxnSpLocks/>
            </p:cNvCxnSpPr>
            <p:nvPr/>
          </p:nvCxnSpPr>
          <p:spPr>
            <a:xfrm>
              <a:off x="2702560" y="2437067"/>
              <a:ext cx="2600647" cy="861833"/>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42CEC4B-3851-46A6-D3FA-F409C805C1E2}"/>
                </a:ext>
              </a:extLst>
            </p:cNvPr>
            <p:cNvCxnSpPr>
              <a:cxnSpLocks/>
            </p:cNvCxnSpPr>
            <p:nvPr/>
          </p:nvCxnSpPr>
          <p:spPr>
            <a:xfrm>
              <a:off x="6525517" y="4205356"/>
              <a:ext cx="1508170" cy="2082488"/>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95433E5-A268-26AF-146D-71712AEDB11C}"/>
                </a:ext>
              </a:extLst>
            </p:cNvPr>
            <p:cNvCxnSpPr>
              <a:cxnSpLocks/>
            </p:cNvCxnSpPr>
            <p:nvPr/>
          </p:nvCxnSpPr>
          <p:spPr>
            <a:xfrm flipV="1">
              <a:off x="6006618" y="487680"/>
              <a:ext cx="26108" cy="1949387"/>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grpSp>
      <p:pic>
        <p:nvPicPr>
          <p:cNvPr id="80" name="Picture 79">
            <a:extLst>
              <a:ext uri="{FF2B5EF4-FFF2-40B4-BE49-F238E27FC236}">
                <a16:creationId xmlns:a16="http://schemas.microsoft.com/office/drawing/2014/main" id="{7A90F1B8-AA16-EB5A-ACAF-9D378149CE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929" y="3895510"/>
            <a:ext cx="61810" cy="61810"/>
          </a:xfrm>
          <a:prstGeom prst="ellipse">
            <a:avLst/>
          </a:prstGeom>
          <a:ln>
            <a:solidFill>
              <a:schemeClr val="bg1"/>
            </a:solidFill>
          </a:ln>
        </p:spPr>
      </p:pic>
    </p:spTree>
    <p:extLst>
      <p:ext uri="{BB962C8B-B14F-4D97-AF65-F5344CB8AC3E}">
        <p14:creationId xmlns:p14="http://schemas.microsoft.com/office/powerpoint/2010/main" val="501996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524022" y="514242"/>
            <a:ext cx="4971832"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ADVERTISEMENT</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646828" y="1345239"/>
            <a:ext cx="4734797"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114CE26C-1AFA-9548-4808-B8DECA2B37EE}"/>
              </a:ext>
            </a:extLst>
          </p:cNvPr>
          <p:cNvSpPr/>
          <p:nvPr/>
        </p:nvSpPr>
        <p:spPr>
          <a:xfrm rot="18767046">
            <a:off x="-2584218" y="-1720989"/>
            <a:ext cx="10496246" cy="1029997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BE631D52-1C31-89FE-A08C-0E2C1313A2F9}"/>
              </a:ext>
            </a:extLst>
          </p:cNvPr>
          <p:cNvGrpSpPr/>
          <p:nvPr/>
        </p:nvGrpSpPr>
        <p:grpSpPr>
          <a:xfrm>
            <a:off x="1005276" y="1591276"/>
            <a:ext cx="4816790" cy="4387778"/>
            <a:chOff x="2702560" y="487680"/>
            <a:chExt cx="6386645" cy="5800164"/>
          </a:xfrm>
        </p:grpSpPr>
        <p:sp>
          <p:nvSpPr>
            <p:cNvPr id="45" name="Freeform: Shape 44">
              <a:extLst>
                <a:ext uri="{FF2B5EF4-FFF2-40B4-BE49-F238E27FC236}">
                  <a16:creationId xmlns:a16="http://schemas.microsoft.com/office/drawing/2014/main" id="{554B7313-E0CD-6562-BCC0-AF873F0A8513}"/>
                </a:ext>
              </a:extLst>
            </p:cNvPr>
            <p:cNvSpPr/>
            <p:nvPr/>
          </p:nvSpPr>
          <p:spPr>
            <a:xfrm>
              <a:off x="3346077" y="2713781"/>
              <a:ext cx="1865822" cy="2983150"/>
            </a:xfrm>
            <a:custGeom>
              <a:avLst/>
              <a:gdLst>
                <a:gd name="connsiteX0" fmla="*/ 131340 w 1865821"/>
                <a:gd name="connsiteY0" fmla="*/ 0 h 2983149"/>
                <a:gd name="connsiteX1" fmla="*/ 1367685 w 1865821"/>
                <a:gd name="connsiteY1" fmla="*/ 401713 h 2983149"/>
                <a:gd name="connsiteX2" fmla="*/ 1361886 w 1865821"/>
                <a:gd name="connsiteY2" fmla="*/ 417559 h 2983149"/>
                <a:gd name="connsiteX3" fmla="*/ 1328127 w 1865821"/>
                <a:gd name="connsiteY3" fmla="*/ 548850 h 2983149"/>
                <a:gd name="connsiteX4" fmla="*/ 1321264 w 1865821"/>
                <a:gd name="connsiteY4" fmla="*/ 593822 h 2983149"/>
                <a:gd name="connsiteX5" fmla="*/ 1316080 w 1865821"/>
                <a:gd name="connsiteY5" fmla="*/ 616315 h 2983149"/>
                <a:gd name="connsiteX6" fmla="*/ 1314358 w 1865821"/>
                <a:gd name="connsiteY6" fmla="*/ 639069 h 2983149"/>
                <a:gd name="connsiteX7" fmla="*/ 1307367 w 1865821"/>
                <a:gd name="connsiteY7" fmla="*/ 684875 h 2983149"/>
                <a:gd name="connsiteX8" fmla="*/ 1300294 w 1865821"/>
                <a:gd name="connsiteY8" fmla="*/ 824947 h 2983149"/>
                <a:gd name="connsiteX9" fmla="*/ 1300294 w 1865821"/>
                <a:gd name="connsiteY9" fmla="*/ 824948 h 2983149"/>
                <a:gd name="connsiteX10" fmla="*/ 1300295 w 1865821"/>
                <a:gd name="connsiteY10" fmla="*/ 824956 h 2983149"/>
                <a:gd name="connsiteX11" fmla="*/ 1307367 w 1865821"/>
                <a:gd name="connsiteY11" fmla="*/ 965019 h 2983149"/>
                <a:gd name="connsiteX12" fmla="*/ 1308771 w 1865821"/>
                <a:gd name="connsiteY12" fmla="*/ 974219 h 2983149"/>
                <a:gd name="connsiteX13" fmla="*/ 1309228 w 1865821"/>
                <a:gd name="connsiteY13" fmla="*/ 982259 h 2983149"/>
                <a:gd name="connsiteX14" fmla="*/ 1316087 w 1865821"/>
                <a:gd name="connsiteY14" fmla="*/ 1022152 h 2983149"/>
                <a:gd name="connsiteX15" fmla="*/ 1328127 w 1865821"/>
                <a:gd name="connsiteY15" fmla="*/ 1101045 h 2983149"/>
                <a:gd name="connsiteX16" fmla="*/ 1332726 w 1865821"/>
                <a:gd name="connsiteY16" fmla="*/ 1118928 h 2983149"/>
                <a:gd name="connsiteX17" fmla="*/ 1335375 w 1865821"/>
                <a:gd name="connsiteY17" fmla="*/ 1134340 h 2983149"/>
                <a:gd name="connsiteX18" fmla="*/ 1346793 w 1865821"/>
                <a:gd name="connsiteY18" fmla="*/ 1173640 h 2983149"/>
                <a:gd name="connsiteX19" fmla="*/ 1361886 w 1865821"/>
                <a:gd name="connsiteY19" fmla="*/ 1232336 h 2983149"/>
                <a:gd name="connsiteX20" fmla="*/ 1371396 w 1865821"/>
                <a:gd name="connsiteY20" fmla="*/ 1258319 h 2983149"/>
                <a:gd name="connsiteX21" fmla="*/ 1377756 w 1865821"/>
                <a:gd name="connsiteY21" fmla="*/ 1280210 h 2983149"/>
                <a:gd name="connsiteX22" fmla="*/ 1391603 w 1865821"/>
                <a:gd name="connsiteY22" fmla="*/ 1313530 h 2983149"/>
                <a:gd name="connsiteX23" fmla="*/ 1407954 w 1865821"/>
                <a:gd name="connsiteY23" fmla="*/ 1358203 h 2983149"/>
                <a:gd name="connsiteX24" fmla="*/ 1424086 w 1865821"/>
                <a:gd name="connsiteY24" fmla="*/ 1391692 h 2983149"/>
                <a:gd name="connsiteX25" fmla="*/ 1435389 w 1865821"/>
                <a:gd name="connsiteY25" fmla="*/ 1418889 h 2983149"/>
                <a:gd name="connsiteX26" fmla="*/ 1449703 w 1865821"/>
                <a:gd name="connsiteY26" fmla="*/ 1444869 h 2983149"/>
                <a:gd name="connsiteX27" fmla="*/ 1465643 w 1865821"/>
                <a:gd name="connsiteY27" fmla="*/ 1477958 h 2983149"/>
                <a:gd name="connsiteX28" fmla="*/ 1490256 w 1865821"/>
                <a:gd name="connsiteY28" fmla="*/ 1518473 h 2983149"/>
                <a:gd name="connsiteX29" fmla="*/ 1507294 w 1865821"/>
                <a:gd name="connsiteY29" fmla="*/ 1549397 h 2983149"/>
                <a:gd name="connsiteX30" fmla="*/ 1520282 w 1865821"/>
                <a:gd name="connsiteY30" fmla="*/ 1567897 h 2983149"/>
                <a:gd name="connsiteX31" fmla="*/ 1534265 w 1865821"/>
                <a:gd name="connsiteY31" fmla="*/ 1590913 h 2983149"/>
                <a:gd name="connsiteX32" fmla="*/ 1569831 w 1865821"/>
                <a:gd name="connsiteY32" fmla="*/ 1638476 h 2983149"/>
                <a:gd name="connsiteX33" fmla="*/ 1592491 w 1865821"/>
                <a:gd name="connsiteY33" fmla="*/ 1670753 h 2983149"/>
                <a:gd name="connsiteX34" fmla="*/ 1602533 w 1865821"/>
                <a:gd name="connsiteY34" fmla="*/ 1682207 h 2983149"/>
                <a:gd name="connsiteX35" fmla="*/ 1613130 w 1865821"/>
                <a:gd name="connsiteY35" fmla="*/ 1696378 h 2983149"/>
                <a:gd name="connsiteX36" fmla="*/ 1664727 w 1865821"/>
                <a:gd name="connsiteY36" fmla="*/ 1753149 h 2983149"/>
                <a:gd name="connsiteX37" fmla="*/ 1689999 w 1865821"/>
                <a:gd name="connsiteY37" fmla="*/ 1781977 h 2983149"/>
                <a:gd name="connsiteX38" fmla="*/ 1695654 w 1865821"/>
                <a:gd name="connsiteY38" fmla="*/ 1787178 h 2983149"/>
                <a:gd name="connsiteX39" fmla="*/ 1701551 w 1865821"/>
                <a:gd name="connsiteY39" fmla="*/ 1793666 h 2983149"/>
                <a:gd name="connsiteX40" fmla="*/ 1798791 w 1865821"/>
                <a:gd name="connsiteY40" fmla="*/ 1882044 h 2983149"/>
                <a:gd name="connsiteX41" fmla="*/ 1798838 w 1865821"/>
                <a:gd name="connsiteY41" fmla="*/ 1882087 h 2983149"/>
                <a:gd name="connsiteX42" fmla="*/ 1865821 w 1865821"/>
                <a:gd name="connsiteY42" fmla="*/ 1932176 h 2983149"/>
                <a:gd name="connsiteX43" fmla="*/ 1102244 w 1865821"/>
                <a:gd name="connsiteY43" fmla="*/ 2983149 h 2983149"/>
                <a:gd name="connsiteX44" fmla="*/ 1018013 w 1865821"/>
                <a:gd name="connsiteY44" fmla="*/ 2920162 h 2983149"/>
                <a:gd name="connsiteX45" fmla="*/ 955550 w 1865821"/>
                <a:gd name="connsiteY45" fmla="*/ 2870838 h 2983149"/>
                <a:gd name="connsiteX46" fmla="*/ 787914 w 1865821"/>
                <a:gd name="connsiteY46" fmla="*/ 2718479 h 2983149"/>
                <a:gd name="connsiteX47" fmla="*/ 781485 w 1865821"/>
                <a:gd name="connsiteY47" fmla="*/ 2712508 h 2983149"/>
                <a:gd name="connsiteX48" fmla="*/ 618234 w 1865821"/>
                <a:gd name="connsiteY48" fmla="*/ 2532887 h 2983149"/>
                <a:gd name="connsiteX49" fmla="*/ 584277 w 1865821"/>
                <a:gd name="connsiteY49" fmla="*/ 2489477 h 2983149"/>
                <a:gd name="connsiteX50" fmla="*/ 476255 w 1865821"/>
                <a:gd name="connsiteY50" fmla="*/ 2345020 h 2983149"/>
                <a:gd name="connsiteX51" fmla="*/ 430961 w 1865821"/>
                <a:gd name="connsiteY51" fmla="*/ 2276697 h 2983149"/>
                <a:gd name="connsiteX52" fmla="*/ 350812 w 1865821"/>
                <a:gd name="connsiteY52" fmla="*/ 2144768 h 2983149"/>
                <a:gd name="connsiteX53" fmla="*/ 306682 w 1865821"/>
                <a:gd name="connsiteY53" fmla="*/ 2065414 h 2983149"/>
                <a:gd name="connsiteX54" fmla="*/ 238694 w 1865821"/>
                <a:gd name="connsiteY54" fmla="*/ 1924277 h 2983149"/>
                <a:gd name="connsiteX55" fmla="*/ 204394 w 1865821"/>
                <a:gd name="connsiteY55" fmla="*/ 1849491 h 2983149"/>
                <a:gd name="connsiteX56" fmla="*/ 127382 w 1865821"/>
                <a:gd name="connsiteY56" fmla="*/ 1639080 h 2983149"/>
                <a:gd name="connsiteX57" fmla="*/ 103340 w 1865821"/>
                <a:gd name="connsiteY57" fmla="*/ 1554055 h 2983149"/>
                <a:gd name="connsiteX58" fmla="*/ 64899 w 1865821"/>
                <a:gd name="connsiteY58" fmla="*/ 1404551 h 2983149"/>
                <a:gd name="connsiteX59" fmla="*/ 46903 w 1865821"/>
                <a:gd name="connsiteY59" fmla="*/ 1314998 h 2983149"/>
                <a:gd name="connsiteX60" fmla="*/ 21102 w 1865821"/>
                <a:gd name="connsiteY60" fmla="*/ 1145941 h 2983149"/>
                <a:gd name="connsiteX61" fmla="*/ 12716 w 1865821"/>
                <a:gd name="connsiteY61" fmla="*/ 1076862 h 2983149"/>
                <a:gd name="connsiteX62" fmla="*/ 0 w 1865821"/>
                <a:gd name="connsiteY62" fmla="*/ 825014 h 2983149"/>
                <a:gd name="connsiteX63" fmla="*/ 16 w 1865821"/>
                <a:gd name="connsiteY63" fmla="*/ 824562 h 2983149"/>
                <a:gd name="connsiteX64" fmla="*/ 12400 w 1865821"/>
                <a:gd name="connsiteY64" fmla="*/ 579301 h 2983149"/>
                <a:gd name="connsiteX65" fmla="*/ 20938 w 1865821"/>
                <a:gd name="connsiteY65" fmla="*/ 505028 h 2983149"/>
                <a:gd name="connsiteX66" fmla="*/ 46188 w 1865821"/>
                <a:gd name="connsiteY66" fmla="*/ 339582 h 2983149"/>
                <a:gd name="connsiteX67" fmla="*/ 64067 w 1865821"/>
                <a:gd name="connsiteY67" fmla="*/ 248579 h 2983149"/>
                <a:gd name="connsiteX68" fmla="*/ 101662 w 1865821"/>
                <a:gd name="connsiteY68" fmla="*/ 102364 h 2983149"/>
                <a:gd name="connsiteX69" fmla="*/ 127462 w 1865821"/>
                <a:gd name="connsiteY69" fmla="*/ 10595 h 2983149"/>
                <a:gd name="connsiteX70" fmla="*/ 131340 w 1865821"/>
                <a:gd name="connsiteY70" fmla="*/ 0 h 298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865821" h="2983149">
                  <a:moveTo>
                    <a:pt x="131340" y="0"/>
                  </a:moveTo>
                  <a:lnTo>
                    <a:pt x="1367685" y="401713"/>
                  </a:lnTo>
                  <a:lnTo>
                    <a:pt x="1361886" y="417559"/>
                  </a:lnTo>
                  <a:cubicBezTo>
                    <a:pt x="1348543" y="460457"/>
                    <a:pt x="1337252" y="504259"/>
                    <a:pt x="1328127" y="548850"/>
                  </a:cubicBezTo>
                  <a:lnTo>
                    <a:pt x="1321264" y="593822"/>
                  </a:lnTo>
                  <a:lnTo>
                    <a:pt x="1316080" y="616315"/>
                  </a:lnTo>
                  <a:lnTo>
                    <a:pt x="1314358" y="639069"/>
                  </a:lnTo>
                  <a:lnTo>
                    <a:pt x="1307367" y="684875"/>
                  </a:lnTo>
                  <a:cubicBezTo>
                    <a:pt x="1302690" y="730930"/>
                    <a:pt x="1300294" y="777659"/>
                    <a:pt x="1300294" y="824947"/>
                  </a:cubicBezTo>
                  <a:lnTo>
                    <a:pt x="1300294" y="824948"/>
                  </a:lnTo>
                  <a:lnTo>
                    <a:pt x="1300295" y="824956"/>
                  </a:lnTo>
                  <a:lnTo>
                    <a:pt x="1307367" y="965019"/>
                  </a:lnTo>
                  <a:lnTo>
                    <a:pt x="1308771" y="974219"/>
                  </a:lnTo>
                  <a:lnTo>
                    <a:pt x="1309228" y="982259"/>
                  </a:lnTo>
                  <a:lnTo>
                    <a:pt x="1316087" y="1022152"/>
                  </a:lnTo>
                  <a:lnTo>
                    <a:pt x="1328127" y="1101045"/>
                  </a:lnTo>
                  <a:lnTo>
                    <a:pt x="1332726" y="1118928"/>
                  </a:lnTo>
                  <a:lnTo>
                    <a:pt x="1335375" y="1134340"/>
                  </a:lnTo>
                  <a:lnTo>
                    <a:pt x="1346793" y="1173640"/>
                  </a:lnTo>
                  <a:lnTo>
                    <a:pt x="1361886" y="1232336"/>
                  </a:lnTo>
                  <a:lnTo>
                    <a:pt x="1371396" y="1258319"/>
                  </a:lnTo>
                  <a:lnTo>
                    <a:pt x="1377756" y="1280210"/>
                  </a:lnTo>
                  <a:lnTo>
                    <a:pt x="1391603" y="1313530"/>
                  </a:lnTo>
                  <a:lnTo>
                    <a:pt x="1407954" y="1358203"/>
                  </a:lnTo>
                  <a:lnTo>
                    <a:pt x="1424086" y="1391692"/>
                  </a:lnTo>
                  <a:lnTo>
                    <a:pt x="1435389" y="1418889"/>
                  </a:lnTo>
                  <a:lnTo>
                    <a:pt x="1449703" y="1444869"/>
                  </a:lnTo>
                  <a:lnTo>
                    <a:pt x="1465643" y="1477958"/>
                  </a:lnTo>
                  <a:lnTo>
                    <a:pt x="1490256" y="1518473"/>
                  </a:lnTo>
                  <a:lnTo>
                    <a:pt x="1507294" y="1549397"/>
                  </a:lnTo>
                  <a:lnTo>
                    <a:pt x="1520282" y="1567897"/>
                  </a:lnTo>
                  <a:lnTo>
                    <a:pt x="1534265" y="1590913"/>
                  </a:lnTo>
                  <a:lnTo>
                    <a:pt x="1569831" y="1638476"/>
                  </a:lnTo>
                  <a:lnTo>
                    <a:pt x="1592491" y="1670753"/>
                  </a:lnTo>
                  <a:lnTo>
                    <a:pt x="1602533" y="1682207"/>
                  </a:lnTo>
                  <a:lnTo>
                    <a:pt x="1613130" y="1696378"/>
                  </a:lnTo>
                  <a:lnTo>
                    <a:pt x="1664727" y="1753149"/>
                  </a:lnTo>
                  <a:lnTo>
                    <a:pt x="1689999" y="1781977"/>
                  </a:lnTo>
                  <a:lnTo>
                    <a:pt x="1695654" y="1787178"/>
                  </a:lnTo>
                  <a:lnTo>
                    <a:pt x="1701551" y="1793666"/>
                  </a:lnTo>
                  <a:lnTo>
                    <a:pt x="1798791" y="1882044"/>
                  </a:lnTo>
                  <a:lnTo>
                    <a:pt x="1798838" y="1882087"/>
                  </a:lnTo>
                  <a:lnTo>
                    <a:pt x="1865821" y="1932176"/>
                  </a:lnTo>
                  <a:lnTo>
                    <a:pt x="1102244" y="2983149"/>
                  </a:lnTo>
                  <a:lnTo>
                    <a:pt x="1018013" y="2920162"/>
                  </a:lnTo>
                  <a:lnTo>
                    <a:pt x="955550" y="2870838"/>
                  </a:lnTo>
                  <a:lnTo>
                    <a:pt x="787914" y="2718479"/>
                  </a:lnTo>
                  <a:lnTo>
                    <a:pt x="781485" y="2712508"/>
                  </a:lnTo>
                  <a:lnTo>
                    <a:pt x="618234" y="2532887"/>
                  </a:lnTo>
                  <a:lnTo>
                    <a:pt x="584277" y="2489477"/>
                  </a:lnTo>
                  <a:lnTo>
                    <a:pt x="476255" y="2345020"/>
                  </a:lnTo>
                  <a:lnTo>
                    <a:pt x="430961" y="2276697"/>
                  </a:lnTo>
                  <a:lnTo>
                    <a:pt x="350812" y="2144768"/>
                  </a:lnTo>
                  <a:lnTo>
                    <a:pt x="306682" y="2065414"/>
                  </a:lnTo>
                  <a:lnTo>
                    <a:pt x="238694" y="1924277"/>
                  </a:lnTo>
                  <a:lnTo>
                    <a:pt x="204394" y="1849491"/>
                  </a:lnTo>
                  <a:lnTo>
                    <a:pt x="127382" y="1639080"/>
                  </a:lnTo>
                  <a:lnTo>
                    <a:pt x="103340" y="1554055"/>
                  </a:lnTo>
                  <a:lnTo>
                    <a:pt x="64899" y="1404551"/>
                  </a:lnTo>
                  <a:lnTo>
                    <a:pt x="46903" y="1314998"/>
                  </a:lnTo>
                  <a:lnTo>
                    <a:pt x="21102" y="1145941"/>
                  </a:lnTo>
                  <a:lnTo>
                    <a:pt x="12716" y="1076862"/>
                  </a:lnTo>
                  <a:lnTo>
                    <a:pt x="0" y="825014"/>
                  </a:lnTo>
                  <a:lnTo>
                    <a:pt x="16" y="824562"/>
                  </a:lnTo>
                  <a:lnTo>
                    <a:pt x="12400" y="579301"/>
                  </a:lnTo>
                  <a:lnTo>
                    <a:pt x="20938" y="505028"/>
                  </a:lnTo>
                  <a:lnTo>
                    <a:pt x="46188" y="339582"/>
                  </a:lnTo>
                  <a:lnTo>
                    <a:pt x="64067" y="248579"/>
                  </a:lnTo>
                  <a:lnTo>
                    <a:pt x="101662" y="102364"/>
                  </a:lnTo>
                  <a:lnTo>
                    <a:pt x="127462" y="10595"/>
                  </a:lnTo>
                  <a:lnTo>
                    <a:pt x="131340"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6" name="Freeform: Shape 45">
              <a:extLst>
                <a:ext uri="{FF2B5EF4-FFF2-40B4-BE49-F238E27FC236}">
                  <a16:creationId xmlns:a16="http://schemas.microsoft.com/office/drawing/2014/main" id="{C28CFD9D-3BC4-0530-F79B-6B08A4CC270C}"/>
                </a:ext>
              </a:extLst>
            </p:cNvPr>
            <p:cNvSpPr/>
            <p:nvPr/>
          </p:nvSpPr>
          <p:spPr>
            <a:xfrm>
              <a:off x="3477418" y="868280"/>
              <a:ext cx="2538930" cy="2247214"/>
            </a:xfrm>
            <a:custGeom>
              <a:avLst/>
              <a:gdLst>
                <a:gd name="connsiteX0" fmla="*/ 2538929 w 2538929"/>
                <a:gd name="connsiteY0" fmla="*/ 0 h 2247213"/>
                <a:gd name="connsiteX1" fmla="*/ 2538929 w 2538929"/>
                <a:gd name="connsiteY1" fmla="*/ 1300473 h 2247213"/>
                <a:gd name="connsiteX2" fmla="*/ 2538928 w 2538929"/>
                <a:gd name="connsiteY2" fmla="*/ 1300473 h 2247213"/>
                <a:gd name="connsiteX3" fmla="*/ 2538925 w 2538929"/>
                <a:gd name="connsiteY3" fmla="*/ 1300473 h 2247213"/>
                <a:gd name="connsiteX4" fmla="*/ 2433523 w 2538929"/>
                <a:gd name="connsiteY4" fmla="*/ 1304468 h 2247213"/>
                <a:gd name="connsiteX5" fmla="*/ 2412686 w 2538929"/>
                <a:gd name="connsiteY5" fmla="*/ 1306848 h 2247213"/>
                <a:gd name="connsiteX6" fmla="*/ 2398856 w 2538929"/>
                <a:gd name="connsiteY6" fmla="*/ 1307546 h 2247213"/>
                <a:gd name="connsiteX7" fmla="*/ 2375906 w 2538929"/>
                <a:gd name="connsiteY7" fmla="*/ 1311049 h 2247213"/>
                <a:gd name="connsiteX8" fmla="*/ 2330296 w 2538929"/>
                <a:gd name="connsiteY8" fmla="*/ 1316258 h 2247213"/>
                <a:gd name="connsiteX9" fmla="*/ 2307798 w 2538929"/>
                <a:gd name="connsiteY9" fmla="*/ 1321443 h 2247213"/>
                <a:gd name="connsiteX10" fmla="*/ 2262831 w 2538929"/>
                <a:gd name="connsiteY10" fmla="*/ 1328306 h 2247213"/>
                <a:gd name="connsiteX11" fmla="*/ 2005672 w 2538929"/>
                <a:gd name="connsiteY11" fmla="*/ 1408133 h 2247213"/>
                <a:gd name="connsiteX12" fmla="*/ 1965483 w 2538929"/>
                <a:gd name="connsiteY12" fmla="*/ 1427493 h 2247213"/>
                <a:gd name="connsiteX13" fmla="*/ 1944989 w 2538929"/>
                <a:gd name="connsiteY13" fmla="*/ 1435568 h 2247213"/>
                <a:gd name="connsiteX14" fmla="*/ 1925669 w 2538929"/>
                <a:gd name="connsiteY14" fmla="*/ 1446672 h 2247213"/>
                <a:gd name="connsiteX15" fmla="*/ 1885917 w 2538929"/>
                <a:gd name="connsiteY15" fmla="*/ 1465822 h 2247213"/>
                <a:gd name="connsiteX16" fmla="*/ 1667497 w 2538929"/>
                <a:gd name="connsiteY16" fmla="*/ 1613309 h 2247213"/>
                <a:gd name="connsiteX17" fmla="*/ 1634993 w 2538929"/>
                <a:gd name="connsiteY17" fmla="*/ 1642851 h 2247213"/>
                <a:gd name="connsiteX18" fmla="*/ 1617789 w 2538929"/>
                <a:gd name="connsiteY18" fmla="*/ 1656368 h 2247213"/>
                <a:gd name="connsiteX19" fmla="*/ 1602662 w 2538929"/>
                <a:gd name="connsiteY19" fmla="*/ 1672235 h 2247213"/>
                <a:gd name="connsiteX20" fmla="*/ 1570210 w 2538929"/>
                <a:gd name="connsiteY20" fmla="*/ 1701730 h 2247213"/>
                <a:gd name="connsiteX21" fmla="*/ 1402924 w 2538929"/>
                <a:gd name="connsiteY21" fmla="*/ 1904482 h 2247213"/>
                <a:gd name="connsiteX22" fmla="*/ 1380107 w 2538929"/>
                <a:gd name="connsiteY22" fmla="*/ 1942040 h 2247213"/>
                <a:gd name="connsiteX23" fmla="*/ 1367291 w 2538929"/>
                <a:gd name="connsiteY23" fmla="*/ 1960067 h 2247213"/>
                <a:gd name="connsiteX24" fmla="*/ 1357303 w 2538929"/>
                <a:gd name="connsiteY24" fmla="*/ 1979576 h 2247213"/>
                <a:gd name="connsiteX25" fmla="*/ 1334302 w 2538929"/>
                <a:gd name="connsiteY25" fmla="*/ 2017437 h 2247213"/>
                <a:gd name="connsiteX26" fmla="*/ 1276613 w 2538929"/>
                <a:gd name="connsiteY26" fmla="*/ 2137192 h 2247213"/>
                <a:gd name="connsiteX27" fmla="*/ 1236345 w 2538929"/>
                <a:gd name="connsiteY27" fmla="*/ 2247213 h 2247213"/>
                <a:gd name="connsiteX28" fmla="*/ 0 w 2538929"/>
                <a:gd name="connsiteY28" fmla="*/ 1845500 h 2247213"/>
                <a:gd name="connsiteX29" fmla="*/ 74587 w 2538929"/>
                <a:gd name="connsiteY29" fmla="*/ 1641712 h 2247213"/>
                <a:gd name="connsiteX30" fmla="*/ 163498 w 2538929"/>
                <a:gd name="connsiteY30" fmla="*/ 1450041 h 2247213"/>
                <a:gd name="connsiteX31" fmla="*/ 262163 w 2538929"/>
                <a:gd name="connsiteY31" fmla="*/ 1275241 h 2247213"/>
                <a:gd name="connsiteX32" fmla="*/ 303360 w 2538929"/>
                <a:gd name="connsiteY32" fmla="*/ 1212647 h 2247213"/>
                <a:gd name="connsiteX33" fmla="*/ 372587 w 2538929"/>
                <a:gd name="connsiteY33" fmla="*/ 1109886 h 2247213"/>
                <a:gd name="connsiteX34" fmla="*/ 430062 w 2538929"/>
                <a:gd name="connsiteY34" fmla="*/ 1034917 h 2247213"/>
                <a:gd name="connsiteX35" fmla="*/ 495067 w 2538929"/>
                <a:gd name="connsiteY35" fmla="*/ 953072 h 2247213"/>
                <a:gd name="connsiteX36" fmla="*/ 561072 w 2538929"/>
                <a:gd name="connsiteY36" fmla="*/ 878685 h 2247213"/>
                <a:gd name="connsiteX37" fmla="*/ 629546 w 2538929"/>
                <a:gd name="connsiteY37" fmla="*/ 805053 h 2247213"/>
                <a:gd name="connsiteX38" fmla="*/ 699758 w 2538929"/>
                <a:gd name="connsiteY38" fmla="*/ 736496 h 2247213"/>
                <a:gd name="connsiteX39" fmla="*/ 775961 w 2538929"/>
                <a:gd name="connsiteY39" fmla="*/ 666331 h 2247213"/>
                <a:gd name="connsiteX40" fmla="*/ 847007 w 2538929"/>
                <a:gd name="connsiteY40" fmla="*/ 606259 h 2247213"/>
                <a:gd name="connsiteX41" fmla="*/ 934079 w 2538929"/>
                <a:gd name="connsiteY41" fmla="*/ 537713 h 2247213"/>
                <a:gd name="connsiteX42" fmla="*/ 1003186 w 2538929"/>
                <a:gd name="connsiteY42" fmla="*/ 487314 h 2247213"/>
                <a:gd name="connsiteX43" fmla="*/ 1103313 w 2538929"/>
                <a:gd name="connsiteY43" fmla="*/ 420312 h 2247213"/>
                <a:gd name="connsiteX44" fmla="*/ 1168421 w 2538929"/>
                <a:gd name="connsiteY44" fmla="*/ 379672 h 2247213"/>
                <a:gd name="connsiteX45" fmla="*/ 1282750 w 2538929"/>
                <a:gd name="connsiteY45" fmla="*/ 315350 h 2247213"/>
                <a:gd name="connsiteX46" fmla="*/ 1342595 w 2538929"/>
                <a:gd name="connsiteY46" fmla="*/ 283779 h 2247213"/>
                <a:gd name="connsiteX47" fmla="*/ 1470915 w 2538929"/>
                <a:gd name="connsiteY47" fmla="*/ 224157 h 2247213"/>
                <a:gd name="connsiteX48" fmla="*/ 1525458 w 2538929"/>
                <a:gd name="connsiteY48" fmla="*/ 200299 h 2247213"/>
                <a:gd name="connsiteX49" fmla="*/ 1666008 w 2538929"/>
                <a:gd name="connsiteY49" fmla="*/ 147867 h 2247213"/>
                <a:gd name="connsiteX50" fmla="*/ 1716416 w 2538929"/>
                <a:gd name="connsiteY50" fmla="*/ 130116 h 2247213"/>
                <a:gd name="connsiteX51" fmla="*/ 1866042 w 2538929"/>
                <a:gd name="connsiteY51" fmla="*/ 87306 h 2247213"/>
                <a:gd name="connsiteX52" fmla="*/ 1914630 w 2538929"/>
                <a:gd name="connsiteY52" fmla="*/ 74162 h 2247213"/>
                <a:gd name="connsiteX53" fmla="*/ 2069685 w 2538929"/>
                <a:gd name="connsiteY53" fmla="*/ 42778 h 2247213"/>
                <a:gd name="connsiteX54" fmla="*/ 2118870 w 2538929"/>
                <a:gd name="connsiteY54" fmla="*/ 33359 h 2247213"/>
                <a:gd name="connsiteX55" fmla="*/ 2279283 w 2538929"/>
                <a:gd name="connsiteY55" fmla="*/ 13989 h 2247213"/>
                <a:gd name="connsiteX56" fmla="*/ 2327594 w 2538929"/>
                <a:gd name="connsiteY56" fmla="*/ 8471 h 2247213"/>
                <a:gd name="connsiteX57" fmla="*/ 2535836 w 2538929"/>
                <a:gd name="connsiteY57" fmla="*/ 117 h 2247213"/>
                <a:gd name="connsiteX58" fmla="*/ 2538929 w 2538929"/>
                <a:gd name="connsiteY58" fmla="*/ 0 h 224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538929" h="2247213">
                  <a:moveTo>
                    <a:pt x="2538929" y="0"/>
                  </a:moveTo>
                  <a:lnTo>
                    <a:pt x="2538929" y="1300473"/>
                  </a:lnTo>
                  <a:lnTo>
                    <a:pt x="2538928" y="1300473"/>
                  </a:lnTo>
                  <a:lnTo>
                    <a:pt x="2538925" y="1300473"/>
                  </a:lnTo>
                  <a:lnTo>
                    <a:pt x="2433523" y="1304468"/>
                  </a:lnTo>
                  <a:lnTo>
                    <a:pt x="2412686" y="1306848"/>
                  </a:lnTo>
                  <a:lnTo>
                    <a:pt x="2398856" y="1307546"/>
                  </a:lnTo>
                  <a:lnTo>
                    <a:pt x="2375906" y="1311049"/>
                  </a:lnTo>
                  <a:lnTo>
                    <a:pt x="2330296" y="1316258"/>
                  </a:lnTo>
                  <a:lnTo>
                    <a:pt x="2307798" y="1321443"/>
                  </a:lnTo>
                  <a:lnTo>
                    <a:pt x="2262831" y="1328306"/>
                  </a:lnTo>
                  <a:cubicBezTo>
                    <a:pt x="2173649" y="1346556"/>
                    <a:pt x="2087623" y="1373470"/>
                    <a:pt x="2005672" y="1408133"/>
                  </a:cubicBezTo>
                  <a:lnTo>
                    <a:pt x="1965483" y="1427493"/>
                  </a:lnTo>
                  <a:lnTo>
                    <a:pt x="1944989" y="1435568"/>
                  </a:lnTo>
                  <a:lnTo>
                    <a:pt x="1925669" y="1446672"/>
                  </a:lnTo>
                  <a:lnTo>
                    <a:pt x="1885917" y="1465822"/>
                  </a:lnTo>
                  <a:cubicBezTo>
                    <a:pt x="1808271" y="1508002"/>
                    <a:pt x="1735158" y="1557470"/>
                    <a:pt x="1667497" y="1613309"/>
                  </a:cubicBezTo>
                  <a:lnTo>
                    <a:pt x="1634993" y="1642851"/>
                  </a:lnTo>
                  <a:lnTo>
                    <a:pt x="1617789" y="1656368"/>
                  </a:lnTo>
                  <a:lnTo>
                    <a:pt x="1602662" y="1672235"/>
                  </a:lnTo>
                  <a:lnTo>
                    <a:pt x="1570210" y="1701730"/>
                  </a:lnTo>
                  <a:cubicBezTo>
                    <a:pt x="1508231" y="1763709"/>
                    <a:pt x="1452163" y="1831599"/>
                    <a:pt x="1402924" y="1904482"/>
                  </a:cubicBezTo>
                  <a:lnTo>
                    <a:pt x="1380107" y="1942040"/>
                  </a:lnTo>
                  <a:lnTo>
                    <a:pt x="1367291" y="1960067"/>
                  </a:lnTo>
                  <a:lnTo>
                    <a:pt x="1357303" y="1979576"/>
                  </a:lnTo>
                  <a:lnTo>
                    <a:pt x="1334302" y="2017437"/>
                  </a:lnTo>
                  <a:cubicBezTo>
                    <a:pt x="1313212" y="2056260"/>
                    <a:pt x="1293944" y="2096217"/>
                    <a:pt x="1276613" y="2137192"/>
                  </a:cubicBezTo>
                  <a:lnTo>
                    <a:pt x="1236345" y="2247213"/>
                  </a:lnTo>
                  <a:lnTo>
                    <a:pt x="0" y="1845500"/>
                  </a:lnTo>
                  <a:lnTo>
                    <a:pt x="74587" y="1641712"/>
                  </a:lnTo>
                  <a:lnTo>
                    <a:pt x="163498" y="1450041"/>
                  </a:lnTo>
                  <a:lnTo>
                    <a:pt x="262163" y="1275241"/>
                  </a:lnTo>
                  <a:lnTo>
                    <a:pt x="303360" y="1212647"/>
                  </a:lnTo>
                  <a:lnTo>
                    <a:pt x="372587" y="1109886"/>
                  </a:lnTo>
                  <a:lnTo>
                    <a:pt x="430062" y="1034917"/>
                  </a:lnTo>
                  <a:lnTo>
                    <a:pt x="495067" y="953072"/>
                  </a:lnTo>
                  <a:lnTo>
                    <a:pt x="561072" y="878685"/>
                  </a:lnTo>
                  <a:lnTo>
                    <a:pt x="629546" y="805053"/>
                  </a:lnTo>
                  <a:lnTo>
                    <a:pt x="699758" y="736496"/>
                  </a:lnTo>
                  <a:lnTo>
                    <a:pt x="775961" y="666331"/>
                  </a:lnTo>
                  <a:lnTo>
                    <a:pt x="847007" y="606259"/>
                  </a:lnTo>
                  <a:lnTo>
                    <a:pt x="934079" y="537713"/>
                  </a:lnTo>
                  <a:lnTo>
                    <a:pt x="1003186" y="487314"/>
                  </a:lnTo>
                  <a:lnTo>
                    <a:pt x="1103313" y="420312"/>
                  </a:lnTo>
                  <a:lnTo>
                    <a:pt x="1168421" y="379672"/>
                  </a:lnTo>
                  <a:lnTo>
                    <a:pt x="1282750" y="315350"/>
                  </a:lnTo>
                  <a:lnTo>
                    <a:pt x="1342595" y="283779"/>
                  </a:lnTo>
                  <a:lnTo>
                    <a:pt x="1470915" y="224157"/>
                  </a:lnTo>
                  <a:lnTo>
                    <a:pt x="1525458" y="200299"/>
                  </a:lnTo>
                  <a:lnTo>
                    <a:pt x="1666008" y="147867"/>
                  </a:lnTo>
                  <a:lnTo>
                    <a:pt x="1716416" y="130116"/>
                  </a:lnTo>
                  <a:lnTo>
                    <a:pt x="1866042" y="87306"/>
                  </a:lnTo>
                  <a:lnTo>
                    <a:pt x="1914630" y="74162"/>
                  </a:lnTo>
                  <a:lnTo>
                    <a:pt x="2069685" y="42778"/>
                  </a:lnTo>
                  <a:lnTo>
                    <a:pt x="2118870" y="33359"/>
                  </a:lnTo>
                  <a:lnTo>
                    <a:pt x="2279283" y="13989"/>
                  </a:lnTo>
                  <a:lnTo>
                    <a:pt x="2327594" y="8471"/>
                  </a:lnTo>
                  <a:lnTo>
                    <a:pt x="2535836" y="117"/>
                  </a:lnTo>
                  <a:lnTo>
                    <a:pt x="2538929"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7" name="Freeform: Shape 46">
              <a:extLst>
                <a:ext uri="{FF2B5EF4-FFF2-40B4-BE49-F238E27FC236}">
                  <a16:creationId xmlns:a16="http://schemas.microsoft.com/office/drawing/2014/main" id="{FA2EB82A-2BEC-727F-6FD9-5F4C368C72A5}"/>
                </a:ext>
              </a:extLst>
            </p:cNvPr>
            <p:cNvSpPr/>
            <p:nvPr/>
          </p:nvSpPr>
          <p:spPr>
            <a:xfrm>
              <a:off x="5444407" y="845474"/>
              <a:ext cx="1140788" cy="45720"/>
            </a:xfrm>
            <a:custGeom>
              <a:avLst/>
              <a:gdLst>
                <a:gd name="connsiteX0" fmla="*/ 3093 w 3093"/>
                <a:gd name="connsiteY0" fmla="*/ 0 h 124"/>
                <a:gd name="connsiteX1" fmla="*/ 3093 w 3093"/>
                <a:gd name="connsiteY1" fmla="*/ 7 h 124"/>
                <a:gd name="connsiteX2" fmla="*/ 0 w 3093"/>
                <a:gd name="connsiteY2" fmla="*/ 124 h 124"/>
                <a:gd name="connsiteX3" fmla="*/ 3093 w 3093"/>
                <a:gd name="connsiteY3" fmla="*/ 0 h 124"/>
              </a:gdLst>
              <a:ahLst/>
              <a:cxnLst>
                <a:cxn ang="0">
                  <a:pos x="connsiteX0" y="connsiteY0"/>
                </a:cxn>
                <a:cxn ang="0">
                  <a:pos x="connsiteX1" y="connsiteY1"/>
                </a:cxn>
                <a:cxn ang="0">
                  <a:pos x="connsiteX2" y="connsiteY2"/>
                </a:cxn>
                <a:cxn ang="0">
                  <a:pos x="connsiteX3" y="connsiteY3"/>
                </a:cxn>
              </a:cxnLst>
              <a:rect l="l" t="t" r="r" b="b"/>
              <a:pathLst>
                <a:path w="3093" h="124">
                  <a:moveTo>
                    <a:pt x="3093" y="0"/>
                  </a:moveTo>
                  <a:lnTo>
                    <a:pt x="3093" y="7"/>
                  </a:lnTo>
                  <a:lnTo>
                    <a:pt x="0" y="124"/>
                  </a:lnTo>
                  <a:lnTo>
                    <a:pt x="309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8" name="Freeform: Shape 47">
              <a:extLst>
                <a:ext uri="{FF2B5EF4-FFF2-40B4-BE49-F238E27FC236}">
                  <a16:creationId xmlns:a16="http://schemas.microsoft.com/office/drawing/2014/main" id="{3969F35A-B72E-A913-F565-9FE2859DD4E4}"/>
                </a:ext>
              </a:extLst>
            </p:cNvPr>
            <p:cNvSpPr/>
            <p:nvPr/>
          </p:nvSpPr>
          <p:spPr>
            <a:xfrm>
              <a:off x="3477416" y="868272"/>
              <a:ext cx="5209566" cy="5340910"/>
            </a:xfrm>
            <a:custGeom>
              <a:avLst/>
              <a:gdLst>
                <a:gd name="connsiteX0" fmla="*/ 2539111 w 5209566"/>
                <a:gd name="connsiteY0" fmla="*/ 0 h 5340910"/>
                <a:gd name="connsiteX1" fmla="*/ 2539111 w 5209566"/>
                <a:gd name="connsiteY1" fmla="*/ 1300480 h 5340910"/>
                <a:gd name="connsiteX2" fmla="*/ 1169136 w 5209566"/>
                <a:gd name="connsiteY2" fmla="*/ 2670455 h 5340910"/>
                <a:gd name="connsiteX3" fmla="*/ 2539111 w 5209566"/>
                <a:gd name="connsiteY3" fmla="*/ 4040430 h 5340910"/>
                <a:gd name="connsiteX4" fmla="*/ 3909086 w 5209566"/>
                <a:gd name="connsiteY4" fmla="*/ 2670455 h 5340910"/>
                <a:gd name="connsiteX5" fmla="*/ 5209566 w 5209566"/>
                <a:gd name="connsiteY5" fmla="*/ 2670455 h 5340910"/>
                <a:gd name="connsiteX6" fmla="*/ 2539111 w 5209566"/>
                <a:gd name="connsiteY6" fmla="*/ 5340910 h 5340910"/>
                <a:gd name="connsiteX7" fmla="*/ 1046034 w 5209566"/>
                <a:gd name="connsiteY7" fmla="*/ 4884838 h 5340910"/>
                <a:gd name="connsiteX8" fmla="*/ 970904 w 5209566"/>
                <a:gd name="connsiteY8" fmla="*/ 4828657 h 5340910"/>
                <a:gd name="connsiteX9" fmla="*/ 1734481 w 5209566"/>
                <a:gd name="connsiteY9" fmla="*/ 3777684 h 5340910"/>
                <a:gd name="connsiteX10" fmla="*/ 1667498 w 5209566"/>
                <a:gd name="connsiteY10" fmla="*/ 3727595 h 5340910"/>
                <a:gd name="connsiteX11" fmla="*/ 1667451 w 5209566"/>
                <a:gd name="connsiteY11" fmla="*/ 3727552 h 5340910"/>
                <a:gd name="connsiteX12" fmla="*/ 1570211 w 5209566"/>
                <a:gd name="connsiteY12" fmla="*/ 3639174 h 5340910"/>
                <a:gd name="connsiteX13" fmla="*/ 1564314 w 5209566"/>
                <a:gd name="connsiteY13" fmla="*/ 3632686 h 5340910"/>
                <a:gd name="connsiteX14" fmla="*/ 1558659 w 5209566"/>
                <a:gd name="connsiteY14" fmla="*/ 3627485 h 5340910"/>
                <a:gd name="connsiteX15" fmla="*/ 1533387 w 5209566"/>
                <a:gd name="connsiteY15" fmla="*/ 3598657 h 5340910"/>
                <a:gd name="connsiteX16" fmla="*/ 1481790 w 5209566"/>
                <a:gd name="connsiteY16" fmla="*/ 3541886 h 5340910"/>
                <a:gd name="connsiteX17" fmla="*/ 1471193 w 5209566"/>
                <a:gd name="connsiteY17" fmla="*/ 3527715 h 5340910"/>
                <a:gd name="connsiteX18" fmla="*/ 1461151 w 5209566"/>
                <a:gd name="connsiteY18" fmla="*/ 3516261 h 5340910"/>
                <a:gd name="connsiteX19" fmla="*/ 1438491 w 5209566"/>
                <a:gd name="connsiteY19" fmla="*/ 3483984 h 5340910"/>
                <a:gd name="connsiteX20" fmla="*/ 1402925 w 5209566"/>
                <a:gd name="connsiteY20" fmla="*/ 3436421 h 5340910"/>
                <a:gd name="connsiteX21" fmla="*/ 1388942 w 5209566"/>
                <a:gd name="connsiteY21" fmla="*/ 3413405 h 5340910"/>
                <a:gd name="connsiteX22" fmla="*/ 1375954 w 5209566"/>
                <a:gd name="connsiteY22" fmla="*/ 3394905 h 5340910"/>
                <a:gd name="connsiteX23" fmla="*/ 1358916 w 5209566"/>
                <a:gd name="connsiteY23" fmla="*/ 3363981 h 5340910"/>
                <a:gd name="connsiteX24" fmla="*/ 1334303 w 5209566"/>
                <a:gd name="connsiteY24" fmla="*/ 3323466 h 5340910"/>
                <a:gd name="connsiteX25" fmla="*/ 1318363 w 5209566"/>
                <a:gd name="connsiteY25" fmla="*/ 3290377 h 5340910"/>
                <a:gd name="connsiteX26" fmla="*/ 1304049 w 5209566"/>
                <a:gd name="connsiteY26" fmla="*/ 3264397 h 5340910"/>
                <a:gd name="connsiteX27" fmla="*/ 1292746 w 5209566"/>
                <a:gd name="connsiteY27" fmla="*/ 3237200 h 5340910"/>
                <a:gd name="connsiteX28" fmla="*/ 1276614 w 5209566"/>
                <a:gd name="connsiteY28" fmla="*/ 3203711 h 5340910"/>
                <a:gd name="connsiteX29" fmla="*/ 1260263 w 5209566"/>
                <a:gd name="connsiteY29" fmla="*/ 3159038 h 5340910"/>
                <a:gd name="connsiteX30" fmla="*/ 1246416 w 5209566"/>
                <a:gd name="connsiteY30" fmla="*/ 3125718 h 5340910"/>
                <a:gd name="connsiteX31" fmla="*/ 1240056 w 5209566"/>
                <a:gd name="connsiteY31" fmla="*/ 3103827 h 5340910"/>
                <a:gd name="connsiteX32" fmla="*/ 1230546 w 5209566"/>
                <a:gd name="connsiteY32" fmla="*/ 3077844 h 5340910"/>
                <a:gd name="connsiteX33" fmla="*/ 1215453 w 5209566"/>
                <a:gd name="connsiteY33" fmla="*/ 3019148 h 5340910"/>
                <a:gd name="connsiteX34" fmla="*/ 1204035 w 5209566"/>
                <a:gd name="connsiteY34" fmla="*/ 2979848 h 5340910"/>
                <a:gd name="connsiteX35" fmla="*/ 1201386 w 5209566"/>
                <a:gd name="connsiteY35" fmla="*/ 2964436 h 5340910"/>
                <a:gd name="connsiteX36" fmla="*/ 1196787 w 5209566"/>
                <a:gd name="connsiteY36" fmla="*/ 2946553 h 5340910"/>
                <a:gd name="connsiteX37" fmla="*/ 1184747 w 5209566"/>
                <a:gd name="connsiteY37" fmla="*/ 2867660 h 5340910"/>
                <a:gd name="connsiteX38" fmla="*/ 1177888 w 5209566"/>
                <a:gd name="connsiteY38" fmla="*/ 2827767 h 5340910"/>
                <a:gd name="connsiteX39" fmla="*/ 1177431 w 5209566"/>
                <a:gd name="connsiteY39" fmla="*/ 2819727 h 5340910"/>
                <a:gd name="connsiteX40" fmla="*/ 1176027 w 5209566"/>
                <a:gd name="connsiteY40" fmla="*/ 2810527 h 5340910"/>
                <a:gd name="connsiteX41" fmla="*/ 1168955 w 5209566"/>
                <a:gd name="connsiteY41" fmla="*/ 2670464 h 5340910"/>
                <a:gd name="connsiteX42" fmla="*/ 1168954 w 5209566"/>
                <a:gd name="connsiteY42" fmla="*/ 2670456 h 5340910"/>
                <a:gd name="connsiteX43" fmla="*/ 1168954 w 5209566"/>
                <a:gd name="connsiteY43" fmla="*/ 2670455 h 5340910"/>
                <a:gd name="connsiteX44" fmla="*/ 1176027 w 5209566"/>
                <a:gd name="connsiteY44" fmla="*/ 2530383 h 5340910"/>
                <a:gd name="connsiteX45" fmla="*/ 1183018 w 5209566"/>
                <a:gd name="connsiteY45" fmla="*/ 2484577 h 5340910"/>
                <a:gd name="connsiteX46" fmla="*/ 1184740 w 5209566"/>
                <a:gd name="connsiteY46" fmla="*/ 2461823 h 5340910"/>
                <a:gd name="connsiteX47" fmla="*/ 1189924 w 5209566"/>
                <a:gd name="connsiteY47" fmla="*/ 2439330 h 5340910"/>
                <a:gd name="connsiteX48" fmla="*/ 1196787 w 5209566"/>
                <a:gd name="connsiteY48" fmla="*/ 2394358 h 5340910"/>
                <a:gd name="connsiteX49" fmla="*/ 1230546 w 5209566"/>
                <a:gd name="connsiteY49" fmla="*/ 2263067 h 5340910"/>
                <a:gd name="connsiteX50" fmla="*/ 1236345 w 5209566"/>
                <a:gd name="connsiteY50" fmla="*/ 2247221 h 5340910"/>
                <a:gd name="connsiteX51" fmla="*/ 0 w 5209566"/>
                <a:gd name="connsiteY51" fmla="*/ 1845508 h 5340910"/>
                <a:gd name="connsiteX52" fmla="*/ 1 w 5209566"/>
                <a:gd name="connsiteY52" fmla="*/ 1845507 h 5340910"/>
                <a:gd name="connsiteX53" fmla="*/ 1236346 w 5209566"/>
                <a:gd name="connsiteY53" fmla="*/ 2247220 h 5340910"/>
                <a:gd name="connsiteX54" fmla="*/ 1276614 w 5209566"/>
                <a:gd name="connsiteY54" fmla="*/ 2137199 h 5340910"/>
                <a:gd name="connsiteX55" fmla="*/ 1334303 w 5209566"/>
                <a:gd name="connsiteY55" fmla="*/ 2017444 h 5340910"/>
                <a:gd name="connsiteX56" fmla="*/ 1357304 w 5209566"/>
                <a:gd name="connsiteY56" fmla="*/ 1979583 h 5340910"/>
                <a:gd name="connsiteX57" fmla="*/ 1367292 w 5209566"/>
                <a:gd name="connsiteY57" fmla="*/ 1960074 h 5340910"/>
                <a:gd name="connsiteX58" fmla="*/ 1380108 w 5209566"/>
                <a:gd name="connsiteY58" fmla="*/ 1942047 h 5340910"/>
                <a:gd name="connsiteX59" fmla="*/ 1402925 w 5209566"/>
                <a:gd name="connsiteY59" fmla="*/ 1904489 h 5340910"/>
                <a:gd name="connsiteX60" fmla="*/ 1570211 w 5209566"/>
                <a:gd name="connsiteY60" fmla="*/ 1701737 h 5340910"/>
                <a:gd name="connsiteX61" fmla="*/ 1602663 w 5209566"/>
                <a:gd name="connsiteY61" fmla="*/ 1672242 h 5340910"/>
                <a:gd name="connsiteX62" fmla="*/ 1617790 w 5209566"/>
                <a:gd name="connsiteY62" fmla="*/ 1656375 h 5340910"/>
                <a:gd name="connsiteX63" fmla="*/ 1634994 w 5209566"/>
                <a:gd name="connsiteY63" fmla="*/ 1642858 h 5340910"/>
                <a:gd name="connsiteX64" fmla="*/ 1667498 w 5209566"/>
                <a:gd name="connsiteY64" fmla="*/ 1613316 h 5340910"/>
                <a:gd name="connsiteX65" fmla="*/ 1885918 w 5209566"/>
                <a:gd name="connsiteY65" fmla="*/ 1465829 h 5340910"/>
                <a:gd name="connsiteX66" fmla="*/ 1925670 w 5209566"/>
                <a:gd name="connsiteY66" fmla="*/ 1446679 h 5340910"/>
                <a:gd name="connsiteX67" fmla="*/ 1944990 w 5209566"/>
                <a:gd name="connsiteY67" fmla="*/ 1435575 h 5340910"/>
                <a:gd name="connsiteX68" fmla="*/ 1965484 w 5209566"/>
                <a:gd name="connsiteY68" fmla="*/ 1427500 h 5340910"/>
                <a:gd name="connsiteX69" fmla="*/ 2005673 w 5209566"/>
                <a:gd name="connsiteY69" fmla="*/ 1408140 h 5340910"/>
                <a:gd name="connsiteX70" fmla="*/ 2262832 w 5209566"/>
                <a:gd name="connsiteY70" fmla="*/ 1328313 h 5340910"/>
                <a:gd name="connsiteX71" fmla="*/ 2307799 w 5209566"/>
                <a:gd name="connsiteY71" fmla="*/ 1321450 h 5340910"/>
                <a:gd name="connsiteX72" fmla="*/ 2330297 w 5209566"/>
                <a:gd name="connsiteY72" fmla="*/ 1316265 h 5340910"/>
                <a:gd name="connsiteX73" fmla="*/ 2375907 w 5209566"/>
                <a:gd name="connsiteY73" fmla="*/ 1311056 h 5340910"/>
                <a:gd name="connsiteX74" fmla="*/ 2398857 w 5209566"/>
                <a:gd name="connsiteY74" fmla="*/ 1307553 h 5340910"/>
                <a:gd name="connsiteX75" fmla="*/ 2412687 w 5209566"/>
                <a:gd name="connsiteY75" fmla="*/ 1306855 h 5340910"/>
                <a:gd name="connsiteX76" fmla="*/ 2433524 w 5209566"/>
                <a:gd name="connsiteY76" fmla="*/ 1304475 h 5340910"/>
                <a:gd name="connsiteX77" fmla="*/ 2538926 w 5209566"/>
                <a:gd name="connsiteY77" fmla="*/ 1300480 h 5340910"/>
                <a:gd name="connsiteX78" fmla="*/ 2538929 w 5209566"/>
                <a:gd name="connsiteY78" fmla="*/ 1300480 h 5340910"/>
                <a:gd name="connsiteX79" fmla="*/ 2538930 w 5209566"/>
                <a:gd name="connsiteY79" fmla="*/ 1300480 h 5340910"/>
                <a:gd name="connsiteX80" fmla="*/ 2538930 w 5209566"/>
                <a:gd name="connsiteY80" fmla="*/ 7 h 5340910"/>
                <a:gd name="connsiteX81" fmla="*/ 2539111 w 5209566"/>
                <a:gd name="connsiteY81" fmla="*/ 0 h 534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209566" h="5340910">
                  <a:moveTo>
                    <a:pt x="2539111" y="0"/>
                  </a:moveTo>
                  <a:lnTo>
                    <a:pt x="2539111" y="1300480"/>
                  </a:lnTo>
                  <a:cubicBezTo>
                    <a:pt x="1782495" y="1300480"/>
                    <a:pt x="1169136" y="1913839"/>
                    <a:pt x="1169136" y="2670455"/>
                  </a:cubicBezTo>
                  <a:cubicBezTo>
                    <a:pt x="1169136" y="3427071"/>
                    <a:pt x="1782495" y="4040430"/>
                    <a:pt x="2539111" y="4040430"/>
                  </a:cubicBezTo>
                  <a:cubicBezTo>
                    <a:pt x="3295727" y="4040430"/>
                    <a:pt x="3909086" y="3427071"/>
                    <a:pt x="3909086" y="2670455"/>
                  </a:cubicBezTo>
                  <a:lnTo>
                    <a:pt x="5209566" y="2670455"/>
                  </a:lnTo>
                  <a:cubicBezTo>
                    <a:pt x="5209566" y="4145307"/>
                    <a:pt x="4013963" y="5340910"/>
                    <a:pt x="2539111" y="5340910"/>
                  </a:cubicBezTo>
                  <a:cubicBezTo>
                    <a:pt x="1986042" y="5340910"/>
                    <a:pt x="1472242" y="5172779"/>
                    <a:pt x="1046034" y="4884838"/>
                  </a:cubicBezTo>
                  <a:lnTo>
                    <a:pt x="970904" y="4828657"/>
                  </a:lnTo>
                  <a:lnTo>
                    <a:pt x="1734481" y="3777684"/>
                  </a:lnTo>
                  <a:lnTo>
                    <a:pt x="1667498" y="3727595"/>
                  </a:lnTo>
                  <a:lnTo>
                    <a:pt x="1667451" y="3727552"/>
                  </a:lnTo>
                  <a:lnTo>
                    <a:pt x="1570211" y="3639174"/>
                  </a:lnTo>
                  <a:lnTo>
                    <a:pt x="1564314" y="3632686"/>
                  </a:lnTo>
                  <a:lnTo>
                    <a:pt x="1558659" y="3627485"/>
                  </a:lnTo>
                  <a:lnTo>
                    <a:pt x="1533387" y="3598657"/>
                  </a:lnTo>
                  <a:lnTo>
                    <a:pt x="1481790" y="3541886"/>
                  </a:lnTo>
                  <a:lnTo>
                    <a:pt x="1471193" y="3527715"/>
                  </a:lnTo>
                  <a:lnTo>
                    <a:pt x="1461151" y="3516261"/>
                  </a:lnTo>
                  <a:lnTo>
                    <a:pt x="1438491" y="3483984"/>
                  </a:lnTo>
                  <a:lnTo>
                    <a:pt x="1402925" y="3436421"/>
                  </a:lnTo>
                  <a:lnTo>
                    <a:pt x="1388942" y="3413405"/>
                  </a:lnTo>
                  <a:lnTo>
                    <a:pt x="1375954" y="3394905"/>
                  </a:lnTo>
                  <a:lnTo>
                    <a:pt x="1358916" y="3363981"/>
                  </a:lnTo>
                  <a:lnTo>
                    <a:pt x="1334303" y="3323466"/>
                  </a:lnTo>
                  <a:lnTo>
                    <a:pt x="1318363" y="3290377"/>
                  </a:lnTo>
                  <a:lnTo>
                    <a:pt x="1304049" y="3264397"/>
                  </a:lnTo>
                  <a:lnTo>
                    <a:pt x="1292746" y="3237200"/>
                  </a:lnTo>
                  <a:lnTo>
                    <a:pt x="1276614" y="3203711"/>
                  </a:lnTo>
                  <a:lnTo>
                    <a:pt x="1260263" y="3159038"/>
                  </a:lnTo>
                  <a:lnTo>
                    <a:pt x="1246416" y="3125718"/>
                  </a:lnTo>
                  <a:lnTo>
                    <a:pt x="1240056" y="3103827"/>
                  </a:lnTo>
                  <a:lnTo>
                    <a:pt x="1230546" y="3077844"/>
                  </a:lnTo>
                  <a:lnTo>
                    <a:pt x="1215453" y="3019148"/>
                  </a:lnTo>
                  <a:lnTo>
                    <a:pt x="1204035" y="2979848"/>
                  </a:lnTo>
                  <a:lnTo>
                    <a:pt x="1201386" y="2964436"/>
                  </a:lnTo>
                  <a:lnTo>
                    <a:pt x="1196787" y="2946553"/>
                  </a:lnTo>
                  <a:lnTo>
                    <a:pt x="1184747" y="2867660"/>
                  </a:lnTo>
                  <a:lnTo>
                    <a:pt x="1177888" y="2827767"/>
                  </a:lnTo>
                  <a:lnTo>
                    <a:pt x="1177431" y="2819727"/>
                  </a:lnTo>
                  <a:lnTo>
                    <a:pt x="1176027" y="2810527"/>
                  </a:lnTo>
                  <a:lnTo>
                    <a:pt x="1168955" y="2670464"/>
                  </a:lnTo>
                  <a:lnTo>
                    <a:pt x="1168954" y="2670456"/>
                  </a:lnTo>
                  <a:lnTo>
                    <a:pt x="1168954" y="2670455"/>
                  </a:lnTo>
                  <a:cubicBezTo>
                    <a:pt x="1168954" y="2623167"/>
                    <a:pt x="1171350" y="2576438"/>
                    <a:pt x="1176027" y="2530383"/>
                  </a:cubicBezTo>
                  <a:lnTo>
                    <a:pt x="1183018" y="2484577"/>
                  </a:lnTo>
                  <a:lnTo>
                    <a:pt x="1184740" y="2461823"/>
                  </a:lnTo>
                  <a:lnTo>
                    <a:pt x="1189924" y="2439330"/>
                  </a:lnTo>
                  <a:lnTo>
                    <a:pt x="1196787" y="2394358"/>
                  </a:lnTo>
                  <a:cubicBezTo>
                    <a:pt x="1205912" y="2349767"/>
                    <a:pt x="1217203" y="2305965"/>
                    <a:pt x="1230546" y="2263067"/>
                  </a:cubicBezTo>
                  <a:lnTo>
                    <a:pt x="1236345" y="2247221"/>
                  </a:lnTo>
                  <a:lnTo>
                    <a:pt x="0" y="1845508"/>
                  </a:lnTo>
                  <a:lnTo>
                    <a:pt x="1" y="1845507"/>
                  </a:lnTo>
                  <a:lnTo>
                    <a:pt x="1236346" y="2247220"/>
                  </a:lnTo>
                  <a:lnTo>
                    <a:pt x="1276614" y="2137199"/>
                  </a:lnTo>
                  <a:cubicBezTo>
                    <a:pt x="1293945" y="2096224"/>
                    <a:pt x="1313213" y="2056267"/>
                    <a:pt x="1334303" y="2017444"/>
                  </a:cubicBezTo>
                  <a:lnTo>
                    <a:pt x="1357304" y="1979583"/>
                  </a:lnTo>
                  <a:lnTo>
                    <a:pt x="1367292" y="1960074"/>
                  </a:lnTo>
                  <a:lnTo>
                    <a:pt x="1380108" y="1942047"/>
                  </a:lnTo>
                  <a:lnTo>
                    <a:pt x="1402925" y="1904489"/>
                  </a:lnTo>
                  <a:cubicBezTo>
                    <a:pt x="1452164" y="1831606"/>
                    <a:pt x="1508232" y="1763716"/>
                    <a:pt x="1570211" y="1701737"/>
                  </a:cubicBezTo>
                  <a:lnTo>
                    <a:pt x="1602663" y="1672242"/>
                  </a:lnTo>
                  <a:lnTo>
                    <a:pt x="1617790" y="1656375"/>
                  </a:lnTo>
                  <a:lnTo>
                    <a:pt x="1634994" y="1642858"/>
                  </a:lnTo>
                  <a:lnTo>
                    <a:pt x="1667498" y="1613316"/>
                  </a:lnTo>
                  <a:cubicBezTo>
                    <a:pt x="1735159" y="1557477"/>
                    <a:pt x="1808272" y="1508009"/>
                    <a:pt x="1885918" y="1465829"/>
                  </a:cubicBezTo>
                  <a:lnTo>
                    <a:pt x="1925670" y="1446679"/>
                  </a:lnTo>
                  <a:lnTo>
                    <a:pt x="1944990" y="1435575"/>
                  </a:lnTo>
                  <a:lnTo>
                    <a:pt x="1965484" y="1427500"/>
                  </a:lnTo>
                  <a:lnTo>
                    <a:pt x="2005673" y="1408140"/>
                  </a:lnTo>
                  <a:cubicBezTo>
                    <a:pt x="2087624" y="1373477"/>
                    <a:pt x="2173650" y="1346563"/>
                    <a:pt x="2262832" y="1328313"/>
                  </a:cubicBezTo>
                  <a:lnTo>
                    <a:pt x="2307799" y="1321450"/>
                  </a:lnTo>
                  <a:lnTo>
                    <a:pt x="2330297" y="1316265"/>
                  </a:lnTo>
                  <a:lnTo>
                    <a:pt x="2375907" y="1311056"/>
                  </a:lnTo>
                  <a:lnTo>
                    <a:pt x="2398857" y="1307553"/>
                  </a:lnTo>
                  <a:lnTo>
                    <a:pt x="2412687" y="1306855"/>
                  </a:lnTo>
                  <a:lnTo>
                    <a:pt x="2433524" y="1304475"/>
                  </a:lnTo>
                  <a:lnTo>
                    <a:pt x="2538926" y="1300480"/>
                  </a:lnTo>
                  <a:lnTo>
                    <a:pt x="2538929" y="1300480"/>
                  </a:lnTo>
                  <a:lnTo>
                    <a:pt x="2538930" y="1300480"/>
                  </a:lnTo>
                  <a:lnTo>
                    <a:pt x="2538930" y="7"/>
                  </a:lnTo>
                  <a:lnTo>
                    <a:pt x="2539111"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9" name="Freeform: Shape 48">
              <a:extLst>
                <a:ext uri="{FF2B5EF4-FFF2-40B4-BE49-F238E27FC236}">
                  <a16:creationId xmlns:a16="http://schemas.microsoft.com/office/drawing/2014/main" id="{40373853-A68F-6EA0-498C-8C25907AF0D6}"/>
                </a:ext>
              </a:extLst>
            </p:cNvPr>
            <p:cNvSpPr/>
            <p:nvPr/>
          </p:nvSpPr>
          <p:spPr>
            <a:xfrm>
              <a:off x="5339296" y="849713"/>
              <a:ext cx="1139672" cy="45720"/>
            </a:xfrm>
            <a:custGeom>
              <a:avLst/>
              <a:gdLst>
                <a:gd name="connsiteX0" fmla="*/ 208242 w 208242"/>
                <a:gd name="connsiteY0" fmla="*/ 0 h 8354"/>
                <a:gd name="connsiteX1" fmla="*/ 0 w 208242"/>
                <a:gd name="connsiteY1" fmla="*/ 8354 h 8354"/>
                <a:gd name="connsiteX2" fmla="*/ 6050 w 208242"/>
                <a:gd name="connsiteY2" fmla="*/ 7663 h 8354"/>
                <a:gd name="connsiteX3" fmla="*/ 208242 w 208242"/>
                <a:gd name="connsiteY3" fmla="*/ 0 h 8354"/>
              </a:gdLst>
              <a:ahLst/>
              <a:cxnLst>
                <a:cxn ang="0">
                  <a:pos x="connsiteX0" y="connsiteY0"/>
                </a:cxn>
                <a:cxn ang="0">
                  <a:pos x="connsiteX1" y="connsiteY1"/>
                </a:cxn>
                <a:cxn ang="0">
                  <a:pos x="connsiteX2" y="connsiteY2"/>
                </a:cxn>
                <a:cxn ang="0">
                  <a:pos x="connsiteX3" y="connsiteY3"/>
                </a:cxn>
              </a:cxnLst>
              <a:rect l="l" t="t" r="r" b="b"/>
              <a:pathLst>
                <a:path w="208242" h="8354">
                  <a:moveTo>
                    <a:pt x="208242" y="0"/>
                  </a:moveTo>
                  <a:lnTo>
                    <a:pt x="0" y="8354"/>
                  </a:lnTo>
                  <a:lnTo>
                    <a:pt x="6050" y="7663"/>
                  </a:lnTo>
                  <a:lnTo>
                    <a:pt x="20824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0" name="Freeform: Shape 49">
              <a:extLst>
                <a:ext uri="{FF2B5EF4-FFF2-40B4-BE49-F238E27FC236}">
                  <a16:creationId xmlns:a16="http://schemas.microsoft.com/office/drawing/2014/main" id="{DD6945A2-B580-214B-5DC8-358E299648F3}"/>
                </a:ext>
              </a:extLst>
            </p:cNvPr>
            <p:cNvSpPr/>
            <p:nvPr/>
          </p:nvSpPr>
          <p:spPr>
            <a:xfrm>
              <a:off x="5580710" y="856649"/>
              <a:ext cx="400294" cy="45720"/>
            </a:xfrm>
            <a:custGeom>
              <a:avLst/>
              <a:gdLst>
                <a:gd name="connsiteX0" fmla="*/ 48311 w 48311"/>
                <a:gd name="connsiteY0" fmla="*/ 0 h 5518"/>
                <a:gd name="connsiteX1" fmla="*/ 0 w 48311"/>
                <a:gd name="connsiteY1" fmla="*/ 5518 h 5518"/>
                <a:gd name="connsiteX2" fmla="*/ 44398 w 48311"/>
                <a:gd name="connsiteY2" fmla="*/ 157 h 5518"/>
                <a:gd name="connsiteX3" fmla="*/ 48311 w 48311"/>
                <a:gd name="connsiteY3" fmla="*/ 0 h 5518"/>
              </a:gdLst>
              <a:ahLst/>
              <a:cxnLst>
                <a:cxn ang="0">
                  <a:pos x="connsiteX0" y="connsiteY0"/>
                </a:cxn>
                <a:cxn ang="0">
                  <a:pos x="connsiteX1" y="connsiteY1"/>
                </a:cxn>
                <a:cxn ang="0">
                  <a:pos x="connsiteX2" y="connsiteY2"/>
                </a:cxn>
                <a:cxn ang="0">
                  <a:pos x="connsiteX3" y="connsiteY3"/>
                </a:cxn>
              </a:cxnLst>
              <a:rect l="l" t="t" r="r" b="b"/>
              <a:pathLst>
                <a:path w="48311" h="5518">
                  <a:moveTo>
                    <a:pt x="48311" y="0"/>
                  </a:moveTo>
                  <a:lnTo>
                    <a:pt x="0" y="5518"/>
                  </a:lnTo>
                  <a:lnTo>
                    <a:pt x="44398" y="157"/>
                  </a:lnTo>
                  <a:lnTo>
                    <a:pt x="483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1" name="Freeform: Shape 50">
              <a:extLst>
                <a:ext uri="{FF2B5EF4-FFF2-40B4-BE49-F238E27FC236}">
                  <a16:creationId xmlns:a16="http://schemas.microsoft.com/office/drawing/2014/main" id="{5F417ECC-AA97-6B78-8871-6DBF1F381BE9}"/>
                </a:ext>
              </a:extLst>
            </p:cNvPr>
            <p:cNvSpPr/>
            <p:nvPr/>
          </p:nvSpPr>
          <p:spPr>
            <a:xfrm>
              <a:off x="5487178" y="869093"/>
              <a:ext cx="378634" cy="45720"/>
            </a:xfrm>
            <a:custGeom>
              <a:avLst/>
              <a:gdLst>
                <a:gd name="connsiteX0" fmla="*/ 160413 w 160413"/>
                <a:gd name="connsiteY0" fmla="*/ 0 h 19370"/>
                <a:gd name="connsiteX1" fmla="*/ 0 w 160413"/>
                <a:gd name="connsiteY1" fmla="*/ 19370 h 19370"/>
                <a:gd name="connsiteX2" fmla="*/ 13556 w 160413"/>
                <a:gd name="connsiteY2" fmla="*/ 16774 h 19370"/>
                <a:gd name="connsiteX3" fmla="*/ 160413 w 160413"/>
                <a:gd name="connsiteY3" fmla="*/ 0 h 19370"/>
              </a:gdLst>
              <a:ahLst/>
              <a:cxnLst>
                <a:cxn ang="0">
                  <a:pos x="connsiteX0" y="connsiteY0"/>
                </a:cxn>
                <a:cxn ang="0">
                  <a:pos x="connsiteX1" y="connsiteY1"/>
                </a:cxn>
                <a:cxn ang="0">
                  <a:pos x="connsiteX2" y="connsiteY2"/>
                </a:cxn>
                <a:cxn ang="0">
                  <a:pos x="connsiteX3" y="connsiteY3"/>
                </a:cxn>
              </a:cxnLst>
              <a:rect l="l" t="t" r="r" b="b"/>
              <a:pathLst>
                <a:path w="160413" h="19370">
                  <a:moveTo>
                    <a:pt x="160413" y="0"/>
                  </a:moveTo>
                  <a:lnTo>
                    <a:pt x="0" y="19370"/>
                  </a:lnTo>
                  <a:lnTo>
                    <a:pt x="13556" y="16774"/>
                  </a:lnTo>
                  <a:lnTo>
                    <a:pt x="16041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2" name="Freeform: Shape 51">
              <a:extLst>
                <a:ext uri="{FF2B5EF4-FFF2-40B4-BE49-F238E27FC236}">
                  <a16:creationId xmlns:a16="http://schemas.microsoft.com/office/drawing/2014/main" id="{EFD429D9-8C3B-41A1-93A8-532CBA55CBA9}"/>
                </a:ext>
              </a:extLst>
            </p:cNvPr>
            <p:cNvSpPr/>
            <p:nvPr/>
          </p:nvSpPr>
          <p:spPr>
            <a:xfrm>
              <a:off x="5452334" y="883489"/>
              <a:ext cx="238724" cy="45720"/>
            </a:xfrm>
            <a:custGeom>
              <a:avLst/>
              <a:gdLst>
                <a:gd name="connsiteX0" fmla="*/ 49185 w 49185"/>
                <a:gd name="connsiteY0" fmla="*/ 0 h 9419"/>
                <a:gd name="connsiteX1" fmla="*/ 0 w 49185"/>
                <a:gd name="connsiteY1" fmla="*/ 9419 h 9419"/>
                <a:gd name="connsiteX2" fmla="*/ 42618 w 49185"/>
                <a:gd name="connsiteY2" fmla="*/ 793 h 9419"/>
                <a:gd name="connsiteX3" fmla="*/ 49185 w 49185"/>
                <a:gd name="connsiteY3" fmla="*/ 0 h 9419"/>
              </a:gdLst>
              <a:ahLst/>
              <a:cxnLst>
                <a:cxn ang="0">
                  <a:pos x="connsiteX0" y="connsiteY0"/>
                </a:cxn>
                <a:cxn ang="0">
                  <a:pos x="connsiteX1" y="connsiteY1"/>
                </a:cxn>
                <a:cxn ang="0">
                  <a:pos x="connsiteX2" y="connsiteY2"/>
                </a:cxn>
                <a:cxn ang="0">
                  <a:pos x="connsiteX3" y="connsiteY3"/>
                </a:cxn>
              </a:cxnLst>
              <a:rect l="l" t="t" r="r" b="b"/>
              <a:pathLst>
                <a:path w="49185" h="9419">
                  <a:moveTo>
                    <a:pt x="49185" y="0"/>
                  </a:moveTo>
                  <a:lnTo>
                    <a:pt x="0" y="9419"/>
                  </a:lnTo>
                  <a:lnTo>
                    <a:pt x="42618" y="793"/>
                  </a:lnTo>
                  <a:lnTo>
                    <a:pt x="4918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3" name="Freeform: Shape 52">
              <a:extLst>
                <a:ext uri="{FF2B5EF4-FFF2-40B4-BE49-F238E27FC236}">
                  <a16:creationId xmlns:a16="http://schemas.microsoft.com/office/drawing/2014/main" id="{D41B5B0D-2BFF-EB04-90EB-C9A8559D0260}"/>
                </a:ext>
              </a:extLst>
            </p:cNvPr>
            <p:cNvSpPr/>
            <p:nvPr/>
          </p:nvSpPr>
          <p:spPr>
            <a:xfrm>
              <a:off x="5356634" y="903889"/>
              <a:ext cx="225884" cy="45720"/>
            </a:xfrm>
            <a:custGeom>
              <a:avLst/>
              <a:gdLst>
                <a:gd name="connsiteX0" fmla="*/ 155055 w 155055"/>
                <a:gd name="connsiteY0" fmla="*/ 0 h 31384"/>
                <a:gd name="connsiteX1" fmla="*/ 0 w 155055"/>
                <a:gd name="connsiteY1" fmla="*/ 31384 h 31384"/>
                <a:gd name="connsiteX2" fmla="*/ 21392 w 155055"/>
                <a:gd name="connsiteY2" fmla="*/ 25597 h 31384"/>
                <a:gd name="connsiteX3" fmla="*/ 155055 w 155055"/>
                <a:gd name="connsiteY3" fmla="*/ 0 h 31384"/>
              </a:gdLst>
              <a:ahLst/>
              <a:cxnLst>
                <a:cxn ang="0">
                  <a:pos x="connsiteX0" y="connsiteY0"/>
                </a:cxn>
                <a:cxn ang="0">
                  <a:pos x="connsiteX1" y="connsiteY1"/>
                </a:cxn>
                <a:cxn ang="0">
                  <a:pos x="connsiteX2" y="connsiteY2"/>
                </a:cxn>
                <a:cxn ang="0">
                  <a:pos x="connsiteX3" y="connsiteY3"/>
                </a:cxn>
              </a:cxnLst>
              <a:rect l="l" t="t" r="r" b="b"/>
              <a:pathLst>
                <a:path w="155055" h="31384">
                  <a:moveTo>
                    <a:pt x="155055" y="0"/>
                  </a:moveTo>
                  <a:lnTo>
                    <a:pt x="0" y="31384"/>
                  </a:lnTo>
                  <a:lnTo>
                    <a:pt x="21392" y="25597"/>
                  </a:lnTo>
                  <a:lnTo>
                    <a:pt x="15505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4" name="Freeform: Shape 53">
              <a:extLst>
                <a:ext uri="{FF2B5EF4-FFF2-40B4-BE49-F238E27FC236}">
                  <a16:creationId xmlns:a16="http://schemas.microsoft.com/office/drawing/2014/main" id="{BC3C1D89-3C7D-91BD-02AA-CC20D9C65B15}"/>
                </a:ext>
              </a:extLst>
            </p:cNvPr>
            <p:cNvSpPr/>
            <p:nvPr/>
          </p:nvSpPr>
          <p:spPr>
            <a:xfrm>
              <a:off x="5283249" y="926153"/>
              <a:ext cx="169008" cy="45720"/>
            </a:xfrm>
            <a:custGeom>
              <a:avLst/>
              <a:gdLst>
                <a:gd name="connsiteX0" fmla="*/ 48588 w 48588"/>
                <a:gd name="connsiteY0" fmla="*/ 0 h 13144"/>
                <a:gd name="connsiteX1" fmla="*/ 0 w 48588"/>
                <a:gd name="connsiteY1" fmla="*/ 13144 h 13144"/>
                <a:gd name="connsiteX2" fmla="*/ 39537 w 48588"/>
                <a:gd name="connsiteY2" fmla="*/ 1832 h 13144"/>
                <a:gd name="connsiteX3" fmla="*/ 48588 w 48588"/>
                <a:gd name="connsiteY3" fmla="*/ 0 h 13144"/>
              </a:gdLst>
              <a:ahLst/>
              <a:cxnLst>
                <a:cxn ang="0">
                  <a:pos x="connsiteX0" y="connsiteY0"/>
                </a:cxn>
                <a:cxn ang="0">
                  <a:pos x="connsiteX1" y="connsiteY1"/>
                </a:cxn>
                <a:cxn ang="0">
                  <a:pos x="connsiteX2" y="connsiteY2"/>
                </a:cxn>
                <a:cxn ang="0">
                  <a:pos x="connsiteX3" y="connsiteY3"/>
                </a:cxn>
              </a:cxnLst>
              <a:rect l="l" t="t" r="r" b="b"/>
              <a:pathLst>
                <a:path w="48588" h="13144">
                  <a:moveTo>
                    <a:pt x="48588" y="0"/>
                  </a:moveTo>
                  <a:lnTo>
                    <a:pt x="0" y="13144"/>
                  </a:lnTo>
                  <a:lnTo>
                    <a:pt x="39537" y="1832"/>
                  </a:lnTo>
                  <a:lnTo>
                    <a:pt x="4858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5" name="Freeform: Shape 54">
              <a:extLst>
                <a:ext uri="{FF2B5EF4-FFF2-40B4-BE49-F238E27FC236}">
                  <a16:creationId xmlns:a16="http://schemas.microsoft.com/office/drawing/2014/main" id="{979BA7FE-3DB6-327C-CC2E-55DB17B6997A}"/>
                </a:ext>
              </a:extLst>
            </p:cNvPr>
            <p:cNvSpPr/>
            <p:nvPr/>
          </p:nvSpPr>
          <p:spPr>
            <a:xfrm>
              <a:off x="5188748" y="954130"/>
              <a:ext cx="159796" cy="45720"/>
            </a:xfrm>
            <a:custGeom>
              <a:avLst/>
              <a:gdLst>
                <a:gd name="connsiteX0" fmla="*/ 149626 w 149626"/>
                <a:gd name="connsiteY0" fmla="*/ 0 h 42810"/>
                <a:gd name="connsiteX1" fmla="*/ 0 w 149626"/>
                <a:gd name="connsiteY1" fmla="*/ 42810 h 42810"/>
                <a:gd name="connsiteX2" fmla="*/ 28582 w 149626"/>
                <a:gd name="connsiteY2" fmla="*/ 32745 h 42810"/>
                <a:gd name="connsiteX3" fmla="*/ 149626 w 149626"/>
                <a:gd name="connsiteY3" fmla="*/ 0 h 42810"/>
              </a:gdLst>
              <a:ahLst/>
              <a:cxnLst>
                <a:cxn ang="0">
                  <a:pos x="connsiteX0" y="connsiteY0"/>
                </a:cxn>
                <a:cxn ang="0">
                  <a:pos x="connsiteX1" y="connsiteY1"/>
                </a:cxn>
                <a:cxn ang="0">
                  <a:pos x="connsiteX2" y="connsiteY2"/>
                </a:cxn>
                <a:cxn ang="0">
                  <a:pos x="connsiteX3" y="connsiteY3"/>
                </a:cxn>
              </a:cxnLst>
              <a:rect l="l" t="t" r="r" b="b"/>
              <a:pathLst>
                <a:path w="149626" h="42810">
                  <a:moveTo>
                    <a:pt x="149626" y="0"/>
                  </a:moveTo>
                  <a:lnTo>
                    <a:pt x="0" y="42810"/>
                  </a:lnTo>
                  <a:lnTo>
                    <a:pt x="28582" y="32745"/>
                  </a:lnTo>
                  <a:lnTo>
                    <a:pt x="14962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6" name="Freeform: Shape 55">
              <a:extLst>
                <a:ext uri="{FF2B5EF4-FFF2-40B4-BE49-F238E27FC236}">
                  <a16:creationId xmlns:a16="http://schemas.microsoft.com/office/drawing/2014/main" id="{776D3679-BB19-DC04-14F8-C641EC58DD73}"/>
                </a:ext>
              </a:extLst>
            </p:cNvPr>
            <p:cNvSpPr/>
            <p:nvPr/>
          </p:nvSpPr>
          <p:spPr>
            <a:xfrm>
              <a:off x="5103716" y="984412"/>
              <a:ext cx="129826" cy="45720"/>
            </a:xfrm>
            <a:custGeom>
              <a:avLst/>
              <a:gdLst>
                <a:gd name="connsiteX0" fmla="*/ 50408 w 50408"/>
                <a:gd name="connsiteY0" fmla="*/ 0 h 17751"/>
                <a:gd name="connsiteX1" fmla="*/ 0 w 50408"/>
                <a:gd name="connsiteY1" fmla="*/ 17751 h 17751"/>
                <a:gd name="connsiteX2" fmla="*/ 38287 w 50408"/>
                <a:gd name="connsiteY2" fmla="*/ 3468 h 17751"/>
                <a:gd name="connsiteX3" fmla="*/ 50408 w 50408"/>
                <a:gd name="connsiteY3" fmla="*/ 0 h 17751"/>
              </a:gdLst>
              <a:ahLst/>
              <a:cxnLst>
                <a:cxn ang="0">
                  <a:pos x="connsiteX0" y="connsiteY0"/>
                </a:cxn>
                <a:cxn ang="0">
                  <a:pos x="connsiteX1" y="connsiteY1"/>
                </a:cxn>
                <a:cxn ang="0">
                  <a:pos x="connsiteX2" y="connsiteY2"/>
                </a:cxn>
                <a:cxn ang="0">
                  <a:pos x="connsiteX3" y="connsiteY3"/>
                </a:cxn>
              </a:cxnLst>
              <a:rect l="l" t="t" r="r" b="b"/>
              <a:pathLst>
                <a:path w="50408" h="17751">
                  <a:moveTo>
                    <a:pt x="50408" y="0"/>
                  </a:moveTo>
                  <a:lnTo>
                    <a:pt x="0" y="17751"/>
                  </a:lnTo>
                  <a:lnTo>
                    <a:pt x="38287" y="3468"/>
                  </a:lnTo>
                  <a:lnTo>
                    <a:pt x="504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7" name="Freeform: Shape 56">
              <a:extLst>
                <a:ext uri="{FF2B5EF4-FFF2-40B4-BE49-F238E27FC236}">
                  <a16:creationId xmlns:a16="http://schemas.microsoft.com/office/drawing/2014/main" id="{D0E145BA-00BC-EC7C-63BE-F8EF4DF4BB48}"/>
                </a:ext>
              </a:extLst>
            </p:cNvPr>
            <p:cNvSpPr/>
            <p:nvPr/>
          </p:nvSpPr>
          <p:spPr>
            <a:xfrm>
              <a:off x="5002875" y="1016146"/>
              <a:ext cx="140550" cy="52432"/>
            </a:xfrm>
            <a:custGeom>
              <a:avLst/>
              <a:gdLst>
                <a:gd name="connsiteX0" fmla="*/ 140550 w 140550"/>
                <a:gd name="connsiteY0" fmla="*/ 0 h 52432"/>
                <a:gd name="connsiteX1" fmla="*/ 0 w 140550"/>
                <a:gd name="connsiteY1" fmla="*/ 52432 h 52432"/>
                <a:gd name="connsiteX2" fmla="*/ 34463 w 140550"/>
                <a:gd name="connsiteY2" fmla="*/ 37358 h 52432"/>
                <a:gd name="connsiteX3" fmla="*/ 140550 w 140550"/>
                <a:gd name="connsiteY3" fmla="*/ 0 h 52432"/>
              </a:gdLst>
              <a:ahLst/>
              <a:cxnLst>
                <a:cxn ang="0">
                  <a:pos x="connsiteX0" y="connsiteY0"/>
                </a:cxn>
                <a:cxn ang="0">
                  <a:pos x="connsiteX1" y="connsiteY1"/>
                </a:cxn>
                <a:cxn ang="0">
                  <a:pos x="connsiteX2" y="connsiteY2"/>
                </a:cxn>
                <a:cxn ang="0">
                  <a:pos x="connsiteX3" y="connsiteY3"/>
                </a:cxn>
              </a:cxnLst>
              <a:rect l="l" t="t" r="r" b="b"/>
              <a:pathLst>
                <a:path w="140550" h="52432">
                  <a:moveTo>
                    <a:pt x="140550" y="0"/>
                  </a:moveTo>
                  <a:lnTo>
                    <a:pt x="0" y="52432"/>
                  </a:lnTo>
                  <a:lnTo>
                    <a:pt x="34463" y="37358"/>
                  </a:lnTo>
                  <a:lnTo>
                    <a:pt x="1405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8" name="Freeform: Shape 57">
              <a:extLst>
                <a:ext uri="{FF2B5EF4-FFF2-40B4-BE49-F238E27FC236}">
                  <a16:creationId xmlns:a16="http://schemas.microsoft.com/office/drawing/2014/main" id="{A1D75126-C792-BB7E-94ED-86B91CEC84BA}"/>
                </a:ext>
              </a:extLst>
            </p:cNvPr>
            <p:cNvSpPr/>
            <p:nvPr/>
          </p:nvSpPr>
          <p:spPr>
            <a:xfrm>
              <a:off x="4923343" y="1057647"/>
              <a:ext cx="104524" cy="45720"/>
            </a:xfrm>
            <a:custGeom>
              <a:avLst/>
              <a:gdLst>
                <a:gd name="connsiteX0" fmla="*/ 54543 w 54543"/>
                <a:gd name="connsiteY0" fmla="*/ 0 h 23858"/>
                <a:gd name="connsiteX1" fmla="*/ 0 w 54543"/>
                <a:gd name="connsiteY1" fmla="*/ 23858 h 23858"/>
                <a:gd name="connsiteX2" fmla="*/ 38323 w 54543"/>
                <a:gd name="connsiteY2" fmla="*/ 6051 h 23858"/>
                <a:gd name="connsiteX3" fmla="*/ 54543 w 54543"/>
                <a:gd name="connsiteY3" fmla="*/ 0 h 23858"/>
              </a:gdLst>
              <a:ahLst/>
              <a:cxnLst>
                <a:cxn ang="0">
                  <a:pos x="connsiteX0" y="connsiteY0"/>
                </a:cxn>
                <a:cxn ang="0">
                  <a:pos x="connsiteX1" y="connsiteY1"/>
                </a:cxn>
                <a:cxn ang="0">
                  <a:pos x="connsiteX2" y="connsiteY2"/>
                </a:cxn>
                <a:cxn ang="0">
                  <a:pos x="connsiteX3" y="connsiteY3"/>
                </a:cxn>
              </a:cxnLst>
              <a:rect l="l" t="t" r="r" b="b"/>
              <a:pathLst>
                <a:path w="54543" h="23858">
                  <a:moveTo>
                    <a:pt x="54543" y="0"/>
                  </a:moveTo>
                  <a:lnTo>
                    <a:pt x="0" y="23858"/>
                  </a:lnTo>
                  <a:lnTo>
                    <a:pt x="38323" y="6051"/>
                  </a:lnTo>
                  <a:lnTo>
                    <a:pt x="5454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9" name="Freeform: Shape 58">
              <a:extLst>
                <a:ext uri="{FF2B5EF4-FFF2-40B4-BE49-F238E27FC236}">
                  <a16:creationId xmlns:a16="http://schemas.microsoft.com/office/drawing/2014/main" id="{2120F2BA-5B03-F8C8-3E73-51087C937882}"/>
                </a:ext>
              </a:extLst>
            </p:cNvPr>
            <p:cNvSpPr/>
            <p:nvPr/>
          </p:nvSpPr>
          <p:spPr>
            <a:xfrm>
              <a:off x="4820012" y="1092436"/>
              <a:ext cx="128320" cy="59622"/>
            </a:xfrm>
            <a:custGeom>
              <a:avLst/>
              <a:gdLst>
                <a:gd name="connsiteX0" fmla="*/ 128320 w 128320"/>
                <a:gd name="connsiteY0" fmla="*/ 0 h 59622"/>
                <a:gd name="connsiteX1" fmla="*/ 0 w 128320"/>
                <a:gd name="connsiteY1" fmla="*/ 59622 h 59622"/>
                <a:gd name="connsiteX2" fmla="*/ 38762 w 128320"/>
                <a:gd name="connsiteY2" fmla="*/ 39172 h 59622"/>
                <a:gd name="connsiteX3" fmla="*/ 128320 w 128320"/>
                <a:gd name="connsiteY3" fmla="*/ 0 h 59622"/>
              </a:gdLst>
              <a:ahLst/>
              <a:cxnLst>
                <a:cxn ang="0">
                  <a:pos x="connsiteX0" y="connsiteY0"/>
                </a:cxn>
                <a:cxn ang="0">
                  <a:pos x="connsiteX1" y="connsiteY1"/>
                </a:cxn>
                <a:cxn ang="0">
                  <a:pos x="connsiteX2" y="connsiteY2"/>
                </a:cxn>
                <a:cxn ang="0">
                  <a:pos x="connsiteX3" y="connsiteY3"/>
                </a:cxn>
              </a:cxnLst>
              <a:rect l="l" t="t" r="r" b="b"/>
              <a:pathLst>
                <a:path w="128320" h="59622">
                  <a:moveTo>
                    <a:pt x="128320" y="0"/>
                  </a:moveTo>
                  <a:lnTo>
                    <a:pt x="0" y="59622"/>
                  </a:lnTo>
                  <a:lnTo>
                    <a:pt x="38762" y="39172"/>
                  </a:lnTo>
                  <a:lnTo>
                    <a:pt x="12832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0" name="Freeform: Shape 59">
              <a:extLst>
                <a:ext uri="{FF2B5EF4-FFF2-40B4-BE49-F238E27FC236}">
                  <a16:creationId xmlns:a16="http://schemas.microsoft.com/office/drawing/2014/main" id="{7068F419-41F8-345E-87DE-4DF521C0C06B}"/>
                </a:ext>
              </a:extLst>
            </p:cNvPr>
            <p:cNvSpPr/>
            <p:nvPr/>
          </p:nvSpPr>
          <p:spPr>
            <a:xfrm>
              <a:off x="4746759" y="1144985"/>
              <a:ext cx="86664" cy="45720"/>
            </a:xfrm>
            <a:custGeom>
              <a:avLst/>
              <a:gdLst>
                <a:gd name="connsiteX0" fmla="*/ 59845 w 59845"/>
                <a:gd name="connsiteY0" fmla="*/ 0 h 31571"/>
                <a:gd name="connsiteX1" fmla="*/ 0 w 59845"/>
                <a:gd name="connsiteY1" fmla="*/ 31571 h 31571"/>
                <a:gd name="connsiteX2" fmla="*/ 38442 w 59845"/>
                <a:gd name="connsiteY2" fmla="*/ 9944 h 31571"/>
                <a:gd name="connsiteX3" fmla="*/ 59845 w 59845"/>
                <a:gd name="connsiteY3" fmla="*/ 0 h 31571"/>
              </a:gdLst>
              <a:ahLst/>
              <a:cxnLst>
                <a:cxn ang="0">
                  <a:pos x="connsiteX0" y="connsiteY0"/>
                </a:cxn>
                <a:cxn ang="0">
                  <a:pos x="connsiteX1" y="connsiteY1"/>
                </a:cxn>
                <a:cxn ang="0">
                  <a:pos x="connsiteX2" y="connsiteY2"/>
                </a:cxn>
                <a:cxn ang="0">
                  <a:pos x="connsiteX3" y="connsiteY3"/>
                </a:cxn>
              </a:cxnLst>
              <a:rect l="l" t="t" r="r" b="b"/>
              <a:pathLst>
                <a:path w="59845" h="31571">
                  <a:moveTo>
                    <a:pt x="59845" y="0"/>
                  </a:moveTo>
                  <a:lnTo>
                    <a:pt x="0" y="31571"/>
                  </a:lnTo>
                  <a:lnTo>
                    <a:pt x="38442" y="9944"/>
                  </a:lnTo>
                  <a:lnTo>
                    <a:pt x="5984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1" name="Freeform: Shape 60">
              <a:extLst>
                <a:ext uri="{FF2B5EF4-FFF2-40B4-BE49-F238E27FC236}">
                  <a16:creationId xmlns:a16="http://schemas.microsoft.com/office/drawing/2014/main" id="{B9E9482D-25C2-4260-1956-FFAEC61A0CFD}"/>
                </a:ext>
              </a:extLst>
            </p:cNvPr>
            <p:cNvSpPr/>
            <p:nvPr/>
          </p:nvSpPr>
          <p:spPr>
            <a:xfrm>
              <a:off x="4645839" y="1183629"/>
              <a:ext cx="114330" cy="64322"/>
            </a:xfrm>
            <a:custGeom>
              <a:avLst/>
              <a:gdLst>
                <a:gd name="connsiteX0" fmla="*/ 114329 w 114329"/>
                <a:gd name="connsiteY0" fmla="*/ 0 h 64322"/>
                <a:gd name="connsiteX1" fmla="*/ 0 w 114329"/>
                <a:gd name="connsiteY1" fmla="*/ 64322 h 64322"/>
                <a:gd name="connsiteX2" fmla="*/ 41451 w 114329"/>
                <a:gd name="connsiteY2" fmla="*/ 38448 h 64322"/>
                <a:gd name="connsiteX3" fmla="*/ 114329 w 114329"/>
                <a:gd name="connsiteY3" fmla="*/ 0 h 64322"/>
              </a:gdLst>
              <a:ahLst/>
              <a:cxnLst>
                <a:cxn ang="0">
                  <a:pos x="connsiteX0" y="connsiteY0"/>
                </a:cxn>
                <a:cxn ang="0">
                  <a:pos x="connsiteX1" y="connsiteY1"/>
                </a:cxn>
                <a:cxn ang="0">
                  <a:pos x="connsiteX2" y="connsiteY2"/>
                </a:cxn>
                <a:cxn ang="0">
                  <a:pos x="connsiteX3" y="connsiteY3"/>
                </a:cxn>
              </a:cxnLst>
              <a:rect l="l" t="t" r="r" b="b"/>
              <a:pathLst>
                <a:path w="114329" h="64322">
                  <a:moveTo>
                    <a:pt x="114329" y="0"/>
                  </a:moveTo>
                  <a:lnTo>
                    <a:pt x="0" y="64322"/>
                  </a:lnTo>
                  <a:lnTo>
                    <a:pt x="41451" y="38448"/>
                  </a:lnTo>
                  <a:lnTo>
                    <a:pt x="11432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2" name="Freeform: Shape 61">
              <a:extLst>
                <a:ext uri="{FF2B5EF4-FFF2-40B4-BE49-F238E27FC236}">
                  <a16:creationId xmlns:a16="http://schemas.microsoft.com/office/drawing/2014/main" id="{356905F6-32E3-2E3D-4B75-3317FA08C492}"/>
                </a:ext>
              </a:extLst>
            </p:cNvPr>
            <p:cNvSpPr/>
            <p:nvPr/>
          </p:nvSpPr>
          <p:spPr>
            <a:xfrm>
              <a:off x="4576661" y="1245411"/>
              <a:ext cx="73246" cy="45720"/>
            </a:xfrm>
            <a:custGeom>
              <a:avLst/>
              <a:gdLst>
                <a:gd name="connsiteX0" fmla="*/ 65108 w 65108"/>
                <a:gd name="connsiteY0" fmla="*/ 0 h 40640"/>
                <a:gd name="connsiteX1" fmla="*/ 0 w 65108"/>
                <a:gd name="connsiteY1" fmla="*/ 40640 h 40640"/>
                <a:gd name="connsiteX2" fmla="*/ 37629 w 65108"/>
                <a:gd name="connsiteY2" fmla="*/ 15459 h 40640"/>
                <a:gd name="connsiteX3" fmla="*/ 65108 w 65108"/>
                <a:gd name="connsiteY3" fmla="*/ 0 h 40640"/>
              </a:gdLst>
              <a:ahLst/>
              <a:cxnLst>
                <a:cxn ang="0">
                  <a:pos x="connsiteX0" y="connsiteY0"/>
                </a:cxn>
                <a:cxn ang="0">
                  <a:pos x="connsiteX1" y="connsiteY1"/>
                </a:cxn>
                <a:cxn ang="0">
                  <a:pos x="connsiteX2" y="connsiteY2"/>
                </a:cxn>
                <a:cxn ang="0">
                  <a:pos x="connsiteX3" y="connsiteY3"/>
                </a:cxn>
              </a:cxnLst>
              <a:rect l="l" t="t" r="r" b="b"/>
              <a:pathLst>
                <a:path w="65108" h="40640">
                  <a:moveTo>
                    <a:pt x="65108" y="0"/>
                  </a:moveTo>
                  <a:lnTo>
                    <a:pt x="0" y="40640"/>
                  </a:lnTo>
                  <a:lnTo>
                    <a:pt x="37629" y="15459"/>
                  </a:lnTo>
                  <a:lnTo>
                    <a:pt x="651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3" name="Freeform: Shape 62">
              <a:extLst>
                <a:ext uri="{FF2B5EF4-FFF2-40B4-BE49-F238E27FC236}">
                  <a16:creationId xmlns:a16="http://schemas.microsoft.com/office/drawing/2014/main" id="{F0EC0A4D-EECB-1664-F798-A5ED58B1D806}"/>
                </a:ext>
              </a:extLst>
            </p:cNvPr>
            <p:cNvSpPr/>
            <p:nvPr/>
          </p:nvSpPr>
          <p:spPr>
            <a:xfrm>
              <a:off x="4480604" y="1288591"/>
              <a:ext cx="100128" cy="67002"/>
            </a:xfrm>
            <a:custGeom>
              <a:avLst/>
              <a:gdLst>
                <a:gd name="connsiteX0" fmla="*/ 100127 w 100127"/>
                <a:gd name="connsiteY0" fmla="*/ 0 h 67002"/>
                <a:gd name="connsiteX1" fmla="*/ 0 w 100127"/>
                <a:gd name="connsiteY1" fmla="*/ 67002 h 67002"/>
                <a:gd name="connsiteX2" fmla="*/ 42847 w 100127"/>
                <a:gd name="connsiteY2" fmla="*/ 35753 h 67002"/>
                <a:gd name="connsiteX3" fmla="*/ 100127 w 100127"/>
                <a:gd name="connsiteY3" fmla="*/ 0 h 67002"/>
              </a:gdLst>
              <a:ahLst/>
              <a:cxnLst>
                <a:cxn ang="0">
                  <a:pos x="connsiteX0" y="connsiteY0"/>
                </a:cxn>
                <a:cxn ang="0">
                  <a:pos x="connsiteX1" y="connsiteY1"/>
                </a:cxn>
                <a:cxn ang="0">
                  <a:pos x="connsiteX2" y="connsiteY2"/>
                </a:cxn>
                <a:cxn ang="0">
                  <a:pos x="connsiteX3" y="connsiteY3"/>
                </a:cxn>
              </a:cxnLst>
              <a:rect l="l" t="t" r="r" b="b"/>
              <a:pathLst>
                <a:path w="100127" h="67002">
                  <a:moveTo>
                    <a:pt x="100127" y="0"/>
                  </a:moveTo>
                  <a:lnTo>
                    <a:pt x="0" y="67002"/>
                  </a:lnTo>
                  <a:lnTo>
                    <a:pt x="42847" y="35753"/>
                  </a:lnTo>
                  <a:lnTo>
                    <a:pt x="1001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4" name="Freeform: Shape 63">
              <a:extLst>
                <a:ext uri="{FF2B5EF4-FFF2-40B4-BE49-F238E27FC236}">
                  <a16:creationId xmlns:a16="http://schemas.microsoft.com/office/drawing/2014/main" id="{2149F4C9-035F-AAB9-BE0D-8B251F48FC0F}"/>
                </a:ext>
              </a:extLst>
            </p:cNvPr>
            <p:cNvSpPr/>
            <p:nvPr/>
          </p:nvSpPr>
          <p:spPr>
            <a:xfrm>
              <a:off x="4411497" y="1355594"/>
              <a:ext cx="69108" cy="50400"/>
            </a:xfrm>
            <a:custGeom>
              <a:avLst/>
              <a:gdLst>
                <a:gd name="connsiteX0" fmla="*/ 69107 w 69107"/>
                <a:gd name="connsiteY0" fmla="*/ 0 h 50399"/>
                <a:gd name="connsiteX1" fmla="*/ 0 w 69107"/>
                <a:gd name="connsiteY1" fmla="*/ 50399 h 50399"/>
                <a:gd name="connsiteX2" fmla="*/ 35197 w 69107"/>
                <a:gd name="connsiteY2" fmla="*/ 22691 h 50399"/>
                <a:gd name="connsiteX3" fmla="*/ 69107 w 69107"/>
                <a:gd name="connsiteY3" fmla="*/ 0 h 50399"/>
              </a:gdLst>
              <a:ahLst/>
              <a:cxnLst>
                <a:cxn ang="0">
                  <a:pos x="connsiteX0" y="connsiteY0"/>
                </a:cxn>
                <a:cxn ang="0">
                  <a:pos x="connsiteX1" y="connsiteY1"/>
                </a:cxn>
                <a:cxn ang="0">
                  <a:pos x="connsiteX2" y="connsiteY2"/>
                </a:cxn>
                <a:cxn ang="0">
                  <a:pos x="connsiteX3" y="connsiteY3"/>
                </a:cxn>
              </a:cxnLst>
              <a:rect l="l" t="t" r="r" b="b"/>
              <a:pathLst>
                <a:path w="69107" h="50399">
                  <a:moveTo>
                    <a:pt x="69107" y="0"/>
                  </a:moveTo>
                  <a:lnTo>
                    <a:pt x="0" y="50399"/>
                  </a:lnTo>
                  <a:lnTo>
                    <a:pt x="35197" y="22691"/>
                  </a:lnTo>
                  <a:lnTo>
                    <a:pt x="6910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5" name="Freeform: Shape 64">
              <a:extLst>
                <a:ext uri="{FF2B5EF4-FFF2-40B4-BE49-F238E27FC236}">
                  <a16:creationId xmlns:a16="http://schemas.microsoft.com/office/drawing/2014/main" id="{443A9DDF-2E05-731E-71AA-EFD3F9CBF4D1}"/>
                </a:ext>
              </a:extLst>
            </p:cNvPr>
            <p:cNvSpPr/>
            <p:nvPr/>
          </p:nvSpPr>
          <p:spPr>
            <a:xfrm>
              <a:off x="4324424" y="1405992"/>
              <a:ext cx="87072" cy="68546"/>
            </a:xfrm>
            <a:custGeom>
              <a:avLst/>
              <a:gdLst>
                <a:gd name="connsiteX0" fmla="*/ 87072 w 87072"/>
                <a:gd name="connsiteY0" fmla="*/ 0 h 68546"/>
                <a:gd name="connsiteX1" fmla="*/ 0 w 87072"/>
                <a:gd name="connsiteY1" fmla="*/ 68546 h 68546"/>
                <a:gd name="connsiteX2" fmla="*/ 43399 w 87072"/>
                <a:gd name="connsiteY2" fmla="*/ 31851 h 68546"/>
                <a:gd name="connsiteX3" fmla="*/ 87072 w 87072"/>
                <a:gd name="connsiteY3" fmla="*/ 0 h 68546"/>
              </a:gdLst>
              <a:ahLst/>
              <a:cxnLst>
                <a:cxn ang="0">
                  <a:pos x="connsiteX0" y="connsiteY0"/>
                </a:cxn>
                <a:cxn ang="0">
                  <a:pos x="connsiteX1" y="connsiteY1"/>
                </a:cxn>
                <a:cxn ang="0">
                  <a:pos x="connsiteX2" y="connsiteY2"/>
                </a:cxn>
                <a:cxn ang="0">
                  <a:pos x="connsiteX3" y="connsiteY3"/>
                </a:cxn>
              </a:cxnLst>
              <a:rect l="l" t="t" r="r" b="b"/>
              <a:pathLst>
                <a:path w="87072" h="68546">
                  <a:moveTo>
                    <a:pt x="87072" y="0"/>
                  </a:moveTo>
                  <a:lnTo>
                    <a:pt x="0" y="68546"/>
                  </a:lnTo>
                  <a:lnTo>
                    <a:pt x="43399" y="31851"/>
                  </a:lnTo>
                  <a:lnTo>
                    <a:pt x="8707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6" name="Freeform: Shape 65">
              <a:extLst>
                <a:ext uri="{FF2B5EF4-FFF2-40B4-BE49-F238E27FC236}">
                  <a16:creationId xmlns:a16="http://schemas.microsoft.com/office/drawing/2014/main" id="{A8C3ED30-9059-8191-98EA-1392171E3F39}"/>
                </a:ext>
              </a:extLst>
            </p:cNvPr>
            <p:cNvSpPr/>
            <p:nvPr/>
          </p:nvSpPr>
          <p:spPr>
            <a:xfrm>
              <a:off x="4253378" y="1474538"/>
              <a:ext cx="71046" cy="60072"/>
            </a:xfrm>
            <a:custGeom>
              <a:avLst/>
              <a:gdLst>
                <a:gd name="connsiteX0" fmla="*/ 71046 w 71046"/>
                <a:gd name="connsiteY0" fmla="*/ 0 h 60072"/>
                <a:gd name="connsiteX1" fmla="*/ 0 w 71046"/>
                <a:gd name="connsiteY1" fmla="*/ 60072 h 60072"/>
                <a:gd name="connsiteX2" fmla="*/ 31016 w 71046"/>
                <a:gd name="connsiteY2" fmla="*/ 31513 h 60072"/>
                <a:gd name="connsiteX3" fmla="*/ 71046 w 71046"/>
                <a:gd name="connsiteY3" fmla="*/ 0 h 60072"/>
              </a:gdLst>
              <a:ahLst/>
              <a:cxnLst>
                <a:cxn ang="0">
                  <a:pos x="connsiteX0" y="connsiteY0"/>
                </a:cxn>
                <a:cxn ang="0">
                  <a:pos x="connsiteX1" y="connsiteY1"/>
                </a:cxn>
                <a:cxn ang="0">
                  <a:pos x="connsiteX2" y="connsiteY2"/>
                </a:cxn>
                <a:cxn ang="0">
                  <a:pos x="connsiteX3" y="connsiteY3"/>
                </a:cxn>
              </a:cxnLst>
              <a:rect l="l" t="t" r="r" b="b"/>
              <a:pathLst>
                <a:path w="71046" h="60072">
                  <a:moveTo>
                    <a:pt x="71046" y="0"/>
                  </a:moveTo>
                  <a:lnTo>
                    <a:pt x="0" y="60072"/>
                  </a:lnTo>
                  <a:lnTo>
                    <a:pt x="31016" y="31513"/>
                  </a:lnTo>
                  <a:lnTo>
                    <a:pt x="7104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7" name="Freeform: Shape 66">
              <a:extLst>
                <a:ext uri="{FF2B5EF4-FFF2-40B4-BE49-F238E27FC236}">
                  <a16:creationId xmlns:a16="http://schemas.microsoft.com/office/drawing/2014/main" id="{0757C723-83BD-7CCB-5FA3-8E4EB4106A08}"/>
                </a:ext>
              </a:extLst>
            </p:cNvPr>
            <p:cNvSpPr/>
            <p:nvPr/>
          </p:nvSpPr>
          <p:spPr>
            <a:xfrm>
              <a:off x="4177176" y="1534611"/>
              <a:ext cx="76204" cy="70166"/>
            </a:xfrm>
            <a:custGeom>
              <a:avLst/>
              <a:gdLst>
                <a:gd name="connsiteX0" fmla="*/ 76203 w 76203"/>
                <a:gd name="connsiteY0" fmla="*/ 0 h 70165"/>
                <a:gd name="connsiteX1" fmla="*/ 0 w 76203"/>
                <a:gd name="connsiteY1" fmla="*/ 70165 h 70165"/>
                <a:gd name="connsiteX2" fmla="*/ 43799 w 76203"/>
                <a:gd name="connsiteY2" fmla="*/ 27398 h 70165"/>
                <a:gd name="connsiteX3" fmla="*/ 76203 w 76203"/>
                <a:gd name="connsiteY3" fmla="*/ 0 h 70165"/>
              </a:gdLst>
              <a:ahLst/>
              <a:cxnLst>
                <a:cxn ang="0">
                  <a:pos x="connsiteX0" y="connsiteY0"/>
                </a:cxn>
                <a:cxn ang="0">
                  <a:pos x="connsiteX1" y="connsiteY1"/>
                </a:cxn>
                <a:cxn ang="0">
                  <a:pos x="connsiteX2" y="connsiteY2"/>
                </a:cxn>
                <a:cxn ang="0">
                  <a:pos x="connsiteX3" y="connsiteY3"/>
                </a:cxn>
              </a:cxnLst>
              <a:rect l="l" t="t" r="r" b="b"/>
              <a:pathLst>
                <a:path w="76203" h="70165">
                  <a:moveTo>
                    <a:pt x="76203" y="0"/>
                  </a:moveTo>
                  <a:lnTo>
                    <a:pt x="0" y="70165"/>
                  </a:lnTo>
                  <a:lnTo>
                    <a:pt x="43799" y="27398"/>
                  </a:lnTo>
                  <a:lnTo>
                    <a:pt x="7620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8" name="Freeform: Shape 67">
              <a:extLst>
                <a:ext uri="{FF2B5EF4-FFF2-40B4-BE49-F238E27FC236}">
                  <a16:creationId xmlns:a16="http://schemas.microsoft.com/office/drawing/2014/main" id="{A802FDE3-69BE-A767-CB59-2094265F714D}"/>
                </a:ext>
              </a:extLst>
            </p:cNvPr>
            <p:cNvSpPr/>
            <p:nvPr/>
          </p:nvSpPr>
          <p:spPr>
            <a:xfrm>
              <a:off x="4106963" y="1604776"/>
              <a:ext cx="70212" cy="68558"/>
            </a:xfrm>
            <a:custGeom>
              <a:avLst/>
              <a:gdLst>
                <a:gd name="connsiteX0" fmla="*/ 70212 w 70212"/>
                <a:gd name="connsiteY0" fmla="*/ 0 h 68557"/>
                <a:gd name="connsiteX1" fmla="*/ 0 w 70212"/>
                <a:gd name="connsiteY1" fmla="*/ 68557 h 68557"/>
                <a:gd name="connsiteX2" fmla="*/ 25286 w 70212"/>
                <a:gd name="connsiteY2" fmla="*/ 41366 h 68557"/>
                <a:gd name="connsiteX3" fmla="*/ 70212 w 70212"/>
                <a:gd name="connsiteY3" fmla="*/ 0 h 68557"/>
              </a:gdLst>
              <a:ahLst/>
              <a:cxnLst>
                <a:cxn ang="0">
                  <a:pos x="connsiteX0" y="connsiteY0"/>
                </a:cxn>
                <a:cxn ang="0">
                  <a:pos x="connsiteX1" y="connsiteY1"/>
                </a:cxn>
                <a:cxn ang="0">
                  <a:pos x="connsiteX2" y="connsiteY2"/>
                </a:cxn>
                <a:cxn ang="0">
                  <a:pos x="connsiteX3" y="connsiteY3"/>
                </a:cxn>
              </a:cxnLst>
              <a:rect l="l" t="t" r="r" b="b"/>
              <a:pathLst>
                <a:path w="70212" h="68557">
                  <a:moveTo>
                    <a:pt x="70212" y="0"/>
                  </a:moveTo>
                  <a:lnTo>
                    <a:pt x="0" y="68557"/>
                  </a:lnTo>
                  <a:lnTo>
                    <a:pt x="25286" y="41366"/>
                  </a:lnTo>
                  <a:lnTo>
                    <a:pt x="7021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9" name="Freeform: Shape 68">
              <a:extLst>
                <a:ext uri="{FF2B5EF4-FFF2-40B4-BE49-F238E27FC236}">
                  <a16:creationId xmlns:a16="http://schemas.microsoft.com/office/drawing/2014/main" id="{5C0EF182-CB75-A76B-3C15-5D3860B3BA89}"/>
                </a:ext>
              </a:extLst>
            </p:cNvPr>
            <p:cNvSpPr/>
            <p:nvPr/>
          </p:nvSpPr>
          <p:spPr>
            <a:xfrm>
              <a:off x="4038489" y="1673332"/>
              <a:ext cx="68474" cy="73632"/>
            </a:xfrm>
            <a:custGeom>
              <a:avLst/>
              <a:gdLst>
                <a:gd name="connsiteX0" fmla="*/ 68474 w 68474"/>
                <a:gd name="connsiteY0" fmla="*/ 0 h 73632"/>
                <a:gd name="connsiteX1" fmla="*/ 0 w 68474"/>
                <a:gd name="connsiteY1" fmla="*/ 73632 h 73632"/>
                <a:gd name="connsiteX2" fmla="*/ 44980 w 68474"/>
                <a:gd name="connsiteY2" fmla="*/ 22940 h 73632"/>
                <a:gd name="connsiteX3" fmla="*/ 68474 w 68474"/>
                <a:gd name="connsiteY3" fmla="*/ 0 h 73632"/>
              </a:gdLst>
              <a:ahLst/>
              <a:cxnLst>
                <a:cxn ang="0">
                  <a:pos x="connsiteX0" y="connsiteY0"/>
                </a:cxn>
                <a:cxn ang="0">
                  <a:pos x="connsiteX1" y="connsiteY1"/>
                </a:cxn>
                <a:cxn ang="0">
                  <a:pos x="connsiteX2" y="connsiteY2"/>
                </a:cxn>
                <a:cxn ang="0">
                  <a:pos x="connsiteX3" y="connsiteY3"/>
                </a:cxn>
              </a:cxnLst>
              <a:rect l="l" t="t" r="r" b="b"/>
              <a:pathLst>
                <a:path w="68474" h="73632">
                  <a:moveTo>
                    <a:pt x="68474" y="0"/>
                  </a:moveTo>
                  <a:lnTo>
                    <a:pt x="0" y="73632"/>
                  </a:lnTo>
                  <a:lnTo>
                    <a:pt x="44980" y="22940"/>
                  </a:lnTo>
                  <a:lnTo>
                    <a:pt x="6847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0" name="Freeform: Shape 69">
              <a:extLst>
                <a:ext uri="{FF2B5EF4-FFF2-40B4-BE49-F238E27FC236}">
                  <a16:creationId xmlns:a16="http://schemas.microsoft.com/office/drawing/2014/main" id="{D144154D-1535-F5B6-92BC-EFC8BC2A43EE}"/>
                </a:ext>
              </a:extLst>
            </p:cNvPr>
            <p:cNvSpPr/>
            <p:nvPr/>
          </p:nvSpPr>
          <p:spPr>
            <a:xfrm>
              <a:off x="3972485" y="1746965"/>
              <a:ext cx="66006" cy="74388"/>
            </a:xfrm>
            <a:custGeom>
              <a:avLst/>
              <a:gdLst>
                <a:gd name="connsiteX0" fmla="*/ 66005 w 66005"/>
                <a:gd name="connsiteY0" fmla="*/ 0 h 74387"/>
                <a:gd name="connsiteX1" fmla="*/ 0 w 66005"/>
                <a:gd name="connsiteY1" fmla="*/ 74387 h 74387"/>
                <a:gd name="connsiteX2" fmla="*/ 18559 w 66005"/>
                <a:gd name="connsiteY2" fmla="*/ 51020 h 74387"/>
                <a:gd name="connsiteX3" fmla="*/ 66005 w 66005"/>
                <a:gd name="connsiteY3" fmla="*/ 0 h 74387"/>
              </a:gdLst>
              <a:ahLst/>
              <a:cxnLst>
                <a:cxn ang="0">
                  <a:pos x="connsiteX0" y="connsiteY0"/>
                </a:cxn>
                <a:cxn ang="0">
                  <a:pos x="connsiteX1" y="connsiteY1"/>
                </a:cxn>
                <a:cxn ang="0">
                  <a:pos x="connsiteX2" y="connsiteY2"/>
                </a:cxn>
                <a:cxn ang="0">
                  <a:pos x="connsiteX3" y="connsiteY3"/>
                </a:cxn>
              </a:cxnLst>
              <a:rect l="l" t="t" r="r" b="b"/>
              <a:pathLst>
                <a:path w="66005" h="74387">
                  <a:moveTo>
                    <a:pt x="66005" y="0"/>
                  </a:moveTo>
                  <a:lnTo>
                    <a:pt x="0" y="74387"/>
                  </a:lnTo>
                  <a:lnTo>
                    <a:pt x="18559" y="51020"/>
                  </a:lnTo>
                  <a:lnTo>
                    <a:pt x="66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1" name="Freeform: Shape 70">
              <a:extLst>
                <a:ext uri="{FF2B5EF4-FFF2-40B4-BE49-F238E27FC236}">
                  <a16:creationId xmlns:a16="http://schemas.microsoft.com/office/drawing/2014/main" id="{F01A579B-1ADB-FCE1-DE6C-472942B8A8D4}"/>
                </a:ext>
              </a:extLst>
            </p:cNvPr>
            <p:cNvSpPr/>
            <p:nvPr/>
          </p:nvSpPr>
          <p:spPr>
            <a:xfrm>
              <a:off x="3907480" y="1821352"/>
              <a:ext cx="65006" cy="81846"/>
            </a:xfrm>
            <a:custGeom>
              <a:avLst/>
              <a:gdLst>
                <a:gd name="connsiteX0" fmla="*/ 65005 w 65005"/>
                <a:gd name="connsiteY0" fmla="*/ 0 h 81845"/>
                <a:gd name="connsiteX1" fmla="*/ 0 w 65005"/>
                <a:gd name="connsiteY1" fmla="*/ 81845 h 81845"/>
                <a:gd name="connsiteX2" fmla="*/ 48395 w 65005"/>
                <a:gd name="connsiteY2" fmla="*/ 18719 h 81845"/>
                <a:gd name="connsiteX3" fmla="*/ 65005 w 65005"/>
                <a:gd name="connsiteY3" fmla="*/ 0 h 81845"/>
              </a:gdLst>
              <a:ahLst/>
              <a:cxnLst>
                <a:cxn ang="0">
                  <a:pos x="connsiteX0" y="connsiteY0"/>
                </a:cxn>
                <a:cxn ang="0">
                  <a:pos x="connsiteX1" y="connsiteY1"/>
                </a:cxn>
                <a:cxn ang="0">
                  <a:pos x="connsiteX2" y="connsiteY2"/>
                </a:cxn>
                <a:cxn ang="0">
                  <a:pos x="connsiteX3" y="connsiteY3"/>
                </a:cxn>
              </a:cxnLst>
              <a:rect l="l" t="t" r="r" b="b"/>
              <a:pathLst>
                <a:path w="65005" h="81845">
                  <a:moveTo>
                    <a:pt x="65005" y="0"/>
                  </a:moveTo>
                  <a:lnTo>
                    <a:pt x="0" y="81845"/>
                  </a:lnTo>
                  <a:lnTo>
                    <a:pt x="48395" y="18719"/>
                  </a:lnTo>
                  <a:lnTo>
                    <a:pt x="65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2" name="Freeform: Shape 71">
              <a:extLst>
                <a:ext uri="{FF2B5EF4-FFF2-40B4-BE49-F238E27FC236}">
                  <a16:creationId xmlns:a16="http://schemas.microsoft.com/office/drawing/2014/main" id="{D6B87408-AA95-AABD-B26A-635E44E9CE1E}"/>
                </a:ext>
              </a:extLst>
            </p:cNvPr>
            <p:cNvSpPr/>
            <p:nvPr/>
          </p:nvSpPr>
          <p:spPr>
            <a:xfrm>
              <a:off x="3850005" y="1903197"/>
              <a:ext cx="57476" cy="74970"/>
            </a:xfrm>
            <a:custGeom>
              <a:avLst/>
              <a:gdLst>
                <a:gd name="connsiteX0" fmla="*/ 57475 w 57475"/>
                <a:gd name="connsiteY0" fmla="*/ 0 h 74969"/>
                <a:gd name="connsiteX1" fmla="*/ 0 w 57475"/>
                <a:gd name="connsiteY1" fmla="*/ 74969 h 74969"/>
                <a:gd name="connsiteX2" fmla="*/ 11557 w 57475"/>
                <a:gd name="connsiteY2" fmla="*/ 57812 h 74969"/>
                <a:gd name="connsiteX3" fmla="*/ 57475 w 57475"/>
                <a:gd name="connsiteY3" fmla="*/ 0 h 74969"/>
              </a:gdLst>
              <a:ahLst/>
              <a:cxnLst>
                <a:cxn ang="0">
                  <a:pos x="connsiteX0" y="connsiteY0"/>
                </a:cxn>
                <a:cxn ang="0">
                  <a:pos x="connsiteX1" y="connsiteY1"/>
                </a:cxn>
                <a:cxn ang="0">
                  <a:pos x="connsiteX2" y="connsiteY2"/>
                </a:cxn>
                <a:cxn ang="0">
                  <a:pos x="connsiteX3" y="connsiteY3"/>
                </a:cxn>
              </a:cxnLst>
              <a:rect l="l" t="t" r="r" b="b"/>
              <a:pathLst>
                <a:path w="57475" h="74969">
                  <a:moveTo>
                    <a:pt x="57475" y="0"/>
                  </a:moveTo>
                  <a:lnTo>
                    <a:pt x="0" y="74969"/>
                  </a:lnTo>
                  <a:lnTo>
                    <a:pt x="11557" y="57812"/>
                  </a:lnTo>
                  <a:lnTo>
                    <a:pt x="5747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3" name="Freeform: Shape 72">
              <a:extLst>
                <a:ext uri="{FF2B5EF4-FFF2-40B4-BE49-F238E27FC236}">
                  <a16:creationId xmlns:a16="http://schemas.microsoft.com/office/drawing/2014/main" id="{4194DC4B-D915-24DF-08C9-34912E8D4A1E}"/>
                </a:ext>
              </a:extLst>
            </p:cNvPr>
            <p:cNvSpPr/>
            <p:nvPr/>
          </p:nvSpPr>
          <p:spPr>
            <a:xfrm>
              <a:off x="3780778" y="1978166"/>
              <a:ext cx="69228" cy="102762"/>
            </a:xfrm>
            <a:custGeom>
              <a:avLst/>
              <a:gdLst>
                <a:gd name="connsiteX0" fmla="*/ 69227 w 69227"/>
                <a:gd name="connsiteY0" fmla="*/ 0 h 102761"/>
                <a:gd name="connsiteX1" fmla="*/ 0 w 69227"/>
                <a:gd name="connsiteY1" fmla="*/ 102761 h 102761"/>
                <a:gd name="connsiteX2" fmla="*/ 57980 w 69227"/>
                <a:gd name="connsiteY2" fmla="*/ 14669 h 102761"/>
                <a:gd name="connsiteX3" fmla="*/ 69227 w 69227"/>
                <a:gd name="connsiteY3" fmla="*/ 0 h 102761"/>
              </a:gdLst>
              <a:ahLst/>
              <a:cxnLst>
                <a:cxn ang="0">
                  <a:pos x="connsiteX0" y="connsiteY0"/>
                </a:cxn>
                <a:cxn ang="0">
                  <a:pos x="connsiteX1" y="connsiteY1"/>
                </a:cxn>
                <a:cxn ang="0">
                  <a:pos x="connsiteX2" y="connsiteY2"/>
                </a:cxn>
                <a:cxn ang="0">
                  <a:pos x="connsiteX3" y="connsiteY3"/>
                </a:cxn>
              </a:cxnLst>
              <a:rect l="l" t="t" r="r" b="b"/>
              <a:pathLst>
                <a:path w="69227" h="102761">
                  <a:moveTo>
                    <a:pt x="69227" y="0"/>
                  </a:moveTo>
                  <a:lnTo>
                    <a:pt x="0" y="102761"/>
                  </a:lnTo>
                  <a:lnTo>
                    <a:pt x="57980" y="14669"/>
                  </a:lnTo>
                  <a:lnTo>
                    <a:pt x="692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4" name="Freeform: Shape 73">
              <a:extLst>
                <a:ext uri="{FF2B5EF4-FFF2-40B4-BE49-F238E27FC236}">
                  <a16:creationId xmlns:a16="http://schemas.microsoft.com/office/drawing/2014/main" id="{E7582F0D-B811-84EE-D39F-4BE4EFDCBE6D}"/>
                </a:ext>
              </a:extLst>
            </p:cNvPr>
            <p:cNvSpPr/>
            <p:nvPr/>
          </p:nvSpPr>
          <p:spPr>
            <a:xfrm>
              <a:off x="3737320" y="2077491"/>
              <a:ext cx="45720" cy="69464"/>
            </a:xfrm>
            <a:custGeom>
              <a:avLst/>
              <a:gdLst>
                <a:gd name="connsiteX0" fmla="*/ 41197 w 41197"/>
                <a:gd name="connsiteY0" fmla="*/ 0 h 62594"/>
                <a:gd name="connsiteX1" fmla="*/ 0 w 41197"/>
                <a:gd name="connsiteY1" fmla="*/ 62594 h 62594"/>
                <a:gd name="connsiteX2" fmla="*/ 5010 w 41197"/>
                <a:gd name="connsiteY2" fmla="*/ 53718 h 62594"/>
                <a:gd name="connsiteX3" fmla="*/ 41197 w 41197"/>
                <a:gd name="connsiteY3" fmla="*/ 0 h 62594"/>
              </a:gdLst>
              <a:ahLst/>
              <a:cxnLst>
                <a:cxn ang="0">
                  <a:pos x="connsiteX0" y="connsiteY0"/>
                </a:cxn>
                <a:cxn ang="0">
                  <a:pos x="connsiteX1" y="connsiteY1"/>
                </a:cxn>
                <a:cxn ang="0">
                  <a:pos x="connsiteX2" y="connsiteY2"/>
                </a:cxn>
                <a:cxn ang="0">
                  <a:pos x="connsiteX3" y="connsiteY3"/>
                </a:cxn>
              </a:cxnLst>
              <a:rect l="l" t="t" r="r" b="b"/>
              <a:pathLst>
                <a:path w="41197" h="62594">
                  <a:moveTo>
                    <a:pt x="41197" y="0"/>
                  </a:moveTo>
                  <a:lnTo>
                    <a:pt x="0" y="62594"/>
                  </a:lnTo>
                  <a:lnTo>
                    <a:pt x="5010" y="53718"/>
                  </a:lnTo>
                  <a:lnTo>
                    <a:pt x="4119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5" name="Freeform: Shape 74">
              <a:extLst>
                <a:ext uri="{FF2B5EF4-FFF2-40B4-BE49-F238E27FC236}">
                  <a16:creationId xmlns:a16="http://schemas.microsoft.com/office/drawing/2014/main" id="{FE78ADEC-DFAC-91B1-111B-B0C25CD32069}"/>
                </a:ext>
              </a:extLst>
            </p:cNvPr>
            <p:cNvSpPr/>
            <p:nvPr/>
          </p:nvSpPr>
          <p:spPr>
            <a:xfrm>
              <a:off x="3552004" y="2143521"/>
              <a:ext cx="187576" cy="366472"/>
            </a:xfrm>
            <a:custGeom>
              <a:avLst/>
              <a:gdLst>
                <a:gd name="connsiteX0" fmla="*/ 187576 w 187576"/>
                <a:gd name="connsiteY0" fmla="*/ 0 h 366471"/>
                <a:gd name="connsiteX1" fmla="*/ 88911 w 187576"/>
                <a:gd name="connsiteY1" fmla="*/ 174800 h 366471"/>
                <a:gd name="connsiteX2" fmla="*/ 0 w 187576"/>
                <a:gd name="connsiteY2" fmla="*/ 366471 h 366471"/>
                <a:gd name="connsiteX3" fmla="*/ 3926 w 187576"/>
                <a:gd name="connsiteY3" fmla="*/ 355745 h 366471"/>
                <a:gd name="connsiteX4" fmla="*/ 180679 w 187576"/>
                <a:gd name="connsiteY4" fmla="*/ 10479 h 366471"/>
                <a:gd name="connsiteX5" fmla="*/ 187576 w 187576"/>
                <a:gd name="connsiteY5" fmla="*/ 0 h 36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576" h="366471">
                  <a:moveTo>
                    <a:pt x="187576" y="0"/>
                  </a:moveTo>
                  <a:lnTo>
                    <a:pt x="88911" y="174800"/>
                  </a:lnTo>
                  <a:lnTo>
                    <a:pt x="0" y="366471"/>
                  </a:lnTo>
                  <a:lnTo>
                    <a:pt x="3926" y="355745"/>
                  </a:lnTo>
                  <a:cubicBezTo>
                    <a:pt x="54601" y="235937"/>
                    <a:pt x="113770" y="120596"/>
                    <a:pt x="180679" y="10479"/>
                  </a:cubicBezTo>
                  <a:lnTo>
                    <a:pt x="18757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6" name="Freeform: Shape 75">
              <a:extLst>
                <a:ext uri="{FF2B5EF4-FFF2-40B4-BE49-F238E27FC236}">
                  <a16:creationId xmlns:a16="http://schemas.microsoft.com/office/drawing/2014/main" id="{BB52FD43-AF94-85B7-4D6F-CAA03556F435}"/>
                </a:ext>
              </a:extLst>
            </p:cNvPr>
            <p:cNvSpPr/>
            <p:nvPr/>
          </p:nvSpPr>
          <p:spPr>
            <a:xfrm>
              <a:off x="3476594" y="2509991"/>
              <a:ext cx="75412" cy="203788"/>
            </a:xfrm>
            <a:custGeom>
              <a:avLst/>
              <a:gdLst>
                <a:gd name="connsiteX0" fmla="*/ 75411 w 75411"/>
                <a:gd name="connsiteY0" fmla="*/ 0 h 203788"/>
                <a:gd name="connsiteX1" fmla="*/ 824 w 75411"/>
                <a:gd name="connsiteY1" fmla="*/ 203788 h 203788"/>
                <a:gd name="connsiteX2" fmla="*/ 0 w 75411"/>
                <a:gd name="connsiteY2" fmla="*/ 203520 h 203788"/>
                <a:gd name="connsiteX3" fmla="*/ 74727 w 75411"/>
                <a:gd name="connsiteY3" fmla="*/ 1475 h 203788"/>
                <a:gd name="connsiteX4" fmla="*/ 75411 w 75411"/>
                <a:gd name="connsiteY4" fmla="*/ 0 h 203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11" h="203788">
                  <a:moveTo>
                    <a:pt x="75411" y="0"/>
                  </a:moveTo>
                  <a:lnTo>
                    <a:pt x="824" y="203788"/>
                  </a:lnTo>
                  <a:lnTo>
                    <a:pt x="0" y="203520"/>
                  </a:lnTo>
                  <a:cubicBezTo>
                    <a:pt x="22344" y="134752"/>
                    <a:pt x="47297" y="67372"/>
                    <a:pt x="74727" y="1475"/>
                  </a:cubicBezTo>
                  <a:lnTo>
                    <a:pt x="754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7" name="Freeform: Shape 76">
              <a:extLst>
                <a:ext uri="{FF2B5EF4-FFF2-40B4-BE49-F238E27FC236}">
                  <a16:creationId xmlns:a16="http://schemas.microsoft.com/office/drawing/2014/main" id="{0F8E7641-935C-5647-2B77-31D0C5A77B28}"/>
                </a:ext>
              </a:extLst>
            </p:cNvPr>
            <p:cNvSpPr/>
            <p:nvPr/>
          </p:nvSpPr>
          <p:spPr>
            <a:xfrm>
              <a:off x="3452617" y="2654904"/>
              <a:ext cx="45720" cy="128082"/>
            </a:xfrm>
            <a:custGeom>
              <a:avLst/>
              <a:gdLst>
                <a:gd name="connsiteX0" fmla="*/ 3054 w 3878"/>
                <a:gd name="connsiteY0" fmla="*/ 0 h 10863"/>
                <a:gd name="connsiteX1" fmla="*/ 3878 w 3878"/>
                <a:gd name="connsiteY1" fmla="*/ 268 h 10863"/>
                <a:gd name="connsiteX2" fmla="*/ 0 w 3878"/>
                <a:gd name="connsiteY2" fmla="*/ 10863 h 10863"/>
                <a:gd name="connsiteX3" fmla="*/ 3054 w 3878"/>
                <a:gd name="connsiteY3" fmla="*/ 0 h 10863"/>
              </a:gdLst>
              <a:ahLst/>
              <a:cxnLst>
                <a:cxn ang="0">
                  <a:pos x="connsiteX0" y="connsiteY0"/>
                </a:cxn>
                <a:cxn ang="0">
                  <a:pos x="connsiteX1" y="connsiteY1"/>
                </a:cxn>
                <a:cxn ang="0">
                  <a:pos x="connsiteX2" y="connsiteY2"/>
                </a:cxn>
                <a:cxn ang="0">
                  <a:pos x="connsiteX3" y="connsiteY3"/>
                </a:cxn>
              </a:cxnLst>
              <a:rect l="l" t="t" r="r" b="b"/>
              <a:pathLst>
                <a:path w="3878" h="10863">
                  <a:moveTo>
                    <a:pt x="3054" y="0"/>
                  </a:moveTo>
                  <a:lnTo>
                    <a:pt x="3878" y="268"/>
                  </a:lnTo>
                  <a:lnTo>
                    <a:pt x="0" y="10863"/>
                  </a:lnTo>
                  <a:lnTo>
                    <a:pt x="305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8" name="Freeform: Shape 77">
              <a:extLst>
                <a:ext uri="{FF2B5EF4-FFF2-40B4-BE49-F238E27FC236}">
                  <a16:creationId xmlns:a16="http://schemas.microsoft.com/office/drawing/2014/main" id="{D51C9542-289B-569B-46CD-E42281B1666D}"/>
                </a:ext>
              </a:extLst>
            </p:cNvPr>
            <p:cNvSpPr/>
            <p:nvPr/>
          </p:nvSpPr>
          <p:spPr>
            <a:xfrm>
              <a:off x="3437778" y="2688949"/>
              <a:ext cx="45720" cy="162624"/>
            </a:xfrm>
            <a:custGeom>
              <a:avLst/>
              <a:gdLst>
                <a:gd name="connsiteX0" fmla="*/ 25800 w 25800"/>
                <a:gd name="connsiteY0" fmla="*/ 0 h 91769"/>
                <a:gd name="connsiteX1" fmla="*/ 0 w 25800"/>
                <a:gd name="connsiteY1" fmla="*/ 91769 h 91769"/>
                <a:gd name="connsiteX2" fmla="*/ 18392 w 25800"/>
                <a:gd name="connsiteY2" fmla="*/ 20240 h 91769"/>
                <a:gd name="connsiteX3" fmla="*/ 25800 w 25800"/>
                <a:gd name="connsiteY3" fmla="*/ 0 h 91769"/>
              </a:gdLst>
              <a:ahLst/>
              <a:cxnLst>
                <a:cxn ang="0">
                  <a:pos x="connsiteX0" y="connsiteY0"/>
                </a:cxn>
                <a:cxn ang="0">
                  <a:pos x="connsiteX1" y="connsiteY1"/>
                </a:cxn>
                <a:cxn ang="0">
                  <a:pos x="connsiteX2" y="connsiteY2"/>
                </a:cxn>
                <a:cxn ang="0">
                  <a:pos x="connsiteX3" y="connsiteY3"/>
                </a:cxn>
              </a:cxnLst>
              <a:rect l="l" t="t" r="r" b="b"/>
              <a:pathLst>
                <a:path w="25800" h="91769">
                  <a:moveTo>
                    <a:pt x="25800" y="0"/>
                  </a:moveTo>
                  <a:lnTo>
                    <a:pt x="0" y="91769"/>
                  </a:lnTo>
                  <a:lnTo>
                    <a:pt x="18392" y="20240"/>
                  </a:lnTo>
                  <a:lnTo>
                    <a:pt x="2580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9" name="Freeform: Shape 78">
              <a:extLst>
                <a:ext uri="{FF2B5EF4-FFF2-40B4-BE49-F238E27FC236}">
                  <a16:creationId xmlns:a16="http://schemas.microsoft.com/office/drawing/2014/main" id="{AC694283-1F1E-413A-FB9E-76517EAF9EC4}"/>
                </a:ext>
              </a:extLst>
            </p:cNvPr>
            <p:cNvSpPr/>
            <p:nvPr/>
          </p:nvSpPr>
          <p:spPr>
            <a:xfrm>
              <a:off x="3406082" y="2800347"/>
              <a:ext cx="45720" cy="177812"/>
            </a:xfrm>
            <a:custGeom>
              <a:avLst/>
              <a:gdLst>
                <a:gd name="connsiteX0" fmla="*/ 37595 w 37595"/>
                <a:gd name="connsiteY0" fmla="*/ 0 h 146215"/>
                <a:gd name="connsiteX1" fmla="*/ 0 w 37595"/>
                <a:gd name="connsiteY1" fmla="*/ 146215 h 146215"/>
                <a:gd name="connsiteX2" fmla="*/ 8146 w 37595"/>
                <a:gd name="connsiteY2" fmla="*/ 104749 h 146215"/>
                <a:gd name="connsiteX3" fmla="*/ 37595 w 37595"/>
                <a:gd name="connsiteY3" fmla="*/ 0 h 146215"/>
              </a:gdLst>
              <a:ahLst/>
              <a:cxnLst>
                <a:cxn ang="0">
                  <a:pos x="connsiteX0" y="connsiteY0"/>
                </a:cxn>
                <a:cxn ang="0">
                  <a:pos x="connsiteX1" y="connsiteY1"/>
                </a:cxn>
                <a:cxn ang="0">
                  <a:pos x="connsiteX2" y="connsiteY2"/>
                </a:cxn>
                <a:cxn ang="0">
                  <a:pos x="connsiteX3" y="connsiteY3"/>
                </a:cxn>
              </a:cxnLst>
              <a:rect l="l" t="t" r="r" b="b"/>
              <a:pathLst>
                <a:path w="37595" h="146215">
                  <a:moveTo>
                    <a:pt x="37595" y="0"/>
                  </a:moveTo>
                  <a:lnTo>
                    <a:pt x="0" y="146215"/>
                  </a:lnTo>
                  <a:lnTo>
                    <a:pt x="8146" y="104749"/>
                  </a:lnTo>
                  <a:lnTo>
                    <a:pt x="3759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0" name="Freeform: Shape 79">
              <a:extLst>
                <a:ext uri="{FF2B5EF4-FFF2-40B4-BE49-F238E27FC236}">
                  <a16:creationId xmlns:a16="http://schemas.microsoft.com/office/drawing/2014/main" id="{2777925F-904D-E37D-855F-0031A291599A}"/>
                </a:ext>
              </a:extLst>
            </p:cNvPr>
            <p:cNvSpPr/>
            <p:nvPr/>
          </p:nvSpPr>
          <p:spPr>
            <a:xfrm>
              <a:off x="3378345" y="2891511"/>
              <a:ext cx="45720" cy="232702"/>
            </a:xfrm>
            <a:custGeom>
              <a:avLst/>
              <a:gdLst>
                <a:gd name="connsiteX0" fmla="*/ 17879 w 17879"/>
                <a:gd name="connsiteY0" fmla="*/ 0 h 91003"/>
                <a:gd name="connsiteX1" fmla="*/ 0 w 17879"/>
                <a:gd name="connsiteY1" fmla="*/ 91003 h 91003"/>
                <a:gd name="connsiteX2" fmla="*/ 8062 w 17879"/>
                <a:gd name="connsiteY2" fmla="*/ 38178 h 91003"/>
                <a:gd name="connsiteX3" fmla="*/ 17879 w 17879"/>
                <a:gd name="connsiteY3" fmla="*/ 0 h 91003"/>
              </a:gdLst>
              <a:ahLst/>
              <a:cxnLst>
                <a:cxn ang="0">
                  <a:pos x="connsiteX0" y="connsiteY0"/>
                </a:cxn>
                <a:cxn ang="0">
                  <a:pos x="connsiteX1" y="connsiteY1"/>
                </a:cxn>
                <a:cxn ang="0">
                  <a:pos x="connsiteX2" y="connsiteY2"/>
                </a:cxn>
                <a:cxn ang="0">
                  <a:pos x="connsiteX3" y="connsiteY3"/>
                </a:cxn>
              </a:cxnLst>
              <a:rect l="l" t="t" r="r" b="b"/>
              <a:pathLst>
                <a:path w="17879" h="91003">
                  <a:moveTo>
                    <a:pt x="17879" y="0"/>
                  </a:moveTo>
                  <a:lnTo>
                    <a:pt x="0" y="91003"/>
                  </a:lnTo>
                  <a:lnTo>
                    <a:pt x="8062" y="38178"/>
                  </a:lnTo>
                  <a:lnTo>
                    <a:pt x="1787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1" name="Freeform: Shape 80">
              <a:extLst>
                <a:ext uri="{FF2B5EF4-FFF2-40B4-BE49-F238E27FC236}">
                  <a16:creationId xmlns:a16="http://schemas.microsoft.com/office/drawing/2014/main" id="{3CE7606A-D255-9A89-0259-8532DACF6A39}"/>
                </a:ext>
              </a:extLst>
            </p:cNvPr>
            <p:cNvSpPr/>
            <p:nvPr/>
          </p:nvSpPr>
          <p:spPr>
            <a:xfrm>
              <a:off x="3356779" y="2986299"/>
              <a:ext cx="45720" cy="299572"/>
            </a:xfrm>
            <a:custGeom>
              <a:avLst/>
              <a:gdLst>
                <a:gd name="connsiteX0" fmla="*/ 25250 w 25250"/>
                <a:gd name="connsiteY0" fmla="*/ 0 h 165446"/>
                <a:gd name="connsiteX1" fmla="*/ 0 w 25250"/>
                <a:gd name="connsiteY1" fmla="*/ 165446 h 165446"/>
                <a:gd name="connsiteX2" fmla="*/ 10230 w 25250"/>
                <a:gd name="connsiteY2" fmla="*/ 76452 h 165446"/>
                <a:gd name="connsiteX3" fmla="*/ 25250 w 25250"/>
                <a:gd name="connsiteY3" fmla="*/ 0 h 165446"/>
              </a:gdLst>
              <a:ahLst/>
              <a:cxnLst>
                <a:cxn ang="0">
                  <a:pos x="connsiteX0" y="connsiteY0"/>
                </a:cxn>
                <a:cxn ang="0">
                  <a:pos x="connsiteX1" y="connsiteY1"/>
                </a:cxn>
                <a:cxn ang="0">
                  <a:pos x="connsiteX2" y="connsiteY2"/>
                </a:cxn>
                <a:cxn ang="0">
                  <a:pos x="connsiteX3" y="connsiteY3"/>
                </a:cxn>
              </a:cxnLst>
              <a:rect l="l" t="t" r="r" b="b"/>
              <a:pathLst>
                <a:path w="25250" h="165446">
                  <a:moveTo>
                    <a:pt x="25250" y="0"/>
                  </a:moveTo>
                  <a:lnTo>
                    <a:pt x="0" y="165446"/>
                  </a:lnTo>
                  <a:lnTo>
                    <a:pt x="10230" y="76452"/>
                  </a:lnTo>
                  <a:lnTo>
                    <a:pt x="252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2" name="Freeform: Shape 81">
              <a:extLst>
                <a:ext uri="{FF2B5EF4-FFF2-40B4-BE49-F238E27FC236}">
                  <a16:creationId xmlns:a16="http://schemas.microsoft.com/office/drawing/2014/main" id="{BE072DF3-DF97-9E15-A63E-5461C3B3C023}"/>
                </a:ext>
              </a:extLst>
            </p:cNvPr>
            <p:cNvSpPr/>
            <p:nvPr/>
          </p:nvSpPr>
          <p:spPr>
            <a:xfrm>
              <a:off x="3339885" y="3057082"/>
              <a:ext cx="45720" cy="397728"/>
            </a:xfrm>
            <a:custGeom>
              <a:avLst/>
              <a:gdLst>
                <a:gd name="connsiteX0" fmla="*/ 8538 w 8538"/>
                <a:gd name="connsiteY0" fmla="*/ 0 h 74273"/>
                <a:gd name="connsiteX1" fmla="*/ 0 w 8538"/>
                <a:gd name="connsiteY1" fmla="*/ 74273 h 74273"/>
                <a:gd name="connsiteX2" fmla="*/ 1383 w 8538"/>
                <a:gd name="connsiteY2" fmla="*/ 46880 h 74273"/>
                <a:gd name="connsiteX3" fmla="*/ 8538 w 8538"/>
                <a:gd name="connsiteY3" fmla="*/ 0 h 74273"/>
              </a:gdLst>
              <a:ahLst/>
              <a:cxnLst>
                <a:cxn ang="0">
                  <a:pos x="connsiteX0" y="connsiteY0"/>
                </a:cxn>
                <a:cxn ang="0">
                  <a:pos x="connsiteX1" y="connsiteY1"/>
                </a:cxn>
                <a:cxn ang="0">
                  <a:pos x="connsiteX2" y="connsiteY2"/>
                </a:cxn>
                <a:cxn ang="0">
                  <a:pos x="connsiteX3" y="connsiteY3"/>
                </a:cxn>
              </a:cxnLst>
              <a:rect l="l" t="t" r="r" b="b"/>
              <a:pathLst>
                <a:path w="8538" h="74273">
                  <a:moveTo>
                    <a:pt x="8538" y="0"/>
                  </a:moveTo>
                  <a:lnTo>
                    <a:pt x="0" y="74273"/>
                  </a:lnTo>
                  <a:lnTo>
                    <a:pt x="1383" y="46880"/>
                  </a:lnTo>
                  <a:lnTo>
                    <a:pt x="853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3" name="Freeform: Shape 82">
              <a:extLst>
                <a:ext uri="{FF2B5EF4-FFF2-40B4-BE49-F238E27FC236}">
                  <a16:creationId xmlns:a16="http://schemas.microsoft.com/office/drawing/2014/main" id="{863442FE-D2B6-266B-6A00-D704B70EFD1D}"/>
                </a:ext>
              </a:extLst>
            </p:cNvPr>
            <p:cNvSpPr/>
            <p:nvPr/>
          </p:nvSpPr>
          <p:spPr>
            <a:xfrm>
              <a:off x="3329424" y="2962976"/>
              <a:ext cx="45720" cy="905474"/>
            </a:xfrm>
            <a:custGeom>
              <a:avLst/>
              <a:gdLst>
                <a:gd name="connsiteX0" fmla="*/ 12384 w 12384"/>
                <a:gd name="connsiteY0" fmla="*/ 0 h 245261"/>
                <a:gd name="connsiteX1" fmla="*/ 0 w 12384"/>
                <a:gd name="connsiteY1" fmla="*/ 245261 h 245261"/>
                <a:gd name="connsiteX2" fmla="*/ 7065 w 12384"/>
                <a:gd name="connsiteY2" fmla="*/ 46269 h 245261"/>
                <a:gd name="connsiteX3" fmla="*/ 12384 w 12384"/>
                <a:gd name="connsiteY3" fmla="*/ 0 h 245261"/>
              </a:gdLst>
              <a:ahLst/>
              <a:cxnLst>
                <a:cxn ang="0">
                  <a:pos x="connsiteX0" y="connsiteY0"/>
                </a:cxn>
                <a:cxn ang="0">
                  <a:pos x="connsiteX1" y="connsiteY1"/>
                </a:cxn>
                <a:cxn ang="0">
                  <a:pos x="connsiteX2" y="connsiteY2"/>
                </a:cxn>
                <a:cxn ang="0">
                  <a:pos x="connsiteX3" y="connsiteY3"/>
                </a:cxn>
              </a:cxnLst>
              <a:rect l="l" t="t" r="r" b="b"/>
              <a:pathLst>
                <a:path w="12384" h="245261">
                  <a:moveTo>
                    <a:pt x="12384" y="0"/>
                  </a:moveTo>
                  <a:lnTo>
                    <a:pt x="0" y="245261"/>
                  </a:lnTo>
                  <a:lnTo>
                    <a:pt x="7065" y="46269"/>
                  </a:lnTo>
                  <a:lnTo>
                    <a:pt x="1238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4" name="Freeform: Shape 83">
              <a:extLst>
                <a:ext uri="{FF2B5EF4-FFF2-40B4-BE49-F238E27FC236}">
                  <a16:creationId xmlns:a16="http://schemas.microsoft.com/office/drawing/2014/main" id="{0BF566BC-1046-B8B0-65EB-EC01F1D7F789}"/>
                </a:ext>
              </a:extLst>
            </p:cNvPr>
            <p:cNvSpPr/>
            <p:nvPr/>
          </p:nvSpPr>
          <p:spPr>
            <a:xfrm>
              <a:off x="3329400" y="3224023"/>
              <a:ext cx="45720" cy="881390"/>
            </a:xfrm>
            <a:custGeom>
              <a:avLst/>
              <a:gdLst>
                <a:gd name="connsiteX0" fmla="*/ 348 w 13064"/>
                <a:gd name="connsiteY0" fmla="*/ 0 h 251848"/>
                <a:gd name="connsiteX1" fmla="*/ 13064 w 13064"/>
                <a:gd name="connsiteY1" fmla="*/ 251848 h 251848"/>
                <a:gd name="connsiteX2" fmla="*/ 8929 w 13064"/>
                <a:gd name="connsiteY2" fmla="*/ 217781 h 251848"/>
                <a:gd name="connsiteX3" fmla="*/ 0 w 13064"/>
                <a:gd name="connsiteY3" fmla="*/ 9784 h 251848"/>
                <a:gd name="connsiteX4" fmla="*/ 348 w 13064"/>
                <a:gd name="connsiteY4" fmla="*/ 0 h 251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4" h="251848">
                  <a:moveTo>
                    <a:pt x="348" y="0"/>
                  </a:moveTo>
                  <a:lnTo>
                    <a:pt x="13064" y="251848"/>
                  </a:lnTo>
                  <a:lnTo>
                    <a:pt x="8929" y="217781"/>
                  </a:lnTo>
                  <a:cubicBezTo>
                    <a:pt x="3260" y="148757"/>
                    <a:pt x="266" y="79373"/>
                    <a:pt x="0" y="9784"/>
                  </a:cubicBezTo>
                  <a:lnTo>
                    <a:pt x="34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5" name="Freeform: Shape 84">
              <a:extLst>
                <a:ext uri="{FF2B5EF4-FFF2-40B4-BE49-F238E27FC236}">
                  <a16:creationId xmlns:a16="http://schemas.microsoft.com/office/drawing/2014/main" id="{435450B5-37A6-5C99-1050-7595FEF54B67}"/>
                </a:ext>
              </a:extLst>
            </p:cNvPr>
            <p:cNvSpPr/>
            <p:nvPr/>
          </p:nvSpPr>
          <p:spPr>
            <a:xfrm>
              <a:off x="3340125" y="3636873"/>
              <a:ext cx="45720" cy="376620"/>
            </a:xfrm>
            <a:custGeom>
              <a:avLst/>
              <a:gdLst>
                <a:gd name="connsiteX0" fmla="*/ 0 w 8386"/>
                <a:gd name="connsiteY0" fmla="*/ 0 h 69079"/>
                <a:gd name="connsiteX1" fmla="*/ 8386 w 8386"/>
                <a:gd name="connsiteY1" fmla="*/ 69079 h 69079"/>
                <a:gd name="connsiteX2" fmla="*/ 1067 w 8386"/>
                <a:gd name="connsiteY2" fmla="*/ 21124 h 69079"/>
                <a:gd name="connsiteX3" fmla="*/ 0 w 8386"/>
                <a:gd name="connsiteY3" fmla="*/ 0 h 69079"/>
              </a:gdLst>
              <a:ahLst/>
              <a:cxnLst>
                <a:cxn ang="0">
                  <a:pos x="connsiteX0" y="connsiteY0"/>
                </a:cxn>
                <a:cxn ang="0">
                  <a:pos x="connsiteX1" y="connsiteY1"/>
                </a:cxn>
                <a:cxn ang="0">
                  <a:pos x="connsiteX2" y="connsiteY2"/>
                </a:cxn>
                <a:cxn ang="0">
                  <a:pos x="connsiteX3" y="connsiteY3"/>
                </a:cxn>
              </a:cxnLst>
              <a:rect l="l" t="t" r="r" b="b"/>
              <a:pathLst>
                <a:path w="8386" h="69079">
                  <a:moveTo>
                    <a:pt x="0" y="0"/>
                  </a:moveTo>
                  <a:lnTo>
                    <a:pt x="8386" y="69079"/>
                  </a:lnTo>
                  <a:lnTo>
                    <a:pt x="1067" y="2112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6" name="Freeform: Shape 85">
              <a:extLst>
                <a:ext uri="{FF2B5EF4-FFF2-40B4-BE49-F238E27FC236}">
                  <a16:creationId xmlns:a16="http://schemas.microsoft.com/office/drawing/2014/main" id="{7D7A95C7-A522-4917-171A-39A276A1B947}"/>
                </a:ext>
              </a:extLst>
            </p:cNvPr>
            <p:cNvSpPr/>
            <p:nvPr/>
          </p:nvSpPr>
          <p:spPr>
            <a:xfrm>
              <a:off x="3357220" y="3794469"/>
              <a:ext cx="45720" cy="299564"/>
            </a:xfrm>
            <a:custGeom>
              <a:avLst/>
              <a:gdLst>
                <a:gd name="connsiteX0" fmla="*/ 0 w 25801"/>
                <a:gd name="connsiteY0" fmla="*/ 0 h 169057"/>
                <a:gd name="connsiteX1" fmla="*/ 25801 w 25801"/>
                <a:gd name="connsiteY1" fmla="*/ 169057 h 169057"/>
                <a:gd name="connsiteX2" fmla="*/ 12466 w 25801"/>
                <a:gd name="connsiteY2" fmla="*/ 102696 h 169057"/>
                <a:gd name="connsiteX3" fmla="*/ 0 w 25801"/>
                <a:gd name="connsiteY3" fmla="*/ 0 h 169057"/>
              </a:gdLst>
              <a:ahLst/>
              <a:cxnLst>
                <a:cxn ang="0">
                  <a:pos x="connsiteX0" y="connsiteY0"/>
                </a:cxn>
                <a:cxn ang="0">
                  <a:pos x="connsiteX1" y="connsiteY1"/>
                </a:cxn>
                <a:cxn ang="0">
                  <a:pos x="connsiteX2" y="connsiteY2"/>
                </a:cxn>
                <a:cxn ang="0">
                  <a:pos x="connsiteX3" y="connsiteY3"/>
                </a:cxn>
              </a:cxnLst>
              <a:rect l="l" t="t" r="r" b="b"/>
              <a:pathLst>
                <a:path w="25801" h="169057">
                  <a:moveTo>
                    <a:pt x="0" y="0"/>
                  </a:moveTo>
                  <a:lnTo>
                    <a:pt x="25801" y="169057"/>
                  </a:lnTo>
                  <a:lnTo>
                    <a:pt x="12466" y="10269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7" name="Freeform: Shape 86">
              <a:extLst>
                <a:ext uri="{FF2B5EF4-FFF2-40B4-BE49-F238E27FC236}">
                  <a16:creationId xmlns:a16="http://schemas.microsoft.com/office/drawing/2014/main" id="{253B33F4-6429-8383-C992-22E5E9BF63D0}"/>
                </a:ext>
              </a:extLst>
            </p:cNvPr>
            <p:cNvSpPr/>
            <p:nvPr/>
          </p:nvSpPr>
          <p:spPr>
            <a:xfrm>
              <a:off x="3379117" y="3959797"/>
              <a:ext cx="45720" cy="227518"/>
            </a:xfrm>
            <a:custGeom>
              <a:avLst/>
              <a:gdLst>
                <a:gd name="connsiteX0" fmla="*/ 0 w 17996"/>
                <a:gd name="connsiteY0" fmla="*/ 0 h 89553"/>
                <a:gd name="connsiteX1" fmla="*/ 17996 w 17996"/>
                <a:gd name="connsiteY1" fmla="*/ 89553 h 89553"/>
                <a:gd name="connsiteX2" fmla="*/ 7347 w 17996"/>
                <a:gd name="connsiteY2" fmla="*/ 48139 h 89553"/>
                <a:gd name="connsiteX3" fmla="*/ 0 w 17996"/>
                <a:gd name="connsiteY3" fmla="*/ 0 h 89553"/>
              </a:gdLst>
              <a:ahLst/>
              <a:cxnLst>
                <a:cxn ang="0">
                  <a:pos x="connsiteX0" y="connsiteY0"/>
                </a:cxn>
                <a:cxn ang="0">
                  <a:pos x="connsiteX1" y="connsiteY1"/>
                </a:cxn>
                <a:cxn ang="0">
                  <a:pos x="connsiteX2" y="connsiteY2"/>
                </a:cxn>
                <a:cxn ang="0">
                  <a:pos x="connsiteX3" y="connsiteY3"/>
                </a:cxn>
              </a:cxnLst>
              <a:rect l="l" t="t" r="r" b="b"/>
              <a:pathLst>
                <a:path w="17996" h="89553">
                  <a:moveTo>
                    <a:pt x="0" y="0"/>
                  </a:moveTo>
                  <a:lnTo>
                    <a:pt x="17996" y="89553"/>
                  </a:lnTo>
                  <a:lnTo>
                    <a:pt x="7347" y="481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8" name="Freeform: Shape 87">
              <a:extLst>
                <a:ext uri="{FF2B5EF4-FFF2-40B4-BE49-F238E27FC236}">
                  <a16:creationId xmlns:a16="http://schemas.microsoft.com/office/drawing/2014/main" id="{057A30B7-488F-162B-B81A-100B78A9EBCC}"/>
                </a:ext>
              </a:extLst>
            </p:cNvPr>
            <p:cNvSpPr/>
            <p:nvPr/>
          </p:nvSpPr>
          <p:spPr>
            <a:xfrm>
              <a:off x="3407337" y="4104179"/>
              <a:ext cx="45720" cy="177808"/>
            </a:xfrm>
            <a:custGeom>
              <a:avLst/>
              <a:gdLst>
                <a:gd name="connsiteX0" fmla="*/ 0 w 38441"/>
                <a:gd name="connsiteY0" fmla="*/ 0 h 149504"/>
                <a:gd name="connsiteX1" fmla="*/ 38441 w 38441"/>
                <a:gd name="connsiteY1" fmla="*/ 149504 h 149504"/>
                <a:gd name="connsiteX2" fmla="*/ 9414 w 38441"/>
                <a:gd name="connsiteY2" fmla="*/ 46850 h 149504"/>
                <a:gd name="connsiteX3" fmla="*/ 0 w 38441"/>
                <a:gd name="connsiteY3" fmla="*/ 0 h 149504"/>
              </a:gdLst>
              <a:ahLst/>
              <a:cxnLst>
                <a:cxn ang="0">
                  <a:pos x="connsiteX0" y="connsiteY0"/>
                </a:cxn>
                <a:cxn ang="0">
                  <a:pos x="connsiteX1" y="connsiteY1"/>
                </a:cxn>
                <a:cxn ang="0">
                  <a:pos x="connsiteX2" y="connsiteY2"/>
                </a:cxn>
                <a:cxn ang="0">
                  <a:pos x="connsiteX3" y="connsiteY3"/>
                </a:cxn>
              </a:cxnLst>
              <a:rect l="l" t="t" r="r" b="b"/>
              <a:pathLst>
                <a:path w="38441" h="149504">
                  <a:moveTo>
                    <a:pt x="0" y="0"/>
                  </a:moveTo>
                  <a:lnTo>
                    <a:pt x="38441" y="149504"/>
                  </a:lnTo>
                  <a:lnTo>
                    <a:pt x="9414" y="46850"/>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9" name="Freeform: Shape 88">
              <a:extLst>
                <a:ext uri="{FF2B5EF4-FFF2-40B4-BE49-F238E27FC236}">
                  <a16:creationId xmlns:a16="http://schemas.microsoft.com/office/drawing/2014/main" id="{0AA87B15-D9EE-7E2B-9E7A-D4E76F14277F}"/>
                </a:ext>
              </a:extLst>
            </p:cNvPr>
            <p:cNvSpPr/>
            <p:nvPr/>
          </p:nvSpPr>
          <p:spPr>
            <a:xfrm>
              <a:off x="3438577" y="4229503"/>
              <a:ext cx="45720" cy="161692"/>
            </a:xfrm>
            <a:custGeom>
              <a:avLst/>
              <a:gdLst>
                <a:gd name="connsiteX0" fmla="*/ 0 w 24042"/>
                <a:gd name="connsiteY0" fmla="*/ 0 h 85025"/>
                <a:gd name="connsiteX1" fmla="*/ 24042 w 24042"/>
                <a:gd name="connsiteY1" fmla="*/ 85025 h 85025"/>
                <a:gd name="connsiteX2" fmla="*/ 16714 w 24042"/>
                <a:gd name="connsiteY2" fmla="*/ 65004 h 85025"/>
                <a:gd name="connsiteX3" fmla="*/ 0 w 24042"/>
                <a:gd name="connsiteY3" fmla="*/ 0 h 85025"/>
              </a:gdLst>
              <a:ahLst/>
              <a:cxnLst>
                <a:cxn ang="0">
                  <a:pos x="connsiteX0" y="connsiteY0"/>
                </a:cxn>
                <a:cxn ang="0">
                  <a:pos x="connsiteX1" y="connsiteY1"/>
                </a:cxn>
                <a:cxn ang="0">
                  <a:pos x="connsiteX2" y="connsiteY2"/>
                </a:cxn>
                <a:cxn ang="0">
                  <a:pos x="connsiteX3" y="connsiteY3"/>
                </a:cxn>
              </a:cxnLst>
              <a:rect l="l" t="t" r="r" b="b"/>
              <a:pathLst>
                <a:path w="24042" h="85025">
                  <a:moveTo>
                    <a:pt x="0" y="0"/>
                  </a:moveTo>
                  <a:lnTo>
                    <a:pt x="24042" y="85025"/>
                  </a:lnTo>
                  <a:lnTo>
                    <a:pt x="16714" y="6500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0" name="Freeform: Shape 89">
              <a:extLst>
                <a:ext uri="{FF2B5EF4-FFF2-40B4-BE49-F238E27FC236}">
                  <a16:creationId xmlns:a16="http://schemas.microsoft.com/office/drawing/2014/main" id="{51D98204-4C2B-718B-36F5-6D5BDB70A805}"/>
                </a:ext>
              </a:extLst>
            </p:cNvPr>
            <p:cNvSpPr/>
            <p:nvPr/>
          </p:nvSpPr>
          <p:spPr>
            <a:xfrm>
              <a:off x="3473458" y="4352861"/>
              <a:ext cx="77012" cy="210412"/>
            </a:xfrm>
            <a:custGeom>
              <a:avLst/>
              <a:gdLst>
                <a:gd name="connsiteX0" fmla="*/ 0 w 77012"/>
                <a:gd name="connsiteY0" fmla="*/ 0 h 210411"/>
                <a:gd name="connsiteX1" fmla="*/ 77012 w 77012"/>
                <a:gd name="connsiteY1" fmla="*/ 210411 h 210411"/>
                <a:gd name="connsiteX2" fmla="*/ 74494 w 77012"/>
                <a:gd name="connsiteY2" fmla="*/ 204921 h 210411"/>
                <a:gd name="connsiteX3" fmla="*/ 3134 w 77012"/>
                <a:gd name="connsiteY3" fmla="*/ 11084 h 210411"/>
                <a:gd name="connsiteX4" fmla="*/ 0 w 77012"/>
                <a:gd name="connsiteY4" fmla="*/ 0 h 210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12" h="210411">
                  <a:moveTo>
                    <a:pt x="0" y="0"/>
                  </a:moveTo>
                  <a:lnTo>
                    <a:pt x="77012" y="210411"/>
                  </a:lnTo>
                  <a:lnTo>
                    <a:pt x="74494" y="204921"/>
                  </a:lnTo>
                  <a:cubicBezTo>
                    <a:pt x="48215" y="141232"/>
                    <a:pt x="24411" y="76569"/>
                    <a:pt x="3134" y="1108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1" name="Freeform: Shape 90">
              <a:extLst>
                <a:ext uri="{FF2B5EF4-FFF2-40B4-BE49-F238E27FC236}">
                  <a16:creationId xmlns:a16="http://schemas.microsoft.com/office/drawing/2014/main" id="{10565FEB-1A6D-922B-C242-F5D01721FE62}"/>
                </a:ext>
              </a:extLst>
            </p:cNvPr>
            <p:cNvSpPr/>
            <p:nvPr/>
          </p:nvSpPr>
          <p:spPr>
            <a:xfrm>
              <a:off x="3544760" y="4550821"/>
              <a:ext cx="45720" cy="99686"/>
            </a:xfrm>
            <a:custGeom>
              <a:avLst/>
              <a:gdLst>
                <a:gd name="connsiteX0" fmla="*/ 0 w 34300"/>
                <a:gd name="connsiteY0" fmla="*/ 0 h 74786"/>
                <a:gd name="connsiteX1" fmla="*/ 34300 w 34300"/>
                <a:gd name="connsiteY1" fmla="*/ 74786 h 74786"/>
                <a:gd name="connsiteX2" fmla="*/ 5460 w 34300"/>
                <a:gd name="connsiteY2" fmla="*/ 14918 h 74786"/>
                <a:gd name="connsiteX3" fmla="*/ 0 w 34300"/>
                <a:gd name="connsiteY3" fmla="*/ 0 h 74786"/>
              </a:gdLst>
              <a:ahLst/>
              <a:cxnLst>
                <a:cxn ang="0">
                  <a:pos x="connsiteX0" y="connsiteY0"/>
                </a:cxn>
                <a:cxn ang="0">
                  <a:pos x="connsiteX1" y="connsiteY1"/>
                </a:cxn>
                <a:cxn ang="0">
                  <a:pos x="connsiteX2" y="connsiteY2"/>
                </a:cxn>
                <a:cxn ang="0">
                  <a:pos x="connsiteX3" y="connsiteY3"/>
                </a:cxn>
              </a:cxnLst>
              <a:rect l="l" t="t" r="r" b="b"/>
              <a:pathLst>
                <a:path w="34300" h="74786">
                  <a:moveTo>
                    <a:pt x="0" y="0"/>
                  </a:moveTo>
                  <a:lnTo>
                    <a:pt x="34300" y="74786"/>
                  </a:lnTo>
                  <a:lnTo>
                    <a:pt x="5460" y="1491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2" name="Freeform: Shape 91">
              <a:extLst>
                <a:ext uri="{FF2B5EF4-FFF2-40B4-BE49-F238E27FC236}">
                  <a16:creationId xmlns:a16="http://schemas.microsoft.com/office/drawing/2014/main" id="{6FAE30D9-E6BF-E63B-D367-D55F1E950313}"/>
                </a:ext>
              </a:extLst>
            </p:cNvPr>
            <p:cNvSpPr/>
            <p:nvPr/>
          </p:nvSpPr>
          <p:spPr>
            <a:xfrm>
              <a:off x="3584770" y="4638058"/>
              <a:ext cx="67988" cy="141138"/>
            </a:xfrm>
            <a:custGeom>
              <a:avLst/>
              <a:gdLst>
                <a:gd name="connsiteX0" fmla="*/ 0 w 67988"/>
                <a:gd name="connsiteY0" fmla="*/ 0 h 141137"/>
                <a:gd name="connsiteX1" fmla="*/ 67988 w 67988"/>
                <a:gd name="connsiteY1" fmla="*/ 141137 h 141137"/>
                <a:gd name="connsiteX2" fmla="*/ 49401 w 67988"/>
                <a:gd name="connsiteY2" fmla="*/ 107713 h 141137"/>
                <a:gd name="connsiteX3" fmla="*/ 0 w 67988"/>
                <a:gd name="connsiteY3" fmla="*/ 0 h 141137"/>
              </a:gdLst>
              <a:ahLst/>
              <a:cxnLst>
                <a:cxn ang="0">
                  <a:pos x="connsiteX0" y="connsiteY0"/>
                </a:cxn>
                <a:cxn ang="0">
                  <a:pos x="connsiteX1" y="connsiteY1"/>
                </a:cxn>
                <a:cxn ang="0">
                  <a:pos x="connsiteX2" y="connsiteY2"/>
                </a:cxn>
                <a:cxn ang="0">
                  <a:pos x="connsiteX3" y="connsiteY3"/>
                </a:cxn>
              </a:cxnLst>
              <a:rect l="l" t="t" r="r" b="b"/>
              <a:pathLst>
                <a:path w="67988" h="141137">
                  <a:moveTo>
                    <a:pt x="0" y="0"/>
                  </a:moveTo>
                  <a:lnTo>
                    <a:pt x="67988" y="141137"/>
                  </a:lnTo>
                  <a:lnTo>
                    <a:pt x="49401" y="107713"/>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3" name="Freeform: Shape 92">
              <a:extLst>
                <a:ext uri="{FF2B5EF4-FFF2-40B4-BE49-F238E27FC236}">
                  <a16:creationId xmlns:a16="http://schemas.microsoft.com/office/drawing/2014/main" id="{90F9F3CF-80E3-D1C8-6A29-BF84BC00CBF3}"/>
                </a:ext>
              </a:extLst>
            </p:cNvPr>
            <p:cNvSpPr/>
            <p:nvPr/>
          </p:nvSpPr>
          <p:spPr>
            <a:xfrm>
              <a:off x="3651963" y="4777764"/>
              <a:ext cx="45720" cy="82214"/>
            </a:xfrm>
            <a:custGeom>
              <a:avLst/>
              <a:gdLst>
                <a:gd name="connsiteX0" fmla="*/ 0 w 44130"/>
                <a:gd name="connsiteY0" fmla="*/ 0 h 79354"/>
                <a:gd name="connsiteX1" fmla="*/ 44130 w 44130"/>
                <a:gd name="connsiteY1" fmla="*/ 79354 h 79354"/>
                <a:gd name="connsiteX2" fmla="*/ 15623 w 44130"/>
                <a:gd name="connsiteY2" fmla="*/ 32431 h 79354"/>
                <a:gd name="connsiteX3" fmla="*/ 0 w 44130"/>
                <a:gd name="connsiteY3" fmla="*/ 0 h 79354"/>
              </a:gdLst>
              <a:ahLst/>
              <a:cxnLst>
                <a:cxn ang="0">
                  <a:pos x="connsiteX0" y="connsiteY0"/>
                </a:cxn>
                <a:cxn ang="0">
                  <a:pos x="connsiteX1" y="connsiteY1"/>
                </a:cxn>
                <a:cxn ang="0">
                  <a:pos x="connsiteX2" y="connsiteY2"/>
                </a:cxn>
                <a:cxn ang="0">
                  <a:pos x="connsiteX3" y="connsiteY3"/>
                </a:cxn>
              </a:cxnLst>
              <a:rect l="l" t="t" r="r" b="b"/>
              <a:pathLst>
                <a:path w="44130" h="79354">
                  <a:moveTo>
                    <a:pt x="0" y="0"/>
                  </a:moveTo>
                  <a:lnTo>
                    <a:pt x="44130" y="79354"/>
                  </a:lnTo>
                  <a:lnTo>
                    <a:pt x="15623" y="32431"/>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4" name="Freeform: Shape 93">
              <a:extLst>
                <a:ext uri="{FF2B5EF4-FFF2-40B4-BE49-F238E27FC236}">
                  <a16:creationId xmlns:a16="http://schemas.microsoft.com/office/drawing/2014/main" id="{E67BCA50-B1C0-EEFF-B115-50761B63A74B}"/>
                </a:ext>
              </a:extLst>
            </p:cNvPr>
            <p:cNvSpPr/>
            <p:nvPr/>
          </p:nvSpPr>
          <p:spPr>
            <a:xfrm>
              <a:off x="3696889" y="4858549"/>
              <a:ext cx="80150" cy="131930"/>
            </a:xfrm>
            <a:custGeom>
              <a:avLst/>
              <a:gdLst>
                <a:gd name="connsiteX0" fmla="*/ 0 w 80149"/>
                <a:gd name="connsiteY0" fmla="*/ 0 h 131929"/>
                <a:gd name="connsiteX1" fmla="*/ 80149 w 80149"/>
                <a:gd name="connsiteY1" fmla="*/ 131929 h 131929"/>
                <a:gd name="connsiteX2" fmla="*/ 38059 w 80149"/>
                <a:gd name="connsiteY2" fmla="*/ 68439 h 131929"/>
                <a:gd name="connsiteX3" fmla="*/ 0 w 80149"/>
                <a:gd name="connsiteY3" fmla="*/ 0 h 131929"/>
              </a:gdLst>
              <a:ahLst/>
              <a:cxnLst>
                <a:cxn ang="0">
                  <a:pos x="connsiteX0" y="connsiteY0"/>
                </a:cxn>
                <a:cxn ang="0">
                  <a:pos x="connsiteX1" y="connsiteY1"/>
                </a:cxn>
                <a:cxn ang="0">
                  <a:pos x="connsiteX2" y="connsiteY2"/>
                </a:cxn>
                <a:cxn ang="0">
                  <a:pos x="connsiteX3" y="connsiteY3"/>
                </a:cxn>
              </a:cxnLst>
              <a:rect l="l" t="t" r="r" b="b"/>
              <a:pathLst>
                <a:path w="80149" h="131929">
                  <a:moveTo>
                    <a:pt x="0" y="0"/>
                  </a:moveTo>
                  <a:lnTo>
                    <a:pt x="80149" y="131929"/>
                  </a:lnTo>
                  <a:lnTo>
                    <a:pt x="38059" y="684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5" name="Freeform: Shape 94">
              <a:extLst>
                <a:ext uri="{FF2B5EF4-FFF2-40B4-BE49-F238E27FC236}">
                  <a16:creationId xmlns:a16="http://schemas.microsoft.com/office/drawing/2014/main" id="{8F119DBD-A8A8-9C25-E4FF-DA1292ECDEF9}"/>
                </a:ext>
              </a:extLst>
            </p:cNvPr>
            <p:cNvSpPr/>
            <p:nvPr/>
          </p:nvSpPr>
          <p:spPr>
            <a:xfrm>
              <a:off x="3776824" y="4990157"/>
              <a:ext cx="45720" cy="68966"/>
            </a:xfrm>
            <a:custGeom>
              <a:avLst/>
              <a:gdLst>
                <a:gd name="connsiteX0" fmla="*/ 0 w 45294"/>
                <a:gd name="connsiteY0" fmla="*/ 0 h 68323"/>
                <a:gd name="connsiteX1" fmla="*/ 45294 w 45294"/>
                <a:gd name="connsiteY1" fmla="*/ 68323 h 68323"/>
                <a:gd name="connsiteX2" fmla="*/ 25107 w 45294"/>
                <a:gd name="connsiteY2" fmla="*/ 41327 h 68323"/>
                <a:gd name="connsiteX3" fmla="*/ 0 w 45294"/>
                <a:gd name="connsiteY3" fmla="*/ 0 h 68323"/>
              </a:gdLst>
              <a:ahLst/>
              <a:cxnLst>
                <a:cxn ang="0">
                  <a:pos x="connsiteX0" y="connsiteY0"/>
                </a:cxn>
                <a:cxn ang="0">
                  <a:pos x="connsiteX1" y="connsiteY1"/>
                </a:cxn>
                <a:cxn ang="0">
                  <a:pos x="connsiteX2" y="connsiteY2"/>
                </a:cxn>
                <a:cxn ang="0">
                  <a:pos x="connsiteX3" y="connsiteY3"/>
                </a:cxn>
              </a:cxnLst>
              <a:rect l="l" t="t" r="r" b="b"/>
              <a:pathLst>
                <a:path w="45294" h="68323">
                  <a:moveTo>
                    <a:pt x="0" y="0"/>
                  </a:moveTo>
                  <a:lnTo>
                    <a:pt x="45294" y="68323"/>
                  </a:lnTo>
                  <a:lnTo>
                    <a:pt x="25107" y="4132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6" name="Freeform: Shape 95">
              <a:extLst>
                <a:ext uri="{FF2B5EF4-FFF2-40B4-BE49-F238E27FC236}">
                  <a16:creationId xmlns:a16="http://schemas.microsoft.com/office/drawing/2014/main" id="{4CE62E31-3E29-1493-2206-AC5D3ECAFCBF}"/>
                </a:ext>
              </a:extLst>
            </p:cNvPr>
            <p:cNvSpPr/>
            <p:nvPr/>
          </p:nvSpPr>
          <p:spPr>
            <a:xfrm>
              <a:off x="3822331" y="5058801"/>
              <a:ext cx="108022" cy="144458"/>
            </a:xfrm>
            <a:custGeom>
              <a:avLst/>
              <a:gdLst>
                <a:gd name="connsiteX0" fmla="*/ 0 w 108022"/>
                <a:gd name="connsiteY0" fmla="*/ 0 h 144457"/>
                <a:gd name="connsiteX1" fmla="*/ 108022 w 108022"/>
                <a:gd name="connsiteY1" fmla="*/ 144457 h 144457"/>
                <a:gd name="connsiteX2" fmla="*/ 27650 w 108022"/>
                <a:gd name="connsiteY2" fmla="*/ 41708 h 144457"/>
                <a:gd name="connsiteX3" fmla="*/ 0 w 108022"/>
                <a:gd name="connsiteY3" fmla="*/ 0 h 144457"/>
              </a:gdLst>
              <a:ahLst/>
              <a:cxnLst>
                <a:cxn ang="0">
                  <a:pos x="connsiteX0" y="connsiteY0"/>
                </a:cxn>
                <a:cxn ang="0">
                  <a:pos x="connsiteX1" y="connsiteY1"/>
                </a:cxn>
                <a:cxn ang="0">
                  <a:pos x="connsiteX2" y="connsiteY2"/>
                </a:cxn>
                <a:cxn ang="0">
                  <a:pos x="connsiteX3" y="connsiteY3"/>
                </a:cxn>
              </a:cxnLst>
              <a:rect l="l" t="t" r="r" b="b"/>
              <a:pathLst>
                <a:path w="108022" h="144457">
                  <a:moveTo>
                    <a:pt x="0" y="0"/>
                  </a:moveTo>
                  <a:lnTo>
                    <a:pt x="108022" y="144457"/>
                  </a:lnTo>
                  <a:lnTo>
                    <a:pt x="27650" y="4170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7" name="Freeform: Shape 96">
              <a:extLst>
                <a:ext uri="{FF2B5EF4-FFF2-40B4-BE49-F238E27FC236}">
                  <a16:creationId xmlns:a16="http://schemas.microsoft.com/office/drawing/2014/main" id="{DA27FCFF-860E-B5DD-29A7-DDE2750D20ED}"/>
                </a:ext>
              </a:extLst>
            </p:cNvPr>
            <p:cNvSpPr/>
            <p:nvPr/>
          </p:nvSpPr>
          <p:spPr>
            <a:xfrm>
              <a:off x="3924473" y="5195739"/>
              <a:ext cx="45720" cy="58446"/>
            </a:xfrm>
            <a:custGeom>
              <a:avLst/>
              <a:gdLst>
                <a:gd name="connsiteX0" fmla="*/ 0 w 33957"/>
                <a:gd name="connsiteY0" fmla="*/ 0 h 43410"/>
                <a:gd name="connsiteX1" fmla="*/ 33957 w 33957"/>
                <a:gd name="connsiteY1" fmla="*/ 43410 h 43410"/>
                <a:gd name="connsiteX2" fmla="*/ 25521 w 33957"/>
                <a:gd name="connsiteY2" fmla="*/ 34128 h 43410"/>
                <a:gd name="connsiteX3" fmla="*/ 0 w 33957"/>
                <a:gd name="connsiteY3" fmla="*/ 0 h 43410"/>
              </a:gdLst>
              <a:ahLst/>
              <a:cxnLst>
                <a:cxn ang="0">
                  <a:pos x="connsiteX0" y="connsiteY0"/>
                </a:cxn>
                <a:cxn ang="0">
                  <a:pos x="connsiteX1" y="connsiteY1"/>
                </a:cxn>
                <a:cxn ang="0">
                  <a:pos x="connsiteX2" y="connsiteY2"/>
                </a:cxn>
                <a:cxn ang="0">
                  <a:pos x="connsiteX3" y="connsiteY3"/>
                </a:cxn>
              </a:cxnLst>
              <a:rect l="l" t="t" r="r" b="b"/>
              <a:pathLst>
                <a:path w="33957" h="43410">
                  <a:moveTo>
                    <a:pt x="0" y="0"/>
                  </a:moveTo>
                  <a:lnTo>
                    <a:pt x="33957" y="43410"/>
                  </a:lnTo>
                  <a:lnTo>
                    <a:pt x="25521" y="3412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8" name="Freeform: Shape 97">
              <a:extLst>
                <a:ext uri="{FF2B5EF4-FFF2-40B4-BE49-F238E27FC236}">
                  <a16:creationId xmlns:a16="http://schemas.microsoft.com/office/drawing/2014/main" id="{517B66CA-F41B-70B6-60A6-984D107471E8}"/>
                </a:ext>
              </a:extLst>
            </p:cNvPr>
            <p:cNvSpPr/>
            <p:nvPr/>
          </p:nvSpPr>
          <p:spPr>
            <a:xfrm>
              <a:off x="3964311" y="5246668"/>
              <a:ext cx="163252" cy="179622"/>
            </a:xfrm>
            <a:custGeom>
              <a:avLst/>
              <a:gdLst>
                <a:gd name="connsiteX0" fmla="*/ 0 w 163251"/>
                <a:gd name="connsiteY0" fmla="*/ 0 h 179621"/>
                <a:gd name="connsiteX1" fmla="*/ 163251 w 163251"/>
                <a:gd name="connsiteY1" fmla="*/ 179621 h 179621"/>
                <a:gd name="connsiteX2" fmla="*/ 157311 w 163251"/>
                <a:gd name="connsiteY2" fmla="*/ 174104 h 179621"/>
                <a:gd name="connsiteX3" fmla="*/ 14662 w 163251"/>
                <a:gd name="connsiteY3" fmla="*/ 18744 h 179621"/>
                <a:gd name="connsiteX4" fmla="*/ 0 w 163251"/>
                <a:gd name="connsiteY4" fmla="*/ 0 h 17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51" h="179621">
                  <a:moveTo>
                    <a:pt x="0" y="0"/>
                  </a:moveTo>
                  <a:lnTo>
                    <a:pt x="163251" y="179621"/>
                  </a:lnTo>
                  <a:lnTo>
                    <a:pt x="157311" y="174104"/>
                  </a:lnTo>
                  <a:cubicBezTo>
                    <a:pt x="107518" y="124011"/>
                    <a:pt x="59952" y="72173"/>
                    <a:pt x="14662" y="1874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9" name="Freeform: Shape 98">
              <a:extLst>
                <a:ext uri="{FF2B5EF4-FFF2-40B4-BE49-F238E27FC236}">
                  <a16:creationId xmlns:a16="http://schemas.microsoft.com/office/drawing/2014/main" id="{A7041F41-D849-F8E7-972D-FBF30A2AE54F}"/>
                </a:ext>
              </a:extLst>
            </p:cNvPr>
            <p:cNvSpPr/>
            <p:nvPr/>
          </p:nvSpPr>
          <p:spPr>
            <a:xfrm>
              <a:off x="4106164" y="5406415"/>
              <a:ext cx="49226" cy="45720"/>
            </a:xfrm>
            <a:custGeom>
              <a:avLst/>
              <a:gdLst>
                <a:gd name="connsiteX0" fmla="*/ 0 w 6429"/>
                <a:gd name="connsiteY0" fmla="*/ 0 h 5971"/>
                <a:gd name="connsiteX1" fmla="*/ 6429 w 6429"/>
                <a:gd name="connsiteY1" fmla="*/ 5971 h 5971"/>
                <a:gd name="connsiteX2" fmla="*/ 669 w 6429"/>
                <a:gd name="connsiteY2" fmla="*/ 736 h 5971"/>
                <a:gd name="connsiteX3" fmla="*/ 0 w 6429"/>
                <a:gd name="connsiteY3" fmla="*/ 0 h 5971"/>
              </a:gdLst>
              <a:ahLst/>
              <a:cxnLst>
                <a:cxn ang="0">
                  <a:pos x="connsiteX0" y="connsiteY0"/>
                </a:cxn>
                <a:cxn ang="0">
                  <a:pos x="connsiteX1" y="connsiteY1"/>
                </a:cxn>
                <a:cxn ang="0">
                  <a:pos x="connsiteX2" y="connsiteY2"/>
                </a:cxn>
                <a:cxn ang="0">
                  <a:pos x="connsiteX3" y="connsiteY3"/>
                </a:cxn>
              </a:cxnLst>
              <a:rect l="l" t="t" r="r" b="b"/>
              <a:pathLst>
                <a:path w="6429" h="5971">
                  <a:moveTo>
                    <a:pt x="0" y="0"/>
                  </a:moveTo>
                  <a:lnTo>
                    <a:pt x="6429" y="5971"/>
                  </a:lnTo>
                  <a:lnTo>
                    <a:pt x="669" y="73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00" name="Freeform: Shape 99">
              <a:extLst>
                <a:ext uri="{FF2B5EF4-FFF2-40B4-BE49-F238E27FC236}">
                  <a16:creationId xmlns:a16="http://schemas.microsoft.com/office/drawing/2014/main" id="{A68672B9-192D-A29C-9654-25A3BF3AA1EC}"/>
                </a:ext>
              </a:extLst>
            </p:cNvPr>
            <p:cNvSpPr/>
            <p:nvPr/>
          </p:nvSpPr>
          <p:spPr>
            <a:xfrm>
              <a:off x="4133990" y="5432260"/>
              <a:ext cx="167636" cy="152360"/>
            </a:xfrm>
            <a:custGeom>
              <a:avLst/>
              <a:gdLst>
                <a:gd name="connsiteX0" fmla="*/ 0 w 167636"/>
                <a:gd name="connsiteY0" fmla="*/ 0 h 152359"/>
                <a:gd name="connsiteX1" fmla="*/ 167636 w 167636"/>
                <a:gd name="connsiteY1" fmla="*/ 152359 h 152359"/>
                <a:gd name="connsiteX2" fmla="*/ 143637 w 167636"/>
                <a:gd name="connsiteY2" fmla="*/ 133407 h 152359"/>
                <a:gd name="connsiteX3" fmla="*/ 0 w 167636"/>
                <a:gd name="connsiteY3" fmla="*/ 0 h 152359"/>
              </a:gdLst>
              <a:ahLst/>
              <a:cxnLst>
                <a:cxn ang="0">
                  <a:pos x="connsiteX0" y="connsiteY0"/>
                </a:cxn>
                <a:cxn ang="0">
                  <a:pos x="connsiteX1" y="connsiteY1"/>
                </a:cxn>
                <a:cxn ang="0">
                  <a:pos x="connsiteX2" y="connsiteY2"/>
                </a:cxn>
                <a:cxn ang="0">
                  <a:pos x="connsiteX3" y="connsiteY3"/>
                </a:cxn>
              </a:cxnLst>
              <a:rect l="l" t="t" r="r" b="b"/>
              <a:pathLst>
                <a:path w="167636" h="152359">
                  <a:moveTo>
                    <a:pt x="0" y="0"/>
                  </a:moveTo>
                  <a:lnTo>
                    <a:pt x="167636" y="152359"/>
                  </a:lnTo>
                  <a:lnTo>
                    <a:pt x="143637" y="13340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01" name="Freeform: Shape 100">
              <a:extLst>
                <a:ext uri="{FF2B5EF4-FFF2-40B4-BE49-F238E27FC236}">
                  <a16:creationId xmlns:a16="http://schemas.microsoft.com/office/drawing/2014/main" id="{03A8E646-B891-DBC4-E60D-79648E41C728}"/>
                </a:ext>
              </a:extLst>
            </p:cNvPr>
            <p:cNvSpPr/>
            <p:nvPr/>
          </p:nvSpPr>
          <p:spPr>
            <a:xfrm>
              <a:off x="4301627" y="5584618"/>
              <a:ext cx="62464" cy="49324"/>
            </a:xfrm>
            <a:custGeom>
              <a:avLst/>
              <a:gdLst>
                <a:gd name="connsiteX0" fmla="*/ 0 w 62463"/>
                <a:gd name="connsiteY0" fmla="*/ 0 h 49324"/>
                <a:gd name="connsiteX1" fmla="*/ 62463 w 62463"/>
                <a:gd name="connsiteY1" fmla="*/ 49324 h 49324"/>
                <a:gd name="connsiteX2" fmla="*/ 16243 w 62463"/>
                <a:gd name="connsiteY2" fmla="*/ 14762 h 49324"/>
                <a:gd name="connsiteX3" fmla="*/ 0 w 62463"/>
                <a:gd name="connsiteY3" fmla="*/ 0 h 49324"/>
              </a:gdLst>
              <a:ahLst/>
              <a:cxnLst>
                <a:cxn ang="0">
                  <a:pos x="connsiteX0" y="connsiteY0"/>
                </a:cxn>
                <a:cxn ang="0">
                  <a:pos x="connsiteX1" y="connsiteY1"/>
                </a:cxn>
                <a:cxn ang="0">
                  <a:pos x="connsiteX2" y="connsiteY2"/>
                </a:cxn>
                <a:cxn ang="0">
                  <a:pos x="connsiteX3" y="connsiteY3"/>
                </a:cxn>
              </a:cxnLst>
              <a:rect l="l" t="t" r="r" b="b"/>
              <a:pathLst>
                <a:path w="62463" h="49324">
                  <a:moveTo>
                    <a:pt x="0" y="0"/>
                  </a:moveTo>
                  <a:lnTo>
                    <a:pt x="62463" y="49324"/>
                  </a:lnTo>
                  <a:lnTo>
                    <a:pt x="16243" y="14762"/>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02" name="Freeform: Shape 101">
              <a:extLst>
                <a:ext uri="{FF2B5EF4-FFF2-40B4-BE49-F238E27FC236}">
                  <a16:creationId xmlns:a16="http://schemas.microsoft.com/office/drawing/2014/main" id="{EDE7895A-FAFF-83E9-EFBA-B4FFE45E1B87}"/>
                </a:ext>
              </a:extLst>
            </p:cNvPr>
            <p:cNvSpPr/>
            <p:nvPr/>
          </p:nvSpPr>
          <p:spPr>
            <a:xfrm>
              <a:off x="4364090" y="5633943"/>
              <a:ext cx="84232" cy="65230"/>
            </a:xfrm>
            <a:custGeom>
              <a:avLst/>
              <a:gdLst>
                <a:gd name="connsiteX0" fmla="*/ 0 w 84231"/>
                <a:gd name="connsiteY0" fmla="*/ 0 h 65229"/>
                <a:gd name="connsiteX1" fmla="*/ 84231 w 84231"/>
                <a:gd name="connsiteY1" fmla="*/ 62987 h 65229"/>
                <a:gd name="connsiteX2" fmla="*/ 82602 w 84231"/>
                <a:gd name="connsiteY2" fmla="*/ 65229 h 65229"/>
                <a:gd name="connsiteX3" fmla="*/ 0 w 84231"/>
                <a:gd name="connsiteY3" fmla="*/ 0 h 65229"/>
              </a:gdLst>
              <a:ahLst/>
              <a:cxnLst>
                <a:cxn ang="0">
                  <a:pos x="connsiteX0" y="connsiteY0"/>
                </a:cxn>
                <a:cxn ang="0">
                  <a:pos x="connsiteX1" y="connsiteY1"/>
                </a:cxn>
                <a:cxn ang="0">
                  <a:pos x="connsiteX2" y="connsiteY2"/>
                </a:cxn>
                <a:cxn ang="0">
                  <a:pos x="connsiteX3" y="connsiteY3"/>
                </a:cxn>
              </a:cxnLst>
              <a:rect l="l" t="t" r="r" b="b"/>
              <a:pathLst>
                <a:path w="84231" h="65229">
                  <a:moveTo>
                    <a:pt x="0" y="0"/>
                  </a:moveTo>
                  <a:lnTo>
                    <a:pt x="84231" y="62987"/>
                  </a:lnTo>
                  <a:lnTo>
                    <a:pt x="82602" y="6522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03" name="Freeform: Shape 102">
              <a:extLst>
                <a:ext uri="{FF2B5EF4-FFF2-40B4-BE49-F238E27FC236}">
                  <a16:creationId xmlns:a16="http://schemas.microsoft.com/office/drawing/2014/main" id="{B8C326C1-42FF-3DE3-D76B-37030A0C4A6E}"/>
                </a:ext>
              </a:extLst>
            </p:cNvPr>
            <p:cNvSpPr/>
            <p:nvPr/>
          </p:nvSpPr>
          <p:spPr>
            <a:xfrm>
              <a:off x="6016346" y="868272"/>
              <a:ext cx="2539754" cy="2247220"/>
            </a:xfrm>
            <a:custGeom>
              <a:avLst/>
              <a:gdLst>
                <a:gd name="connsiteX0" fmla="*/ 0 w 2539753"/>
                <a:gd name="connsiteY0" fmla="*/ 0 h 2247220"/>
                <a:gd name="connsiteX1" fmla="*/ 2539753 w 2539753"/>
                <a:gd name="connsiteY1" fmla="*/ 1845239 h 2247220"/>
                <a:gd name="connsiteX2" fmla="*/ 1302584 w 2539753"/>
                <a:gd name="connsiteY2" fmla="*/ 2247220 h 2247220"/>
                <a:gd name="connsiteX3" fmla="*/ 1262316 w 2539753"/>
                <a:gd name="connsiteY3" fmla="*/ 2137199 h 2247220"/>
                <a:gd name="connsiteX4" fmla="*/ 1262290 w 2539753"/>
                <a:gd name="connsiteY4" fmla="*/ 2137148 h 2247220"/>
                <a:gd name="connsiteX5" fmla="*/ 1204626 w 2539753"/>
                <a:gd name="connsiteY5" fmla="*/ 2017444 h 2247220"/>
                <a:gd name="connsiteX6" fmla="*/ 1181641 w 2539753"/>
                <a:gd name="connsiteY6" fmla="*/ 1979611 h 2247220"/>
                <a:gd name="connsiteX7" fmla="*/ 1171640 w 2539753"/>
                <a:gd name="connsiteY7" fmla="*/ 1960074 h 2247220"/>
                <a:gd name="connsiteX8" fmla="*/ 1158805 w 2539753"/>
                <a:gd name="connsiteY8" fmla="*/ 1942022 h 2247220"/>
                <a:gd name="connsiteX9" fmla="*/ 1136004 w 2539753"/>
                <a:gd name="connsiteY9" fmla="*/ 1904489 h 2247220"/>
                <a:gd name="connsiteX10" fmla="*/ 1057160 w 2539753"/>
                <a:gd name="connsiteY10" fmla="*/ 1799053 h 2247220"/>
                <a:gd name="connsiteX11" fmla="*/ 1057140 w 2539753"/>
                <a:gd name="connsiteY11" fmla="*/ 1799024 h 2247220"/>
                <a:gd name="connsiteX12" fmla="*/ 1057118 w 2539753"/>
                <a:gd name="connsiteY12" fmla="*/ 1799002 h 2247220"/>
                <a:gd name="connsiteX13" fmla="*/ 968718 w 2539753"/>
                <a:gd name="connsiteY13" fmla="*/ 1701737 h 2247220"/>
                <a:gd name="connsiteX14" fmla="*/ 936283 w 2539753"/>
                <a:gd name="connsiteY14" fmla="*/ 1672258 h 2247220"/>
                <a:gd name="connsiteX15" fmla="*/ 921141 w 2539753"/>
                <a:gd name="connsiteY15" fmla="*/ 1656375 h 2247220"/>
                <a:gd name="connsiteX16" fmla="*/ 903920 w 2539753"/>
                <a:gd name="connsiteY16" fmla="*/ 1642845 h 2247220"/>
                <a:gd name="connsiteX17" fmla="*/ 871430 w 2539753"/>
                <a:gd name="connsiteY17" fmla="*/ 1613316 h 2247220"/>
                <a:gd name="connsiteX18" fmla="*/ 765983 w 2539753"/>
                <a:gd name="connsiteY18" fmla="*/ 1534464 h 2247220"/>
                <a:gd name="connsiteX19" fmla="*/ 765966 w 2539753"/>
                <a:gd name="connsiteY19" fmla="*/ 1534451 h 2247220"/>
                <a:gd name="connsiteX20" fmla="*/ 765951 w 2539753"/>
                <a:gd name="connsiteY20" fmla="*/ 1534442 h 2247220"/>
                <a:gd name="connsiteX21" fmla="*/ 653011 w 2539753"/>
                <a:gd name="connsiteY21" fmla="*/ 1465829 h 2247220"/>
                <a:gd name="connsiteX22" fmla="*/ 613272 w 2539753"/>
                <a:gd name="connsiteY22" fmla="*/ 1446686 h 2247220"/>
                <a:gd name="connsiteX23" fmla="*/ 593941 w 2539753"/>
                <a:gd name="connsiteY23" fmla="*/ 1435575 h 2247220"/>
                <a:gd name="connsiteX24" fmla="*/ 573435 w 2539753"/>
                <a:gd name="connsiteY24" fmla="*/ 1427495 h 2247220"/>
                <a:gd name="connsiteX25" fmla="*/ 533255 w 2539753"/>
                <a:gd name="connsiteY25" fmla="*/ 1408140 h 2247220"/>
                <a:gd name="connsiteX26" fmla="*/ 407398 w 2539753"/>
                <a:gd name="connsiteY26" fmla="*/ 1362075 h 2247220"/>
                <a:gd name="connsiteX27" fmla="*/ 407389 w 2539753"/>
                <a:gd name="connsiteY27" fmla="*/ 1362072 h 2247220"/>
                <a:gd name="connsiteX28" fmla="*/ 407383 w 2539753"/>
                <a:gd name="connsiteY28" fmla="*/ 1362070 h 2247220"/>
                <a:gd name="connsiteX29" fmla="*/ 276097 w 2539753"/>
                <a:gd name="connsiteY29" fmla="*/ 1328313 h 2247220"/>
                <a:gd name="connsiteX30" fmla="*/ 231136 w 2539753"/>
                <a:gd name="connsiteY30" fmla="*/ 1321451 h 2247220"/>
                <a:gd name="connsiteX31" fmla="*/ 208634 w 2539753"/>
                <a:gd name="connsiteY31" fmla="*/ 1316265 h 2247220"/>
                <a:gd name="connsiteX32" fmla="*/ 163016 w 2539753"/>
                <a:gd name="connsiteY32" fmla="*/ 1311055 h 2247220"/>
                <a:gd name="connsiteX33" fmla="*/ 140071 w 2539753"/>
                <a:gd name="connsiteY33" fmla="*/ 1307553 h 2247220"/>
                <a:gd name="connsiteX34" fmla="*/ 126245 w 2539753"/>
                <a:gd name="connsiteY34" fmla="*/ 1306855 h 2247220"/>
                <a:gd name="connsiteX35" fmla="*/ 105407 w 2539753"/>
                <a:gd name="connsiteY35" fmla="*/ 1304475 h 2247220"/>
                <a:gd name="connsiteX36" fmla="*/ 0 w 2539753"/>
                <a:gd name="connsiteY36" fmla="*/ 1300480 h 224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39753" h="2247220">
                  <a:moveTo>
                    <a:pt x="0" y="0"/>
                  </a:moveTo>
                  <a:cubicBezTo>
                    <a:pt x="1156912" y="0"/>
                    <a:pt x="2182249" y="744951"/>
                    <a:pt x="2539753" y="1845239"/>
                  </a:cubicBezTo>
                  <a:lnTo>
                    <a:pt x="1302584" y="2247220"/>
                  </a:lnTo>
                  <a:lnTo>
                    <a:pt x="1262316" y="2137199"/>
                  </a:lnTo>
                  <a:lnTo>
                    <a:pt x="1262290" y="2137148"/>
                  </a:lnTo>
                  <a:lnTo>
                    <a:pt x="1204626" y="2017444"/>
                  </a:lnTo>
                  <a:lnTo>
                    <a:pt x="1181641" y="1979611"/>
                  </a:lnTo>
                  <a:lnTo>
                    <a:pt x="1171640" y="1960074"/>
                  </a:lnTo>
                  <a:lnTo>
                    <a:pt x="1158805" y="1942022"/>
                  </a:lnTo>
                  <a:lnTo>
                    <a:pt x="1136004" y="1904489"/>
                  </a:lnTo>
                  <a:lnTo>
                    <a:pt x="1057160" y="1799053"/>
                  </a:lnTo>
                  <a:lnTo>
                    <a:pt x="1057140" y="1799024"/>
                  </a:lnTo>
                  <a:lnTo>
                    <a:pt x="1057118" y="1799002"/>
                  </a:lnTo>
                  <a:lnTo>
                    <a:pt x="968718" y="1701737"/>
                  </a:lnTo>
                  <a:lnTo>
                    <a:pt x="936283" y="1672258"/>
                  </a:lnTo>
                  <a:lnTo>
                    <a:pt x="921141" y="1656375"/>
                  </a:lnTo>
                  <a:lnTo>
                    <a:pt x="903920" y="1642845"/>
                  </a:lnTo>
                  <a:lnTo>
                    <a:pt x="871430" y="1613316"/>
                  </a:lnTo>
                  <a:lnTo>
                    <a:pt x="765983" y="1534464"/>
                  </a:lnTo>
                  <a:lnTo>
                    <a:pt x="765966" y="1534451"/>
                  </a:lnTo>
                  <a:lnTo>
                    <a:pt x="765951" y="1534442"/>
                  </a:lnTo>
                  <a:lnTo>
                    <a:pt x="653011" y="1465829"/>
                  </a:lnTo>
                  <a:lnTo>
                    <a:pt x="613272" y="1446686"/>
                  </a:lnTo>
                  <a:lnTo>
                    <a:pt x="593941" y="1435575"/>
                  </a:lnTo>
                  <a:lnTo>
                    <a:pt x="573435" y="1427495"/>
                  </a:lnTo>
                  <a:lnTo>
                    <a:pt x="533255" y="1408140"/>
                  </a:lnTo>
                  <a:lnTo>
                    <a:pt x="407398" y="1362075"/>
                  </a:lnTo>
                  <a:lnTo>
                    <a:pt x="407389" y="1362072"/>
                  </a:lnTo>
                  <a:lnTo>
                    <a:pt x="407383" y="1362070"/>
                  </a:lnTo>
                  <a:lnTo>
                    <a:pt x="276097" y="1328313"/>
                  </a:lnTo>
                  <a:lnTo>
                    <a:pt x="231136" y="1321451"/>
                  </a:lnTo>
                  <a:lnTo>
                    <a:pt x="208634" y="1316265"/>
                  </a:lnTo>
                  <a:lnTo>
                    <a:pt x="163016" y="1311055"/>
                  </a:lnTo>
                  <a:lnTo>
                    <a:pt x="140071" y="1307553"/>
                  </a:lnTo>
                  <a:lnTo>
                    <a:pt x="126245" y="1306855"/>
                  </a:lnTo>
                  <a:lnTo>
                    <a:pt x="105407" y="1304475"/>
                  </a:lnTo>
                  <a:cubicBezTo>
                    <a:pt x="70618" y="1301828"/>
                    <a:pt x="35467" y="1300480"/>
                    <a:pt x="0" y="1300480"/>
                  </a:cubicBez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95508" tIns="742273" rIns="736312" bIns="2877227" numCol="1" spcCol="1270" anchor="ctr" anchorCtr="0">
              <a:noAutofit/>
            </a:bodyPr>
            <a:lstStyle/>
            <a:p>
              <a:pPr marL="0" lvl="0" indent="0" algn="ctr" defTabSz="2178050">
                <a:lnSpc>
                  <a:spcPct val="90000"/>
                </a:lnSpc>
                <a:spcBef>
                  <a:spcPct val="0"/>
                </a:spcBef>
                <a:spcAft>
                  <a:spcPct val="35000"/>
                </a:spcAft>
                <a:buNone/>
              </a:pPr>
              <a:endParaRPr lang="en-US" sz="4900" kern="1200"/>
            </a:p>
          </p:txBody>
        </p:sp>
        <p:sp>
          <p:nvSpPr>
            <p:cNvPr id="104" name="Freeform: Shape 103">
              <a:extLst>
                <a:ext uri="{FF2B5EF4-FFF2-40B4-BE49-F238E27FC236}">
                  <a16:creationId xmlns:a16="http://schemas.microsoft.com/office/drawing/2014/main" id="{566EBE50-90DE-B1F3-754A-0326F3AB93B0}"/>
                </a:ext>
              </a:extLst>
            </p:cNvPr>
            <p:cNvSpPr/>
            <p:nvPr/>
          </p:nvSpPr>
          <p:spPr>
            <a:xfrm>
              <a:off x="6820795" y="2713512"/>
              <a:ext cx="1866188" cy="2985660"/>
            </a:xfrm>
            <a:custGeom>
              <a:avLst/>
              <a:gdLst>
                <a:gd name="connsiteX0" fmla="*/ 1735304 w 1866187"/>
                <a:gd name="connsiteY0" fmla="*/ 0 h 2985659"/>
                <a:gd name="connsiteX1" fmla="*/ 765205 w 1866187"/>
                <a:gd name="connsiteY1" fmla="*/ 2985659 h 2985659"/>
                <a:gd name="connsiteX2" fmla="*/ 0 w 1866187"/>
                <a:gd name="connsiteY2" fmla="*/ 1932444 h 2985659"/>
                <a:gd name="connsiteX3" fmla="*/ 66982 w 1866187"/>
                <a:gd name="connsiteY3" fmla="*/ 1882355 h 2985659"/>
                <a:gd name="connsiteX4" fmla="*/ 565526 w 1866187"/>
                <a:gd name="connsiteY4" fmla="*/ 825216 h 2985659"/>
                <a:gd name="connsiteX5" fmla="*/ 503935 w 1866187"/>
                <a:gd name="connsiteY5" fmla="*/ 417828 h 2985659"/>
                <a:gd name="connsiteX6" fmla="*/ 498135 w 1866187"/>
                <a:gd name="connsiteY6" fmla="*/ 401981 h 298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6187" h="2985659">
                  <a:moveTo>
                    <a:pt x="1735304" y="0"/>
                  </a:moveTo>
                  <a:cubicBezTo>
                    <a:pt x="2092809" y="1100289"/>
                    <a:pt x="1701166" y="2305644"/>
                    <a:pt x="765205" y="2985659"/>
                  </a:cubicBezTo>
                  <a:lnTo>
                    <a:pt x="0" y="1932444"/>
                  </a:lnTo>
                  <a:lnTo>
                    <a:pt x="66982" y="1882355"/>
                  </a:lnTo>
                  <a:cubicBezTo>
                    <a:pt x="371456" y="1631082"/>
                    <a:pt x="565526" y="1250813"/>
                    <a:pt x="565526" y="825216"/>
                  </a:cubicBezTo>
                  <a:cubicBezTo>
                    <a:pt x="565526" y="683351"/>
                    <a:pt x="543963" y="546522"/>
                    <a:pt x="503935" y="417828"/>
                  </a:cubicBezTo>
                  <a:lnTo>
                    <a:pt x="498135" y="401981"/>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29458" tIns="2113703" rIns="276776" bIns="1403859" numCol="1" spcCol="1270" anchor="ctr" anchorCtr="0">
              <a:noAutofit/>
            </a:bodyPr>
            <a:lstStyle/>
            <a:p>
              <a:pPr marL="0" lvl="0" indent="0" algn="ctr" defTabSz="1911350">
                <a:lnSpc>
                  <a:spcPct val="90000"/>
                </a:lnSpc>
                <a:spcBef>
                  <a:spcPct val="0"/>
                </a:spcBef>
                <a:spcAft>
                  <a:spcPct val="35000"/>
                </a:spcAft>
                <a:buNone/>
              </a:pPr>
              <a:endParaRPr lang="en-US" sz="4300" kern="1200"/>
            </a:p>
          </p:txBody>
        </p:sp>
        <p:cxnSp>
          <p:nvCxnSpPr>
            <p:cNvPr id="105" name="Straight Connector 104">
              <a:extLst>
                <a:ext uri="{FF2B5EF4-FFF2-40B4-BE49-F238E27FC236}">
                  <a16:creationId xmlns:a16="http://schemas.microsoft.com/office/drawing/2014/main" id="{7E1BA6CA-3D00-42FE-CDFD-A7391C3854D2}"/>
                </a:ext>
              </a:extLst>
            </p:cNvPr>
            <p:cNvCxnSpPr>
              <a:cxnSpLocks/>
            </p:cNvCxnSpPr>
            <p:nvPr/>
          </p:nvCxnSpPr>
          <p:spPr>
            <a:xfrm flipV="1">
              <a:off x="6614660" y="2509991"/>
              <a:ext cx="2474545" cy="81464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12FDB18E-53ED-7CDC-99F5-5EEA047793C8}"/>
                </a:ext>
              </a:extLst>
            </p:cNvPr>
            <p:cNvCxnSpPr>
              <a:cxnSpLocks/>
            </p:cNvCxnSpPr>
            <p:nvPr/>
          </p:nvCxnSpPr>
          <p:spPr>
            <a:xfrm flipV="1">
              <a:off x="4037365" y="4229503"/>
              <a:ext cx="1518987" cy="198813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8D314A-0FBA-5DE5-70C3-65D3BC1507C7}"/>
                </a:ext>
              </a:extLst>
            </p:cNvPr>
            <p:cNvCxnSpPr>
              <a:cxnSpLocks/>
            </p:cNvCxnSpPr>
            <p:nvPr/>
          </p:nvCxnSpPr>
          <p:spPr>
            <a:xfrm>
              <a:off x="2702560" y="2437067"/>
              <a:ext cx="2600647" cy="861833"/>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2E7F7B00-60E5-9CEE-E24A-B10FCAC4075E}"/>
                </a:ext>
              </a:extLst>
            </p:cNvPr>
            <p:cNvCxnSpPr>
              <a:cxnSpLocks/>
            </p:cNvCxnSpPr>
            <p:nvPr/>
          </p:nvCxnSpPr>
          <p:spPr>
            <a:xfrm>
              <a:off x="6525517" y="4205356"/>
              <a:ext cx="1508170" cy="2082488"/>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55977386-573E-3FC2-05B0-8B0A19DA8259}"/>
                </a:ext>
              </a:extLst>
            </p:cNvPr>
            <p:cNvCxnSpPr>
              <a:cxnSpLocks/>
            </p:cNvCxnSpPr>
            <p:nvPr/>
          </p:nvCxnSpPr>
          <p:spPr>
            <a:xfrm flipV="1">
              <a:off x="6006618" y="487680"/>
              <a:ext cx="26108" cy="1949387"/>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grpSp>
      <p:pic>
        <p:nvPicPr>
          <p:cNvPr id="3" name="Picture 2">
            <a:extLst>
              <a:ext uri="{FF2B5EF4-FFF2-40B4-BE49-F238E27FC236}">
                <a16:creationId xmlns:a16="http://schemas.microsoft.com/office/drawing/2014/main" id="{557CBE6F-73C5-B6ED-05A5-1170596EA5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9749" y="2843330"/>
            <a:ext cx="2166169" cy="2166169"/>
          </a:xfrm>
          <a:prstGeom prst="ellipse">
            <a:avLst/>
          </a:prstGeom>
          <a:ln>
            <a:solidFill>
              <a:schemeClr val="bg1"/>
            </a:solidFill>
          </a:ln>
          <a:effectLst/>
        </p:spPr>
      </p:pic>
      <p:pic>
        <p:nvPicPr>
          <p:cNvPr id="12" name="Picture 11">
            <a:extLst>
              <a:ext uri="{FF2B5EF4-FFF2-40B4-BE49-F238E27FC236}">
                <a16:creationId xmlns:a16="http://schemas.microsoft.com/office/drawing/2014/main" id="{D5AEF358-2339-F141-7E6F-A3F45F4F939A}"/>
              </a:ext>
            </a:extLst>
          </p:cNvPr>
          <p:cNvPicPr>
            <a:picLocks noChangeAspect="1"/>
          </p:cNvPicPr>
          <p:nvPr/>
        </p:nvPicPr>
        <p:blipFill rotWithShape="1">
          <a:blip r:embed="rId3">
            <a:extLst>
              <a:ext uri="{28A0092B-C50C-407E-A947-70E740481C1C}">
                <a14:useLocalDpi xmlns:a14="http://schemas.microsoft.com/office/drawing/2010/main" val="0"/>
              </a:ext>
            </a:extLst>
          </a:blip>
          <a:srcRect l="17255" t="6495" r="17900" b="8473"/>
          <a:stretch/>
        </p:blipFill>
        <p:spPr>
          <a:xfrm>
            <a:off x="6787478" y="575237"/>
            <a:ext cx="4352564" cy="5707526"/>
          </a:xfrm>
          <a:prstGeom prst="rect">
            <a:avLst/>
          </a:prstGeom>
        </p:spPr>
      </p:pic>
      <p:sp>
        <p:nvSpPr>
          <p:cNvPr id="14" name="Rectangle: Rounded Corners 13">
            <a:extLst>
              <a:ext uri="{FF2B5EF4-FFF2-40B4-BE49-F238E27FC236}">
                <a16:creationId xmlns:a16="http://schemas.microsoft.com/office/drawing/2014/main" id="{99289038-2493-7976-3D87-A4B39F698825}"/>
              </a:ext>
            </a:extLst>
          </p:cNvPr>
          <p:cNvSpPr/>
          <p:nvPr/>
        </p:nvSpPr>
        <p:spPr>
          <a:xfrm rot="1876611">
            <a:off x="-9404568" y="691407"/>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A5F73E7A-8ABD-201C-6A60-E75D7E8C56E2}"/>
              </a:ext>
            </a:extLst>
          </p:cNvPr>
          <p:cNvSpPr/>
          <p:nvPr/>
        </p:nvSpPr>
        <p:spPr>
          <a:xfrm rot="1876611">
            <a:off x="-9133713" y="1500782"/>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77539E22-55D2-09A8-54C5-EA7A2E6F7DDC}"/>
              </a:ext>
            </a:extLst>
          </p:cNvPr>
          <p:cNvSpPr/>
          <p:nvPr/>
        </p:nvSpPr>
        <p:spPr>
          <a:xfrm rot="1876611">
            <a:off x="-8767463" y="2418116"/>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5772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56FB4CE-069F-F0AE-88B8-483DCFCDA982}"/>
              </a:ext>
            </a:extLst>
          </p:cNvPr>
          <p:cNvSpPr/>
          <p:nvPr/>
        </p:nvSpPr>
        <p:spPr>
          <a:xfrm>
            <a:off x="-8153402" y="1789457"/>
            <a:ext cx="5241015" cy="327152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57CBE6F-73C5-B6ED-05A5-1170596EA5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32" y="307954"/>
            <a:ext cx="1357872" cy="1357872"/>
          </a:xfrm>
          <a:prstGeom prst="ellipse">
            <a:avLst/>
          </a:prstGeom>
        </p:spPr>
      </p:pic>
      <p:sp>
        <p:nvSpPr>
          <p:cNvPr id="10" name="TextBox 9">
            <a:extLst>
              <a:ext uri="{FF2B5EF4-FFF2-40B4-BE49-F238E27FC236}">
                <a16:creationId xmlns:a16="http://schemas.microsoft.com/office/drawing/2014/main" id="{3E7D39B9-C138-F340-0352-F30CC62FEDFC}"/>
              </a:ext>
            </a:extLst>
          </p:cNvPr>
          <p:cNvSpPr txBox="1"/>
          <p:nvPr/>
        </p:nvSpPr>
        <p:spPr>
          <a:xfrm>
            <a:off x="2277406" y="514242"/>
            <a:ext cx="6484629" cy="830997"/>
          </a:xfrm>
          <a:prstGeom prst="rect">
            <a:avLst/>
          </a:prstGeom>
          <a:noFill/>
        </p:spPr>
        <p:txBody>
          <a:bodyPr wrap="square" rtlCol="0">
            <a:spAutoFit/>
          </a:bodyPr>
          <a:lstStyle/>
          <a:p>
            <a:r>
              <a:rPr lang="en-US" sz="4800" dirty="0">
                <a:solidFill>
                  <a:schemeClr val="bg1"/>
                </a:solidFill>
                <a:latin typeface="Algerian" panose="04020705040A02060702" pitchFamily="82" charset="0"/>
              </a:rPr>
              <a:t>CONCLUSION</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2400213" y="1345239"/>
            <a:ext cx="625765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734FD543-D7B6-46B2-5A8D-F74E964026DD}"/>
              </a:ext>
            </a:extLst>
          </p:cNvPr>
          <p:cNvSpPr/>
          <p:nvPr/>
        </p:nvSpPr>
        <p:spPr>
          <a:xfrm rot="1876611">
            <a:off x="-2792195" y="4706775"/>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01268D59-6DB6-AF36-A97D-38D6C596BB77}"/>
              </a:ext>
            </a:extLst>
          </p:cNvPr>
          <p:cNvSpPr/>
          <p:nvPr/>
        </p:nvSpPr>
        <p:spPr>
          <a:xfrm rot="1876611">
            <a:off x="-2489198" y="5581040"/>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5BBFF71-9B32-02A2-5DDF-3DB8280B417E}"/>
              </a:ext>
            </a:extLst>
          </p:cNvPr>
          <p:cNvSpPr/>
          <p:nvPr/>
        </p:nvSpPr>
        <p:spPr>
          <a:xfrm rot="1876611">
            <a:off x="-2029547" y="6559156"/>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88237A7E-8312-16CF-51B3-9814D5F63398}"/>
              </a:ext>
            </a:extLst>
          </p:cNvPr>
          <p:cNvSpPr txBox="1"/>
          <p:nvPr/>
        </p:nvSpPr>
        <p:spPr>
          <a:xfrm>
            <a:off x="2400213" y="1725449"/>
            <a:ext cx="8321040" cy="2062103"/>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 viability of luxury vegan clothing in the Australian market appears promising. The increasing awareness of ethical fashion, the rise in veganism, and the growing concern for sustainability all contribute to a favorable environment for such products.</a:t>
            </a:r>
          </a:p>
          <a:p>
            <a:pPr algn="just"/>
            <a:endPar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Australia’s fashion industry is receptive to innovative and ethical brands, and with the right marketing strategies, a luxury vegan clothing brand like LuxeVegan Couture could find a niche market among environmentally conscious consumers who are willing to invest in high-quality, sustainable, and cruelty-free fashion.</a:t>
            </a:r>
          </a:p>
        </p:txBody>
      </p:sp>
      <p:sp>
        <p:nvSpPr>
          <p:cNvPr id="16" name="Oval 15">
            <a:extLst>
              <a:ext uri="{FF2B5EF4-FFF2-40B4-BE49-F238E27FC236}">
                <a16:creationId xmlns:a16="http://schemas.microsoft.com/office/drawing/2014/main" id="{831A34AE-7645-FE30-0EA9-2E29D2877EEA}"/>
              </a:ext>
            </a:extLst>
          </p:cNvPr>
          <p:cNvSpPr/>
          <p:nvPr/>
        </p:nvSpPr>
        <p:spPr>
          <a:xfrm rot="18767046">
            <a:off x="-2307249" y="-5018644"/>
            <a:ext cx="16777014" cy="16887726"/>
          </a:xfrm>
          <a:prstGeom prst="ellipse">
            <a:avLst/>
          </a:prstGeom>
          <a:noFill/>
          <a:ln w="63500" cap="rnd" cmpd="sng">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F731136B-129F-D676-8CD3-DB889C683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5440" y="3245346"/>
            <a:ext cx="45720" cy="45720"/>
          </a:xfrm>
          <a:prstGeom prst="rect">
            <a:avLst/>
          </a:prstGeom>
        </p:spPr>
      </p:pic>
      <p:grpSp>
        <p:nvGrpSpPr>
          <p:cNvPr id="4" name="Group 3">
            <a:extLst>
              <a:ext uri="{FF2B5EF4-FFF2-40B4-BE49-F238E27FC236}">
                <a16:creationId xmlns:a16="http://schemas.microsoft.com/office/drawing/2014/main" id="{DF6C6EAE-0EA6-E272-9DCD-9CA552B4AD07}"/>
              </a:ext>
            </a:extLst>
          </p:cNvPr>
          <p:cNvGrpSpPr/>
          <p:nvPr/>
        </p:nvGrpSpPr>
        <p:grpSpPr>
          <a:xfrm rot="10800000">
            <a:off x="1005276" y="8789250"/>
            <a:ext cx="4816790" cy="4387778"/>
            <a:chOff x="2702560" y="487680"/>
            <a:chExt cx="6386645" cy="5800164"/>
          </a:xfrm>
        </p:grpSpPr>
        <p:sp>
          <p:nvSpPr>
            <p:cNvPr id="5" name="Freeform: Shape 4">
              <a:extLst>
                <a:ext uri="{FF2B5EF4-FFF2-40B4-BE49-F238E27FC236}">
                  <a16:creationId xmlns:a16="http://schemas.microsoft.com/office/drawing/2014/main" id="{B0DBB345-7917-77CF-D082-0560DDA4A32C}"/>
                </a:ext>
              </a:extLst>
            </p:cNvPr>
            <p:cNvSpPr/>
            <p:nvPr/>
          </p:nvSpPr>
          <p:spPr>
            <a:xfrm>
              <a:off x="3346077" y="2713781"/>
              <a:ext cx="1865822" cy="2983150"/>
            </a:xfrm>
            <a:custGeom>
              <a:avLst/>
              <a:gdLst>
                <a:gd name="connsiteX0" fmla="*/ 131340 w 1865821"/>
                <a:gd name="connsiteY0" fmla="*/ 0 h 2983149"/>
                <a:gd name="connsiteX1" fmla="*/ 1367685 w 1865821"/>
                <a:gd name="connsiteY1" fmla="*/ 401713 h 2983149"/>
                <a:gd name="connsiteX2" fmla="*/ 1361886 w 1865821"/>
                <a:gd name="connsiteY2" fmla="*/ 417559 h 2983149"/>
                <a:gd name="connsiteX3" fmla="*/ 1328127 w 1865821"/>
                <a:gd name="connsiteY3" fmla="*/ 548850 h 2983149"/>
                <a:gd name="connsiteX4" fmla="*/ 1321264 w 1865821"/>
                <a:gd name="connsiteY4" fmla="*/ 593822 h 2983149"/>
                <a:gd name="connsiteX5" fmla="*/ 1316080 w 1865821"/>
                <a:gd name="connsiteY5" fmla="*/ 616315 h 2983149"/>
                <a:gd name="connsiteX6" fmla="*/ 1314358 w 1865821"/>
                <a:gd name="connsiteY6" fmla="*/ 639069 h 2983149"/>
                <a:gd name="connsiteX7" fmla="*/ 1307367 w 1865821"/>
                <a:gd name="connsiteY7" fmla="*/ 684875 h 2983149"/>
                <a:gd name="connsiteX8" fmla="*/ 1300294 w 1865821"/>
                <a:gd name="connsiteY8" fmla="*/ 824947 h 2983149"/>
                <a:gd name="connsiteX9" fmla="*/ 1300294 w 1865821"/>
                <a:gd name="connsiteY9" fmla="*/ 824948 h 2983149"/>
                <a:gd name="connsiteX10" fmla="*/ 1300295 w 1865821"/>
                <a:gd name="connsiteY10" fmla="*/ 824956 h 2983149"/>
                <a:gd name="connsiteX11" fmla="*/ 1307367 w 1865821"/>
                <a:gd name="connsiteY11" fmla="*/ 965019 h 2983149"/>
                <a:gd name="connsiteX12" fmla="*/ 1308771 w 1865821"/>
                <a:gd name="connsiteY12" fmla="*/ 974219 h 2983149"/>
                <a:gd name="connsiteX13" fmla="*/ 1309228 w 1865821"/>
                <a:gd name="connsiteY13" fmla="*/ 982259 h 2983149"/>
                <a:gd name="connsiteX14" fmla="*/ 1316087 w 1865821"/>
                <a:gd name="connsiteY14" fmla="*/ 1022152 h 2983149"/>
                <a:gd name="connsiteX15" fmla="*/ 1328127 w 1865821"/>
                <a:gd name="connsiteY15" fmla="*/ 1101045 h 2983149"/>
                <a:gd name="connsiteX16" fmla="*/ 1332726 w 1865821"/>
                <a:gd name="connsiteY16" fmla="*/ 1118928 h 2983149"/>
                <a:gd name="connsiteX17" fmla="*/ 1335375 w 1865821"/>
                <a:gd name="connsiteY17" fmla="*/ 1134340 h 2983149"/>
                <a:gd name="connsiteX18" fmla="*/ 1346793 w 1865821"/>
                <a:gd name="connsiteY18" fmla="*/ 1173640 h 2983149"/>
                <a:gd name="connsiteX19" fmla="*/ 1361886 w 1865821"/>
                <a:gd name="connsiteY19" fmla="*/ 1232336 h 2983149"/>
                <a:gd name="connsiteX20" fmla="*/ 1371396 w 1865821"/>
                <a:gd name="connsiteY20" fmla="*/ 1258319 h 2983149"/>
                <a:gd name="connsiteX21" fmla="*/ 1377756 w 1865821"/>
                <a:gd name="connsiteY21" fmla="*/ 1280210 h 2983149"/>
                <a:gd name="connsiteX22" fmla="*/ 1391603 w 1865821"/>
                <a:gd name="connsiteY22" fmla="*/ 1313530 h 2983149"/>
                <a:gd name="connsiteX23" fmla="*/ 1407954 w 1865821"/>
                <a:gd name="connsiteY23" fmla="*/ 1358203 h 2983149"/>
                <a:gd name="connsiteX24" fmla="*/ 1424086 w 1865821"/>
                <a:gd name="connsiteY24" fmla="*/ 1391692 h 2983149"/>
                <a:gd name="connsiteX25" fmla="*/ 1435389 w 1865821"/>
                <a:gd name="connsiteY25" fmla="*/ 1418889 h 2983149"/>
                <a:gd name="connsiteX26" fmla="*/ 1449703 w 1865821"/>
                <a:gd name="connsiteY26" fmla="*/ 1444869 h 2983149"/>
                <a:gd name="connsiteX27" fmla="*/ 1465643 w 1865821"/>
                <a:gd name="connsiteY27" fmla="*/ 1477958 h 2983149"/>
                <a:gd name="connsiteX28" fmla="*/ 1490256 w 1865821"/>
                <a:gd name="connsiteY28" fmla="*/ 1518473 h 2983149"/>
                <a:gd name="connsiteX29" fmla="*/ 1507294 w 1865821"/>
                <a:gd name="connsiteY29" fmla="*/ 1549397 h 2983149"/>
                <a:gd name="connsiteX30" fmla="*/ 1520282 w 1865821"/>
                <a:gd name="connsiteY30" fmla="*/ 1567897 h 2983149"/>
                <a:gd name="connsiteX31" fmla="*/ 1534265 w 1865821"/>
                <a:gd name="connsiteY31" fmla="*/ 1590913 h 2983149"/>
                <a:gd name="connsiteX32" fmla="*/ 1569831 w 1865821"/>
                <a:gd name="connsiteY32" fmla="*/ 1638476 h 2983149"/>
                <a:gd name="connsiteX33" fmla="*/ 1592491 w 1865821"/>
                <a:gd name="connsiteY33" fmla="*/ 1670753 h 2983149"/>
                <a:gd name="connsiteX34" fmla="*/ 1602533 w 1865821"/>
                <a:gd name="connsiteY34" fmla="*/ 1682207 h 2983149"/>
                <a:gd name="connsiteX35" fmla="*/ 1613130 w 1865821"/>
                <a:gd name="connsiteY35" fmla="*/ 1696378 h 2983149"/>
                <a:gd name="connsiteX36" fmla="*/ 1664727 w 1865821"/>
                <a:gd name="connsiteY36" fmla="*/ 1753149 h 2983149"/>
                <a:gd name="connsiteX37" fmla="*/ 1689999 w 1865821"/>
                <a:gd name="connsiteY37" fmla="*/ 1781977 h 2983149"/>
                <a:gd name="connsiteX38" fmla="*/ 1695654 w 1865821"/>
                <a:gd name="connsiteY38" fmla="*/ 1787178 h 2983149"/>
                <a:gd name="connsiteX39" fmla="*/ 1701551 w 1865821"/>
                <a:gd name="connsiteY39" fmla="*/ 1793666 h 2983149"/>
                <a:gd name="connsiteX40" fmla="*/ 1798791 w 1865821"/>
                <a:gd name="connsiteY40" fmla="*/ 1882044 h 2983149"/>
                <a:gd name="connsiteX41" fmla="*/ 1798838 w 1865821"/>
                <a:gd name="connsiteY41" fmla="*/ 1882087 h 2983149"/>
                <a:gd name="connsiteX42" fmla="*/ 1865821 w 1865821"/>
                <a:gd name="connsiteY42" fmla="*/ 1932176 h 2983149"/>
                <a:gd name="connsiteX43" fmla="*/ 1102244 w 1865821"/>
                <a:gd name="connsiteY43" fmla="*/ 2983149 h 2983149"/>
                <a:gd name="connsiteX44" fmla="*/ 1018013 w 1865821"/>
                <a:gd name="connsiteY44" fmla="*/ 2920162 h 2983149"/>
                <a:gd name="connsiteX45" fmla="*/ 955550 w 1865821"/>
                <a:gd name="connsiteY45" fmla="*/ 2870838 h 2983149"/>
                <a:gd name="connsiteX46" fmla="*/ 787914 w 1865821"/>
                <a:gd name="connsiteY46" fmla="*/ 2718479 h 2983149"/>
                <a:gd name="connsiteX47" fmla="*/ 781485 w 1865821"/>
                <a:gd name="connsiteY47" fmla="*/ 2712508 h 2983149"/>
                <a:gd name="connsiteX48" fmla="*/ 618234 w 1865821"/>
                <a:gd name="connsiteY48" fmla="*/ 2532887 h 2983149"/>
                <a:gd name="connsiteX49" fmla="*/ 584277 w 1865821"/>
                <a:gd name="connsiteY49" fmla="*/ 2489477 h 2983149"/>
                <a:gd name="connsiteX50" fmla="*/ 476255 w 1865821"/>
                <a:gd name="connsiteY50" fmla="*/ 2345020 h 2983149"/>
                <a:gd name="connsiteX51" fmla="*/ 430961 w 1865821"/>
                <a:gd name="connsiteY51" fmla="*/ 2276697 h 2983149"/>
                <a:gd name="connsiteX52" fmla="*/ 350812 w 1865821"/>
                <a:gd name="connsiteY52" fmla="*/ 2144768 h 2983149"/>
                <a:gd name="connsiteX53" fmla="*/ 306682 w 1865821"/>
                <a:gd name="connsiteY53" fmla="*/ 2065414 h 2983149"/>
                <a:gd name="connsiteX54" fmla="*/ 238694 w 1865821"/>
                <a:gd name="connsiteY54" fmla="*/ 1924277 h 2983149"/>
                <a:gd name="connsiteX55" fmla="*/ 204394 w 1865821"/>
                <a:gd name="connsiteY55" fmla="*/ 1849491 h 2983149"/>
                <a:gd name="connsiteX56" fmla="*/ 127382 w 1865821"/>
                <a:gd name="connsiteY56" fmla="*/ 1639080 h 2983149"/>
                <a:gd name="connsiteX57" fmla="*/ 103340 w 1865821"/>
                <a:gd name="connsiteY57" fmla="*/ 1554055 h 2983149"/>
                <a:gd name="connsiteX58" fmla="*/ 64899 w 1865821"/>
                <a:gd name="connsiteY58" fmla="*/ 1404551 h 2983149"/>
                <a:gd name="connsiteX59" fmla="*/ 46903 w 1865821"/>
                <a:gd name="connsiteY59" fmla="*/ 1314998 h 2983149"/>
                <a:gd name="connsiteX60" fmla="*/ 21102 w 1865821"/>
                <a:gd name="connsiteY60" fmla="*/ 1145941 h 2983149"/>
                <a:gd name="connsiteX61" fmla="*/ 12716 w 1865821"/>
                <a:gd name="connsiteY61" fmla="*/ 1076862 h 2983149"/>
                <a:gd name="connsiteX62" fmla="*/ 0 w 1865821"/>
                <a:gd name="connsiteY62" fmla="*/ 825014 h 2983149"/>
                <a:gd name="connsiteX63" fmla="*/ 16 w 1865821"/>
                <a:gd name="connsiteY63" fmla="*/ 824562 h 2983149"/>
                <a:gd name="connsiteX64" fmla="*/ 12400 w 1865821"/>
                <a:gd name="connsiteY64" fmla="*/ 579301 h 2983149"/>
                <a:gd name="connsiteX65" fmla="*/ 20938 w 1865821"/>
                <a:gd name="connsiteY65" fmla="*/ 505028 h 2983149"/>
                <a:gd name="connsiteX66" fmla="*/ 46188 w 1865821"/>
                <a:gd name="connsiteY66" fmla="*/ 339582 h 2983149"/>
                <a:gd name="connsiteX67" fmla="*/ 64067 w 1865821"/>
                <a:gd name="connsiteY67" fmla="*/ 248579 h 2983149"/>
                <a:gd name="connsiteX68" fmla="*/ 101662 w 1865821"/>
                <a:gd name="connsiteY68" fmla="*/ 102364 h 2983149"/>
                <a:gd name="connsiteX69" fmla="*/ 127462 w 1865821"/>
                <a:gd name="connsiteY69" fmla="*/ 10595 h 2983149"/>
                <a:gd name="connsiteX70" fmla="*/ 131340 w 1865821"/>
                <a:gd name="connsiteY70" fmla="*/ 0 h 298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865821" h="2983149">
                  <a:moveTo>
                    <a:pt x="131340" y="0"/>
                  </a:moveTo>
                  <a:lnTo>
                    <a:pt x="1367685" y="401713"/>
                  </a:lnTo>
                  <a:lnTo>
                    <a:pt x="1361886" y="417559"/>
                  </a:lnTo>
                  <a:cubicBezTo>
                    <a:pt x="1348543" y="460457"/>
                    <a:pt x="1337252" y="504259"/>
                    <a:pt x="1328127" y="548850"/>
                  </a:cubicBezTo>
                  <a:lnTo>
                    <a:pt x="1321264" y="593822"/>
                  </a:lnTo>
                  <a:lnTo>
                    <a:pt x="1316080" y="616315"/>
                  </a:lnTo>
                  <a:lnTo>
                    <a:pt x="1314358" y="639069"/>
                  </a:lnTo>
                  <a:lnTo>
                    <a:pt x="1307367" y="684875"/>
                  </a:lnTo>
                  <a:cubicBezTo>
                    <a:pt x="1302690" y="730930"/>
                    <a:pt x="1300294" y="777659"/>
                    <a:pt x="1300294" y="824947"/>
                  </a:cubicBezTo>
                  <a:lnTo>
                    <a:pt x="1300294" y="824948"/>
                  </a:lnTo>
                  <a:lnTo>
                    <a:pt x="1300295" y="824956"/>
                  </a:lnTo>
                  <a:lnTo>
                    <a:pt x="1307367" y="965019"/>
                  </a:lnTo>
                  <a:lnTo>
                    <a:pt x="1308771" y="974219"/>
                  </a:lnTo>
                  <a:lnTo>
                    <a:pt x="1309228" y="982259"/>
                  </a:lnTo>
                  <a:lnTo>
                    <a:pt x="1316087" y="1022152"/>
                  </a:lnTo>
                  <a:lnTo>
                    <a:pt x="1328127" y="1101045"/>
                  </a:lnTo>
                  <a:lnTo>
                    <a:pt x="1332726" y="1118928"/>
                  </a:lnTo>
                  <a:lnTo>
                    <a:pt x="1335375" y="1134340"/>
                  </a:lnTo>
                  <a:lnTo>
                    <a:pt x="1346793" y="1173640"/>
                  </a:lnTo>
                  <a:lnTo>
                    <a:pt x="1361886" y="1232336"/>
                  </a:lnTo>
                  <a:lnTo>
                    <a:pt x="1371396" y="1258319"/>
                  </a:lnTo>
                  <a:lnTo>
                    <a:pt x="1377756" y="1280210"/>
                  </a:lnTo>
                  <a:lnTo>
                    <a:pt x="1391603" y="1313530"/>
                  </a:lnTo>
                  <a:lnTo>
                    <a:pt x="1407954" y="1358203"/>
                  </a:lnTo>
                  <a:lnTo>
                    <a:pt x="1424086" y="1391692"/>
                  </a:lnTo>
                  <a:lnTo>
                    <a:pt x="1435389" y="1418889"/>
                  </a:lnTo>
                  <a:lnTo>
                    <a:pt x="1449703" y="1444869"/>
                  </a:lnTo>
                  <a:lnTo>
                    <a:pt x="1465643" y="1477958"/>
                  </a:lnTo>
                  <a:lnTo>
                    <a:pt x="1490256" y="1518473"/>
                  </a:lnTo>
                  <a:lnTo>
                    <a:pt x="1507294" y="1549397"/>
                  </a:lnTo>
                  <a:lnTo>
                    <a:pt x="1520282" y="1567897"/>
                  </a:lnTo>
                  <a:lnTo>
                    <a:pt x="1534265" y="1590913"/>
                  </a:lnTo>
                  <a:lnTo>
                    <a:pt x="1569831" y="1638476"/>
                  </a:lnTo>
                  <a:lnTo>
                    <a:pt x="1592491" y="1670753"/>
                  </a:lnTo>
                  <a:lnTo>
                    <a:pt x="1602533" y="1682207"/>
                  </a:lnTo>
                  <a:lnTo>
                    <a:pt x="1613130" y="1696378"/>
                  </a:lnTo>
                  <a:lnTo>
                    <a:pt x="1664727" y="1753149"/>
                  </a:lnTo>
                  <a:lnTo>
                    <a:pt x="1689999" y="1781977"/>
                  </a:lnTo>
                  <a:lnTo>
                    <a:pt x="1695654" y="1787178"/>
                  </a:lnTo>
                  <a:lnTo>
                    <a:pt x="1701551" y="1793666"/>
                  </a:lnTo>
                  <a:lnTo>
                    <a:pt x="1798791" y="1882044"/>
                  </a:lnTo>
                  <a:lnTo>
                    <a:pt x="1798838" y="1882087"/>
                  </a:lnTo>
                  <a:lnTo>
                    <a:pt x="1865821" y="1932176"/>
                  </a:lnTo>
                  <a:lnTo>
                    <a:pt x="1102244" y="2983149"/>
                  </a:lnTo>
                  <a:lnTo>
                    <a:pt x="1018013" y="2920162"/>
                  </a:lnTo>
                  <a:lnTo>
                    <a:pt x="955550" y="2870838"/>
                  </a:lnTo>
                  <a:lnTo>
                    <a:pt x="787914" y="2718479"/>
                  </a:lnTo>
                  <a:lnTo>
                    <a:pt x="781485" y="2712508"/>
                  </a:lnTo>
                  <a:lnTo>
                    <a:pt x="618234" y="2532887"/>
                  </a:lnTo>
                  <a:lnTo>
                    <a:pt x="584277" y="2489477"/>
                  </a:lnTo>
                  <a:lnTo>
                    <a:pt x="476255" y="2345020"/>
                  </a:lnTo>
                  <a:lnTo>
                    <a:pt x="430961" y="2276697"/>
                  </a:lnTo>
                  <a:lnTo>
                    <a:pt x="350812" y="2144768"/>
                  </a:lnTo>
                  <a:lnTo>
                    <a:pt x="306682" y="2065414"/>
                  </a:lnTo>
                  <a:lnTo>
                    <a:pt x="238694" y="1924277"/>
                  </a:lnTo>
                  <a:lnTo>
                    <a:pt x="204394" y="1849491"/>
                  </a:lnTo>
                  <a:lnTo>
                    <a:pt x="127382" y="1639080"/>
                  </a:lnTo>
                  <a:lnTo>
                    <a:pt x="103340" y="1554055"/>
                  </a:lnTo>
                  <a:lnTo>
                    <a:pt x="64899" y="1404551"/>
                  </a:lnTo>
                  <a:lnTo>
                    <a:pt x="46903" y="1314998"/>
                  </a:lnTo>
                  <a:lnTo>
                    <a:pt x="21102" y="1145941"/>
                  </a:lnTo>
                  <a:lnTo>
                    <a:pt x="12716" y="1076862"/>
                  </a:lnTo>
                  <a:lnTo>
                    <a:pt x="0" y="825014"/>
                  </a:lnTo>
                  <a:lnTo>
                    <a:pt x="16" y="824562"/>
                  </a:lnTo>
                  <a:lnTo>
                    <a:pt x="12400" y="579301"/>
                  </a:lnTo>
                  <a:lnTo>
                    <a:pt x="20938" y="505028"/>
                  </a:lnTo>
                  <a:lnTo>
                    <a:pt x="46188" y="339582"/>
                  </a:lnTo>
                  <a:lnTo>
                    <a:pt x="64067" y="248579"/>
                  </a:lnTo>
                  <a:lnTo>
                    <a:pt x="101662" y="102364"/>
                  </a:lnTo>
                  <a:lnTo>
                    <a:pt x="127462" y="10595"/>
                  </a:lnTo>
                  <a:lnTo>
                    <a:pt x="131340"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1" name="Freeform: Shape 10">
              <a:extLst>
                <a:ext uri="{FF2B5EF4-FFF2-40B4-BE49-F238E27FC236}">
                  <a16:creationId xmlns:a16="http://schemas.microsoft.com/office/drawing/2014/main" id="{CD4B111B-FB10-FE94-1225-1F86BD3E68D2}"/>
                </a:ext>
              </a:extLst>
            </p:cNvPr>
            <p:cNvSpPr/>
            <p:nvPr/>
          </p:nvSpPr>
          <p:spPr>
            <a:xfrm>
              <a:off x="3477418" y="868280"/>
              <a:ext cx="2538930" cy="2247214"/>
            </a:xfrm>
            <a:custGeom>
              <a:avLst/>
              <a:gdLst>
                <a:gd name="connsiteX0" fmla="*/ 2538929 w 2538929"/>
                <a:gd name="connsiteY0" fmla="*/ 0 h 2247213"/>
                <a:gd name="connsiteX1" fmla="*/ 2538929 w 2538929"/>
                <a:gd name="connsiteY1" fmla="*/ 1300473 h 2247213"/>
                <a:gd name="connsiteX2" fmla="*/ 2538928 w 2538929"/>
                <a:gd name="connsiteY2" fmla="*/ 1300473 h 2247213"/>
                <a:gd name="connsiteX3" fmla="*/ 2538925 w 2538929"/>
                <a:gd name="connsiteY3" fmla="*/ 1300473 h 2247213"/>
                <a:gd name="connsiteX4" fmla="*/ 2433523 w 2538929"/>
                <a:gd name="connsiteY4" fmla="*/ 1304468 h 2247213"/>
                <a:gd name="connsiteX5" fmla="*/ 2412686 w 2538929"/>
                <a:gd name="connsiteY5" fmla="*/ 1306848 h 2247213"/>
                <a:gd name="connsiteX6" fmla="*/ 2398856 w 2538929"/>
                <a:gd name="connsiteY6" fmla="*/ 1307546 h 2247213"/>
                <a:gd name="connsiteX7" fmla="*/ 2375906 w 2538929"/>
                <a:gd name="connsiteY7" fmla="*/ 1311049 h 2247213"/>
                <a:gd name="connsiteX8" fmla="*/ 2330296 w 2538929"/>
                <a:gd name="connsiteY8" fmla="*/ 1316258 h 2247213"/>
                <a:gd name="connsiteX9" fmla="*/ 2307798 w 2538929"/>
                <a:gd name="connsiteY9" fmla="*/ 1321443 h 2247213"/>
                <a:gd name="connsiteX10" fmla="*/ 2262831 w 2538929"/>
                <a:gd name="connsiteY10" fmla="*/ 1328306 h 2247213"/>
                <a:gd name="connsiteX11" fmla="*/ 2005672 w 2538929"/>
                <a:gd name="connsiteY11" fmla="*/ 1408133 h 2247213"/>
                <a:gd name="connsiteX12" fmla="*/ 1965483 w 2538929"/>
                <a:gd name="connsiteY12" fmla="*/ 1427493 h 2247213"/>
                <a:gd name="connsiteX13" fmla="*/ 1944989 w 2538929"/>
                <a:gd name="connsiteY13" fmla="*/ 1435568 h 2247213"/>
                <a:gd name="connsiteX14" fmla="*/ 1925669 w 2538929"/>
                <a:gd name="connsiteY14" fmla="*/ 1446672 h 2247213"/>
                <a:gd name="connsiteX15" fmla="*/ 1885917 w 2538929"/>
                <a:gd name="connsiteY15" fmla="*/ 1465822 h 2247213"/>
                <a:gd name="connsiteX16" fmla="*/ 1667497 w 2538929"/>
                <a:gd name="connsiteY16" fmla="*/ 1613309 h 2247213"/>
                <a:gd name="connsiteX17" fmla="*/ 1634993 w 2538929"/>
                <a:gd name="connsiteY17" fmla="*/ 1642851 h 2247213"/>
                <a:gd name="connsiteX18" fmla="*/ 1617789 w 2538929"/>
                <a:gd name="connsiteY18" fmla="*/ 1656368 h 2247213"/>
                <a:gd name="connsiteX19" fmla="*/ 1602662 w 2538929"/>
                <a:gd name="connsiteY19" fmla="*/ 1672235 h 2247213"/>
                <a:gd name="connsiteX20" fmla="*/ 1570210 w 2538929"/>
                <a:gd name="connsiteY20" fmla="*/ 1701730 h 2247213"/>
                <a:gd name="connsiteX21" fmla="*/ 1402924 w 2538929"/>
                <a:gd name="connsiteY21" fmla="*/ 1904482 h 2247213"/>
                <a:gd name="connsiteX22" fmla="*/ 1380107 w 2538929"/>
                <a:gd name="connsiteY22" fmla="*/ 1942040 h 2247213"/>
                <a:gd name="connsiteX23" fmla="*/ 1367291 w 2538929"/>
                <a:gd name="connsiteY23" fmla="*/ 1960067 h 2247213"/>
                <a:gd name="connsiteX24" fmla="*/ 1357303 w 2538929"/>
                <a:gd name="connsiteY24" fmla="*/ 1979576 h 2247213"/>
                <a:gd name="connsiteX25" fmla="*/ 1334302 w 2538929"/>
                <a:gd name="connsiteY25" fmla="*/ 2017437 h 2247213"/>
                <a:gd name="connsiteX26" fmla="*/ 1276613 w 2538929"/>
                <a:gd name="connsiteY26" fmla="*/ 2137192 h 2247213"/>
                <a:gd name="connsiteX27" fmla="*/ 1236345 w 2538929"/>
                <a:gd name="connsiteY27" fmla="*/ 2247213 h 2247213"/>
                <a:gd name="connsiteX28" fmla="*/ 0 w 2538929"/>
                <a:gd name="connsiteY28" fmla="*/ 1845500 h 2247213"/>
                <a:gd name="connsiteX29" fmla="*/ 74587 w 2538929"/>
                <a:gd name="connsiteY29" fmla="*/ 1641712 h 2247213"/>
                <a:gd name="connsiteX30" fmla="*/ 163498 w 2538929"/>
                <a:gd name="connsiteY30" fmla="*/ 1450041 h 2247213"/>
                <a:gd name="connsiteX31" fmla="*/ 262163 w 2538929"/>
                <a:gd name="connsiteY31" fmla="*/ 1275241 h 2247213"/>
                <a:gd name="connsiteX32" fmla="*/ 303360 w 2538929"/>
                <a:gd name="connsiteY32" fmla="*/ 1212647 h 2247213"/>
                <a:gd name="connsiteX33" fmla="*/ 372587 w 2538929"/>
                <a:gd name="connsiteY33" fmla="*/ 1109886 h 2247213"/>
                <a:gd name="connsiteX34" fmla="*/ 430062 w 2538929"/>
                <a:gd name="connsiteY34" fmla="*/ 1034917 h 2247213"/>
                <a:gd name="connsiteX35" fmla="*/ 495067 w 2538929"/>
                <a:gd name="connsiteY35" fmla="*/ 953072 h 2247213"/>
                <a:gd name="connsiteX36" fmla="*/ 561072 w 2538929"/>
                <a:gd name="connsiteY36" fmla="*/ 878685 h 2247213"/>
                <a:gd name="connsiteX37" fmla="*/ 629546 w 2538929"/>
                <a:gd name="connsiteY37" fmla="*/ 805053 h 2247213"/>
                <a:gd name="connsiteX38" fmla="*/ 699758 w 2538929"/>
                <a:gd name="connsiteY38" fmla="*/ 736496 h 2247213"/>
                <a:gd name="connsiteX39" fmla="*/ 775961 w 2538929"/>
                <a:gd name="connsiteY39" fmla="*/ 666331 h 2247213"/>
                <a:gd name="connsiteX40" fmla="*/ 847007 w 2538929"/>
                <a:gd name="connsiteY40" fmla="*/ 606259 h 2247213"/>
                <a:gd name="connsiteX41" fmla="*/ 934079 w 2538929"/>
                <a:gd name="connsiteY41" fmla="*/ 537713 h 2247213"/>
                <a:gd name="connsiteX42" fmla="*/ 1003186 w 2538929"/>
                <a:gd name="connsiteY42" fmla="*/ 487314 h 2247213"/>
                <a:gd name="connsiteX43" fmla="*/ 1103313 w 2538929"/>
                <a:gd name="connsiteY43" fmla="*/ 420312 h 2247213"/>
                <a:gd name="connsiteX44" fmla="*/ 1168421 w 2538929"/>
                <a:gd name="connsiteY44" fmla="*/ 379672 h 2247213"/>
                <a:gd name="connsiteX45" fmla="*/ 1282750 w 2538929"/>
                <a:gd name="connsiteY45" fmla="*/ 315350 h 2247213"/>
                <a:gd name="connsiteX46" fmla="*/ 1342595 w 2538929"/>
                <a:gd name="connsiteY46" fmla="*/ 283779 h 2247213"/>
                <a:gd name="connsiteX47" fmla="*/ 1470915 w 2538929"/>
                <a:gd name="connsiteY47" fmla="*/ 224157 h 2247213"/>
                <a:gd name="connsiteX48" fmla="*/ 1525458 w 2538929"/>
                <a:gd name="connsiteY48" fmla="*/ 200299 h 2247213"/>
                <a:gd name="connsiteX49" fmla="*/ 1666008 w 2538929"/>
                <a:gd name="connsiteY49" fmla="*/ 147867 h 2247213"/>
                <a:gd name="connsiteX50" fmla="*/ 1716416 w 2538929"/>
                <a:gd name="connsiteY50" fmla="*/ 130116 h 2247213"/>
                <a:gd name="connsiteX51" fmla="*/ 1866042 w 2538929"/>
                <a:gd name="connsiteY51" fmla="*/ 87306 h 2247213"/>
                <a:gd name="connsiteX52" fmla="*/ 1914630 w 2538929"/>
                <a:gd name="connsiteY52" fmla="*/ 74162 h 2247213"/>
                <a:gd name="connsiteX53" fmla="*/ 2069685 w 2538929"/>
                <a:gd name="connsiteY53" fmla="*/ 42778 h 2247213"/>
                <a:gd name="connsiteX54" fmla="*/ 2118870 w 2538929"/>
                <a:gd name="connsiteY54" fmla="*/ 33359 h 2247213"/>
                <a:gd name="connsiteX55" fmla="*/ 2279283 w 2538929"/>
                <a:gd name="connsiteY55" fmla="*/ 13989 h 2247213"/>
                <a:gd name="connsiteX56" fmla="*/ 2327594 w 2538929"/>
                <a:gd name="connsiteY56" fmla="*/ 8471 h 2247213"/>
                <a:gd name="connsiteX57" fmla="*/ 2535836 w 2538929"/>
                <a:gd name="connsiteY57" fmla="*/ 117 h 2247213"/>
                <a:gd name="connsiteX58" fmla="*/ 2538929 w 2538929"/>
                <a:gd name="connsiteY58" fmla="*/ 0 h 224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538929" h="2247213">
                  <a:moveTo>
                    <a:pt x="2538929" y="0"/>
                  </a:moveTo>
                  <a:lnTo>
                    <a:pt x="2538929" y="1300473"/>
                  </a:lnTo>
                  <a:lnTo>
                    <a:pt x="2538928" y="1300473"/>
                  </a:lnTo>
                  <a:lnTo>
                    <a:pt x="2538925" y="1300473"/>
                  </a:lnTo>
                  <a:lnTo>
                    <a:pt x="2433523" y="1304468"/>
                  </a:lnTo>
                  <a:lnTo>
                    <a:pt x="2412686" y="1306848"/>
                  </a:lnTo>
                  <a:lnTo>
                    <a:pt x="2398856" y="1307546"/>
                  </a:lnTo>
                  <a:lnTo>
                    <a:pt x="2375906" y="1311049"/>
                  </a:lnTo>
                  <a:lnTo>
                    <a:pt x="2330296" y="1316258"/>
                  </a:lnTo>
                  <a:lnTo>
                    <a:pt x="2307798" y="1321443"/>
                  </a:lnTo>
                  <a:lnTo>
                    <a:pt x="2262831" y="1328306"/>
                  </a:lnTo>
                  <a:cubicBezTo>
                    <a:pt x="2173649" y="1346556"/>
                    <a:pt x="2087623" y="1373470"/>
                    <a:pt x="2005672" y="1408133"/>
                  </a:cubicBezTo>
                  <a:lnTo>
                    <a:pt x="1965483" y="1427493"/>
                  </a:lnTo>
                  <a:lnTo>
                    <a:pt x="1944989" y="1435568"/>
                  </a:lnTo>
                  <a:lnTo>
                    <a:pt x="1925669" y="1446672"/>
                  </a:lnTo>
                  <a:lnTo>
                    <a:pt x="1885917" y="1465822"/>
                  </a:lnTo>
                  <a:cubicBezTo>
                    <a:pt x="1808271" y="1508002"/>
                    <a:pt x="1735158" y="1557470"/>
                    <a:pt x="1667497" y="1613309"/>
                  </a:cubicBezTo>
                  <a:lnTo>
                    <a:pt x="1634993" y="1642851"/>
                  </a:lnTo>
                  <a:lnTo>
                    <a:pt x="1617789" y="1656368"/>
                  </a:lnTo>
                  <a:lnTo>
                    <a:pt x="1602662" y="1672235"/>
                  </a:lnTo>
                  <a:lnTo>
                    <a:pt x="1570210" y="1701730"/>
                  </a:lnTo>
                  <a:cubicBezTo>
                    <a:pt x="1508231" y="1763709"/>
                    <a:pt x="1452163" y="1831599"/>
                    <a:pt x="1402924" y="1904482"/>
                  </a:cubicBezTo>
                  <a:lnTo>
                    <a:pt x="1380107" y="1942040"/>
                  </a:lnTo>
                  <a:lnTo>
                    <a:pt x="1367291" y="1960067"/>
                  </a:lnTo>
                  <a:lnTo>
                    <a:pt x="1357303" y="1979576"/>
                  </a:lnTo>
                  <a:lnTo>
                    <a:pt x="1334302" y="2017437"/>
                  </a:lnTo>
                  <a:cubicBezTo>
                    <a:pt x="1313212" y="2056260"/>
                    <a:pt x="1293944" y="2096217"/>
                    <a:pt x="1276613" y="2137192"/>
                  </a:cubicBezTo>
                  <a:lnTo>
                    <a:pt x="1236345" y="2247213"/>
                  </a:lnTo>
                  <a:lnTo>
                    <a:pt x="0" y="1845500"/>
                  </a:lnTo>
                  <a:lnTo>
                    <a:pt x="74587" y="1641712"/>
                  </a:lnTo>
                  <a:lnTo>
                    <a:pt x="163498" y="1450041"/>
                  </a:lnTo>
                  <a:lnTo>
                    <a:pt x="262163" y="1275241"/>
                  </a:lnTo>
                  <a:lnTo>
                    <a:pt x="303360" y="1212647"/>
                  </a:lnTo>
                  <a:lnTo>
                    <a:pt x="372587" y="1109886"/>
                  </a:lnTo>
                  <a:lnTo>
                    <a:pt x="430062" y="1034917"/>
                  </a:lnTo>
                  <a:lnTo>
                    <a:pt x="495067" y="953072"/>
                  </a:lnTo>
                  <a:lnTo>
                    <a:pt x="561072" y="878685"/>
                  </a:lnTo>
                  <a:lnTo>
                    <a:pt x="629546" y="805053"/>
                  </a:lnTo>
                  <a:lnTo>
                    <a:pt x="699758" y="736496"/>
                  </a:lnTo>
                  <a:lnTo>
                    <a:pt x="775961" y="666331"/>
                  </a:lnTo>
                  <a:lnTo>
                    <a:pt x="847007" y="606259"/>
                  </a:lnTo>
                  <a:lnTo>
                    <a:pt x="934079" y="537713"/>
                  </a:lnTo>
                  <a:lnTo>
                    <a:pt x="1003186" y="487314"/>
                  </a:lnTo>
                  <a:lnTo>
                    <a:pt x="1103313" y="420312"/>
                  </a:lnTo>
                  <a:lnTo>
                    <a:pt x="1168421" y="379672"/>
                  </a:lnTo>
                  <a:lnTo>
                    <a:pt x="1282750" y="315350"/>
                  </a:lnTo>
                  <a:lnTo>
                    <a:pt x="1342595" y="283779"/>
                  </a:lnTo>
                  <a:lnTo>
                    <a:pt x="1470915" y="224157"/>
                  </a:lnTo>
                  <a:lnTo>
                    <a:pt x="1525458" y="200299"/>
                  </a:lnTo>
                  <a:lnTo>
                    <a:pt x="1666008" y="147867"/>
                  </a:lnTo>
                  <a:lnTo>
                    <a:pt x="1716416" y="130116"/>
                  </a:lnTo>
                  <a:lnTo>
                    <a:pt x="1866042" y="87306"/>
                  </a:lnTo>
                  <a:lnTo>
                    <a:pt x="1914630" y="74162"/>
                  </a:lnTo>
                  <a:lnTo>
                    <a:pt x="2069685" y="42778"/>
                  </a:lnTo>
                  <a:lnTo>
                    <a:pt x="2118870" y="33359"/>
                  </a:lnTo>
                  <a:lnTo>
                    <a:pt x="2279283" y="13989"/>
                  </a:lnTo>
                  <a:lnTo>
                    <a:pt x="2327594" y="8471"/>
                  </a:lnTo>
                  <a:lnTo>
                    <a:pt x="2535836" y="117"/>
                  </a:lnTo>
                  <a:lnTo>
                    <a:pt x="2538929"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7" name="Freeform: Shape 16">
              <a:extLst>
                <a:ext uri="{FF2B5EF4-FFF2-40B4-BE49-F238E27FC236}">
                  <a16:creationId xmlns:a16="http://schemas.microsoft.com/office/drawing/2014/main" id="{A4C3E700-C42F-4371-BE04-9869413BBE4D}"/>
                </a:ext>
              </a:extLst>
            </p:cNvPr>
            <p:cNvSpPr/>
            <p:nvPr/>
          </p:nvSpPr>
          <p:spPr>
            <a:xfrm>
              <a:off x="5444407" y="845474"/>
              <a:ext cx="1140788" cy="45720"/>
            </a:xfrm>
            <a:custGeom>
              <a:avLst/>
              <a:gdLst>
                <a:gd name="connsiteX0" fmla="*/ 3093 w 3093"/>
                <a:gd name="connsiteY0" fmla="*/ 0 h 124"/>
                <a:gd name="connsiteX1" fmla="*/ 3093 w 3093"/>
                <a:gd name="connsiteY1" fmla="*/ 7 h 124"/>
                <a:gd name="connsiteX2" fmla="*/ 0 w 3093"/>
                <a:gd name="connsiteY2" fmla="*/ 124 h 124"/>
                <a:gd name="connsiteX3" fmla="*/ 3093 w 3093"/>
                <a:gd name="connsiteY3" fmla="*/ 0 h 124"/>
              </a:gdLst>
              <a:ahLst/>
              <a:cxnLst>
                <a:cxn ang="0">
                  <a:pos x="connsiteX0" y="connsiteY0"/>
                </a:cxn>
                <a:cxn ang="0">
                  <a:pos x="connsiteX1" y="connsiteY1"/>
                </a:cxn>
                <a:cxn ang="0">
                  <a:pos x="connsiteX2" y="connsiteY2"/>
                </a:cxn>
                <a:cxn ang="0">
                  <a:pos x="connsiteX3" y="connsiteY3"/>
                </a:cxn>
              </a:cxnLst>
              <a:rect l="l" t="t" r="r" b="b"/>
              <a:pathLst>
                <a:path w="3093" h="124">
                  <a:moveTo>
                    <a:pt x="3093" y="0"/>
                  </a:moveTo>
                  <a:lnTo>
                    <a:pt x="3093" y="7"/>
                  </a:lnTo>
                  <a:lnTo>
                    <a:pt x="0" y="124"/>
                  </a:lnTo>
                  <a:lnTo>
                    <a:pt x="309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9" name="Freeform: Shape 18">
              <a:extLst>
                <a:ext uri="{FF2B5EF4-FFF2-40B4-BE49-F238E27FC236}">
                  <a16:creationId xmlns:a16="http://schemas.microsoft.com/office/drawing/2014/main" id="{EDF47A95-984A-8D10-6479-713FB8A124E1}"/>
                </a:ext>
              </a:extLst>
            </p:cNvPr>
            <p:cNvSpPr/>
            <p:nvPr/>
          </p:nvSpPr>
          <p:spPr>
            <a:xfrm>
              <a:off x="3477416" y="868272"/>
              <a:ext cx="5209566" cy="5340910"/>
            </a:xfrm>
            <a:custGeom>
              <a:avLst/>
              <a:gdLst>
                <a:gd name="connsiteX0" fmla="*/ 2539111 w 5209566"/>
                <a:gd name="connsiteY0" fmla="*/ 0 h 5340910"/>
                <a:gd name="connsiteX1" fmla="*/ 2539111 w 5209566"/>
                <a:gd name="connsiteY1" fmla="*/ 1300480 h 5340910"/>
                <a:gd name="connsiteX2" fmla="*/ 1169136 w 5209566"/>
                <a:gd name="connsiteY2" fmla="*/ 2670455 h 5340910"/>
                <a:gd name="connsiteX3" fmla="*/ 2539111 w 5209566"/>
                <a:gd name="connsiteY3" fmla="*/ 4040430 h 5340910"/>
                <a:gd name="connsiteX4" fmla="*/ 3909086 w 5209566"/>
                <a:gd name="connsiteY4" fmla="*/ 2670455 h 5340910"/>
                <a:gd name="connsiteX5" fmla="*/ 5209566 w 5209566"/>
                <a:gd name="connsiteY5" fmla="*/ 2670455 h 5340910"/>
                <a:gd name="connsiteX6" fmla="*/ 2539111 w 5209566"/>
                <a:gd name="connsiteY6" fmla="*/ 5340910 h 5340910"/>
                <a:gd name="connsiteX7" fmla="*/ 1046034 w 5209566"/>
                <a:gd name="connsiteY7" fmla="*/ 4884838 h 5340910"/>
                <a:gd name="connsiteX8" fmla="*/ 970904 w 5209566"/>
                <a:gd name="connsiteY8" fmla="*/ 4828657 h 5340910"/>
                <a:gd name="connsiteX9" fmla="*/ 1734481 w 5209566"/>
                <a:gd name="connsiteY9" fmla="*/ 3777684 h 5340910"/>
                <a:gd name="connsiteX10" fmla="*/ 1667498 w 5209566"/>
                <a:gd name="connsiteY10" fmla="*/ 3727595 h 5340910"/>
                <a:gd name="connsiteX11" fmla="*/ 1667451 w 5209566"/>
                <a:gd name="connsiteY11" fmla="*/ 3727552 h 5340910"/>
                <a:gd name="connsiteX12" fmla="*/ 1570211 w 5209566"/>
                <a:gd name="connsiteY12" fmla="*/ 3639174 h 5340910"/>
                <a:gd name="connsiteX13" fmla="*/ 1564314 w 5209566"/>
                <a:gd name="connsiteY13" fmla="*/ 3632686 h 5340910"/>
                <a:gd name="connsiteX14" fmla="*/ 1558659 w 5209566"/>
                <a:gd name="connsiteY14" fmla="*/ 3627485 h 5340910"/>
                <a:gd name="connsiteX15" fmla="*/ 1533387 w 5209566"/>
                <a:gd name="connsiteY15" fmla="*/ 3598657 h 5340910"/>
                <a:gd name="connsiteX16" fmla="*/ 1481790 w 5209566"/>
                <a:gd name="connsiteY16" fmla="*/ 3541886 h 5340910"/>
                <a:gd name="connsiteX17" fmla="*/ 1471193 w 5209566"/>
                <a:gd name="connsiteY17" fmla="*/ 3527715 h 5340910"/>
                <a:gd name="connsiteX18" fmla="*/ 1461151 w 5209566"/>
                <a:gd name="connsiteY18" fmla="*/ 3516261 h 5340910"/>
                <a:gd name="connsiteX19" fmla="*/ 1438491 w 5209566"/>
                <a:gd name="connsiteY19" fmla="*/ 3483984 h 5340910"/>
                <a:gd name="connsiteX20" fmla="*/ 1402925 w 5209566"/>
                <a:gd name="connsiteY20" fmla="*/ 3436421 h 5340910"/>
                <a:gd name="connsiteX21" fmla="*/ 1388942 w 5209566"/>
                <a:gd name="connsiteY21" fmla="*/ 3413405 h 5340910"/>
                <a:gd name="connsiteX22" fmla="*/ 1375954 w 5209566"/>
                <a:gd name="connsiteY22" fmla="*/ 3394905 h 5340910"/>
                <a:gd name="connsiteX23" fmla="*/ 1358916 w 5209566"/>
                <a:gd name="connsiteY23" fmla="*/ 3363981 h 5340910"/>
                <a:gd name="connsiteX24" fmla="*/ 1334303 w 5209566"/>
                <a:gd name="connsiteY24" fmla="*/ 3323466 h 5340910"/>
                <a:gd name="connsiteX25" fmla="*/ 1318363 w 5209566"/>
                <a:gd name="connsiteY25" fmla="*/ 3290377 h 5340910"/>
                <a:gd name="connsiteX26" fmla="*/ 1304049 w 5209566"/>
                <a:gd name="connsiteY26" fmla="*/ 3264397 h 5340910"/>
                <a:gd name="connsiteX27" fmla="*/ 1292746 w 5209566"/>
                <a:gd name="connsiteY27" fmla="*/ 3237200 h 5340910"/>
                <a:gd name="connsiteX28" fmla="*/ 1276614 w 5209566"/>
                <a:gd name="connsiteY28" fmla="*/ 3203711 h 5340910"/>
                <a:gd name="connsiteX29" fmla="*/ 1260263 w 5209566"/>
                <a:gd name="connsiteY29" fmla="*/ 3159038 h 5340910"/>
                <a:gd name="connsiteX30" fmla="*/ 1246416 w 5209566"/>
                <a:gd name="connsiteY30" fmla="*/ 3125718 h 5340910"/>
                <a:gd name="connsiteX31" fmla="*/ 1240056 w 5209566"/>
                <a:gd name="connsiteY31" fmla="*/ 3103827 h 5340910"/>
                <a:gd name="connsiteX32" fmla="*/ 1230546 w 5209566"/>
                <a:gd name="connsiteY32" fmla="*/ 3077844 h 5340910"/>
                <a:gd name="connsiteX33" fmla="*/ 1215453 w 5209566"/>
                <a:gd name="connsiteY33" fmla="*/ 3019148 h 5340910"/>
                <a:gd name="connsiteX34" fmla="*/ 1204035 w 5209566"/>
                <a:gd name="connsiteY34" fmla="*/ 2979848 h 5340910"/>
                <a:gd name="connsiteX35" fmla="*/ 1201386 w 5209566"/>
                <a:gd name="connsiteY35" fmla="*/ 2964436 h 5340910"/>
                <a:gd name="connsiteX36" fmla="*/ 1196787 w 5209566"/>
                <a:gd name="connsiteY36" fmla="*/ 2946553 h 5340910"/>
                <a:gd name="connsiteX37" fmla="*/ 1184747 w 5209566"/>
                <a:gd name="connsiteY37" fmla="*/ 2867660 h 5340910"/>
                <a:gd name="connsiteX38" fmla="*/ 1177888 w 5209566"/>
                <a:gd name="connsiteY38" fmla="*/ 2827767 h 5340910"/>
                <a:gd name="connsiteX39" fmla="*/ 1177431 w 5209566"/>
                <a:gd name="connsiteY39" fmla="*/ 2819727 h 5340910"/>
                <a:gd name="connsiteX40" fmla="*/ 1176027 w 5209566"/>
                <a:gd name="connsiteY40" fmla="*/ 2810527 h 5340910"/>
                <a:gd name="connsiteX41" fmla="*/ 1168955 w 5209566"/>
                <a:gd name="connsiteY41" fmla="*/ 2670464 h 5340910"/>
                <a:gd name="connsiteX42" fmla="*/ 1168954 w 5209566"/>
                <a:gd name="connsiteY42" fmla="*/ 2670456 h 5340910"/>
                <a:gd name="connsiteX43" fmla="*/ 1168954 w 5209566"/>
                <a:gd name="connsiteY43" fmla="*/ 2670455 h 5340910"/>
                <a:gd name="connsiteX44" fmla="*/ 1176027 w 5209566"/>
                <a:gd name="connsiteY44" fmla="*/ 2530383 h 5340910"/>
                <a:gd name="connsiteX45" fmla="*/ 1183018 w 5209566"/>
                <a:gd name="connsiteY45" fmla="*/ 2484577 h 5340910"/>
                <a:gd name="connsiteX46" fmla="*/ 1184740 w 5209566"/>
                <a:gd name="connsiteY46" fmla="*/ 2461823 h 5340910"/>
                <a:gd name="connsiteX47" fmla="*/ 1189924 w 5209566"/>
                <a:gd name="connsiteY47" fmla="*/ 2439330 h 5340910"/>
                <a:gd name="connsiteX48" fmla="*/ 1196787 w 5209566"/>
                <a:gd name="connsiteY48" fmla="*/ 2394358 h 5340910"/>
                <a:gd name="connsiteX49" fmla="*/ 1230546 w 5209566"/>
                <a:gd name="connsiteY49" fmla="*/ 2263067 h 5340910"/>
                <a:gd name="connsiteX50" fmla="*/ 1236345 w 5209566"/>
                <a:gd name="connsiteY50" fmla="*/ 2247221 h 5340910"/>
                <a:gd name="connsiteX51" fmla="*/ 0 w 5209566"/>
                <a:gd name="connsiteY51" fmla="*/ 1845508 h 5340910"/>
                <a:gd name="connsiteX52" fmla="*/ 1 w 5209566"/>
                <a:gd name="connsiteY52" fmla="*/ 1845507 h 5340910"/>
                <a:gd name="connsiteX53" fmla="*/ 1236346 w 5209566"/>
                <a:gd name="connsiteY53" fmla="*/ 2247220 h 5340910"/>
                <a:gd name="connsiteX54" fmla="*/ 1276614 w 5209566"/>
                <a:gd name="connsiteY54" fmla="*/ 2137199 h 5340910"/>
                <a:gd name="connsiteX55" fmla="*/ 1334303 w 5209566"/>
                <a:gd name="connsiteY55" fmla="*/ 2017444 h 5340910"/>
                <a:gd name="connsiteX56" fmla="*/ 1357304 w 5209566"/>
                <a:gd name="connsiteY56" fmla="*/ 1979583 h 5340910"/>
                <a:gd name="connsiteX57" fmla="*/ 1367292 w 5209566"/>
                <a:gd name="connsiteY57" fmla="*/ 1960074 h 5340910"/>
                <a:gd name="connsiteX58" fmla="*/ 1380108 w 5209566"/>
                <a:gd name="connsiteY58" fmla="*/ 1942047 h 5340910"/>
                <a:gd name="connsiteX59" fmla="*/ 1402925 w 5209566"/>
                <a:gd name="connsiteY59" fmla="*/ 1904489 h 5340910"/>
                <a:gd name="connsiteX60" fmla="*/ 1570211 w 5209566"/>
                <a:gd name="connsiteY60" fmla="*/ 1701737 h 5340910"/>
                <a:gd name="connsiteX61" fmla="*/ 1602663 w 5209566"/>
                <a:gd name="connsiteY61" fmla="*/ 1672242 h 5340910"/>
                <a:gd name="connsiteX62" fmla="*/ 1617790 w 5209566"/>
                <a:gd name="connsiteY62" fmla="*/ 1656375 h 5340910"/>
                <a:gd name="connsiteX63" fmla="*/ 1634994 w 5209566"/>
                <a:gd name="connsiteY63" fmla="*/ 1642858 h 5340910"/>
                <a:gd name="connsiteX64" fmla="*/ 1667498 w 5209566"/>
                <a:gd name="connsiteY64" fmla="*/ 1613316 h 5340910"/>
                <a:gd name="connsiteX65" fmla="*/ 1885918 w 5209566"/>
                <a:gd name="connsiteY65" fmla="*/ 1465829 h 5340910"/>
                <a:gd name="connsiteX66" fmla="*/ 1925670 w 5209566"/>
                <a:gd name="connsiteY66" fmla="*/ 1446679 h 5340910"/>
                <a:gd name="connsiteX67" fmla="*/ 1944990 w 5209566"/>
                <a:gd name="connsiteY67" fmla="*/ 1435575 h 5340910"/>
                <a:gd name="connsiteX68" fmla="*/ 1965484 w 5209566"/>
                <a:gd name="connsiteY68" fmla="*/ 1427500 h 5340910"/>
                <a:gd name="connsiteX69" fmla="*/ 2005673 w 5209566"/>
                <a:gd name="connsiteY69" fmla="*/ 1408140 h 5340910"/>
                <a:gd name="connsiteX70" fmla="*/ 2262832 w 5209566"/>
                <a:gd name="connsiteY70" fmla="*/ 1328313 h 5340910"/>
                <a:gd name="connsiteX71" fmla="*/ 2307799 w 5209566"/>
                <a:gd name="connsiteY71" fmla="*/ 1321450 h 5340910"/>
                <a:gd name="connsiteX72" fmla="*/ 2330297 w 5209566"/>
                <a:gd name="connsiteY72" fmla="*/ 1316265 h 5340910"/>
                <a:gd name="connsiteX73" fmla="*/ 2375907 w 5209566"/>
                <a:gd name="connsiteY73" fmla="*/ 1311056 h 5340910"/>
                <a:gd name="connsiteX74" fmla="*/ 2398857 w 5209566"/>
                <a:gd name="connsiteY74" fmla="*/ 1307553 h 5340910"/>
                <a:gd name="connsiteX75" fmla="*/ 2412687 w 5209566"/>
                <a:gd name="connsiteY75" fmla="*/ 1306855 h 5340910"/>
                <a:gd name="connsiteX76" fmla="*/ 2433524 w 5209566"/>
                <a:gd name="connsiteY76" fmla="*/ 1304475 h 5340910"/>
                <a:gd name="connsiteX77" fmla="*/ 2538926 w 5209566"/>
                <a:gd name="connsiteY77" fmla="*/ 1300480 h 5340910"/>
                <a:gd name="connsiteX78" fmla="*/ 2538929 w 5209566"/>
                <a:gd name="connsiteY78" fmla="*/ 1300480 h 5340910"/>
                <a:gd name="connsiteX79" fmla="*/ 2538930 w 5209566"/>
                <a:gd name="connsiteY79" fmla="*/ 1300480 h 5340910"/>
                <a:gd name="connsiteX80" fmla="*/ 2538930 w 5209566"/>
                <a:gd name="connsiteY80" fmla="*/ 7 h 5340910"/>
                <a:gd name="connsiteX81" fmla="*/ 2539111 w 5209566"/>
                <a:gd name="connsiteY81" fmla="*/ 0 h 534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209566" h="5340910">
                  <a:moveTo>
                    <a:pt x="2539111" y="0"/>
                  </a:moveTo>
                  <a:lnTo>
                    <a:pt x="2539111" y="1300480"/>
                  </a:lnTo>
                  <a:cubicBezTo>
                    <a:pt x="1782495" y="1300480"/>
                    <a:pt x="1169136" y="1913839"/>
                    <a:pt x="1169136" y="2670455"/>
                  </a:cubicBezTo>
                  <a:cubicBezTo>
                    <a:pt x="1169136" y="3427071"/>
                    <a:pt x="1782495" y="4040430"/>
                    <a:pt x="2539111" y="4040430"/>
                  </a:cubicBezTo>
                  <a:cubicBezTo>
                    <a:pt x="3295727" y="4040430"/>
                    <a:pt x="3909086" y="3427071"/>
                    <a:pt x="3909086" y="2670455"/>
                  </a:cubicBezTo>
                  <a:lnTo>
                    <a:pt x="5209566" y="2670455"/>
                  </a:lnTo>
                  <a:cubicBezTo>
                    <a:pt x="5209566" y="4145307"/>
                    <a:pt x="4013963" y="5340910"/>
                    <a:pt x="2539111" y="5340910"/>
                  </a:cubicBezTo>
                  <a:cubicBezTo>
                    <a:pt x="1986042" y="5340910"/>
                    <a:pt x="1472242" y="5172779"/>
                    <a:pt x="1046034" y="4884838"/>
                  </a:cubicBezTo>
                  <a:lnTo>
                    <a:pt x="970904" y="4828657"/>
                  </a:lnTo>
                  <a:lnTo>
                    <a:pt x="1734481" y="3777684"/>
                  </a:lnTo>
                  <a:lnTo>
                    <a:pt x="1667498" y="3727595"/>
                  </a:lnTo>
                  <a:lnTo>
                    <a:pt x="1667451" y="3727552"/>
                  </a:lnTo>
                  <a:lnTo>
                    <a:pt x="1570211" y="3639174"/>
                  </a:lnTo>
                  <a:lnTo>
                    <a:pt x="1564314" y="3632686"/>
                  </a:lnTo>
                  <a:lnTo>
                    <a:pt x="1558659" y="3627485"/>
                  </a:lnTo>
                  <a:lnTo>
                    <a:pt x="1533387" y="3598657"/>
                  </a:lnTo>
                  <a:lnTo>
                    <a:pt x="1481790" y="3541886"/>
                  </a:lnTo>
                  <a:lnTo>
                    <a:pt x="1471193" y="3527715"/>
                  </a:lnTo>
                  <a:lnTo>
                    <a:pt x="1461151" y="3516261"/>
                  </a:lnTo>
                  <a:lnTo>
                    <a:pt x="1438491" y="3483984"/>
                  </a:lnTo>
                  <a:lnTo>
                    <a:pt x="1402925" y="3436421"/>
                  </a:lnTo>
                  <a:lnTo>
                    <a:pt x="1388942" y="3413405"/>
                  </a:lnTo>
                  <a:lnTo>
                    <a:pt x="1375954" y="3394905"/>
                  </a:lnTo>
                  <a:lnTo>
                    <a:pt x="1358916" y="3363981"/>
                  </a:lnTo>
                  <a:lnTo>
                    <a:pt x="1334303" y="3323466"/>
                  </a:lnTo>
                  <a:lnTo>
                    <a:pt x="1318363" y="3290377"/>
                  </a:lnTo>
                  <a:lnTo>
                    <a:pt x="1304049" y="3264397"/>
                  </a:lnTo>
                  <a:lnTo>
                    <a:pt x="1292746" y="3237200"/>
                  </a:lnTo>
                  <a:lnTo>
                    <a:pt x="1276614" y="3203711"/>
                  </a:lnTo>
                  <a:lnTo>
                    <a:pt x="1260263" y="3159038"/>
                  </a:lnTo>
                  <a:lnTo>
                    <a:pt x="1246416" y="3125718"/>
                  </a:lnTo>
                  <a:lnTo>
                    <a:pt x="1240056" y="3103827"/>
                  </a:lnTo>
                  <a:lnTo>
                    <a:pt x="1230546" y="3077844"/>
                  </a:lnTo>
                  <a:lnTo>
                    <a:pt x="1215453" y="3019148"/>
                  </a:lnTo>
                  <a:lnTo>
                    <a:pt x="1204035" y="2979848"/>
                  </a:lnTo>
                  <a:lnTo>
                    <a:pt x="1201386" y="2964436"/>
                  </a:lnTo>
                  <a:lnTo>
                    <a:pt x="1196787" y="2946553"/>
                  </a:lnTo>
                  <a:lnTo>
                    <a:pt x="1184747" y="2867660"/>
                  </a:lnTo>
                  <a:lnTo>
                    <a:pt x="1177888" y="2827767"/>
                  </a:lnTo>
                  <a:lnTo>
                    <a:pt x="1177431" y="2819727"/>
                  </a:lnTo>
                  <a:lnTo>
                    <a:pt x="1176027" y="2810527"/>
                  </a:lnTo>
                  <a:lnTo>
                    <a:pt x="1168955" y="2670464"/>
                  </a:lnTo>
                  <a:lnTo>
                    <a:pt x="1168954" y="2670456"/>
                  </a:lnTo>
                  <a:lnTo>
                    <a:pt x="1168954" y="2670455"/>
                  </a:lnTo>
                  <a:cubicBezTo>
                    <a:pt x="1168954" y="2623167"/>
                    <a:pt x="1171350" y="2576438"/>
                    <a:pt x="1176027" y="2530383"/>
                  </a:cubicBezTo>
                  <a:lnTo>
                    <a:pt x="1183018" y="2484577"/>
                  </a:lnTo>
                  <a:lnTo>
                    <a:pt x="1184740" y="2461823"/>
                  </a:lnTo>
                  <a:lnTo>
                    <a:pt x="1189924" y="2439330"/>
                  </a:lnTo>
                  <a:lnTo>
                    <a:pt x="1196787" y="2394358"/>
                  </a:lnTo>
                  <a:cubicBezTo>
                    <a:pt x="1205912" y="2349767"/>
                    <a:pt x="1217203" y="2305965"/>
                    <a:pt x="1230546" y="2263067"/>
                  </a:cubicBezTo>
                  <a:lnTo>
                    <a:pt x="1236345" y="2247221"/>
                  </a:lnTo>
                  <a:lnTo>
                    <a:pt x="0" y="1845508"/>
                  </a:lnTo>
                  <a:lnTo>
                    <a:pt x="1" y="1845507"/>
                  </a:lnTo>
                  <a:lnTo>
                    <a:pt x="1236346" y="2247220"/>
                  </a:lnTo>
                  <a:lnTo>
                    <a:pt x="1276614" y="2137199"/>
                  </a:lnTo>
                  <a:cubicBezTo>
                    <a:pt x="1293945" y="2096224"/>
                    <a:pt x="1313213" y="2056267"/>
                    <a:pt x="1334303" y="2017444"/>
                  </a:cubicBezTo>
                  <a:lnTo>
                    <a:pt x="1357304" y="1979583"/>
                  </a:lnTo>
                  <a:lnTo>
                    <a:pt x="1367292" y="1960074"/>
                  </a:lnTo>
                  <a:lnTo>
                    <a:pt x="1380108" y="1942047"/>
                  </a:lnTo>
                  <a:lnTo>
                    <a:pt x="1402925" y="1904489"/>
                  </a:lnTo>
                  <a:cubicBezTo>
                    <a:pt x="1452164" y="1831606"/>
                    <a:pt x="1508232" y="1763716"/>
                    <a:pt x="1570211" y="1701737"/>
                  </a:cubicBezTo>
                  <a:lnTo>
                    <a:pt x="1602663" y="1672242"/>
                  </a:lnTo>
                  <a:lnTo>
                    <a:pt x="1617790" y="1656375"/>
                  </a:lnTo>
                  <a:lnTo>
                    <a:pt x="1634994" y="1642858"/>
                  </a:lnTo>
                  <a:lnTo>
                    <a:pt x="1667498" y="1613316"/>
                  </a:lnTo>
                  <a:cubicBezTo>
                    <a:pt x="1735159" y="1557477"/>
                    <a:pt x="1808272" y="1508009"/>
                    <a:pt x="1885918" y="1465829"/>
                  </a:cubicBezTo>
                  <a:lnTo>
                    <a:pt x="1925670" y="1446679"/>
                  </a:lnTo>
                  <a:lnTo>
                    <a:pt x="1944990" y="1435575"/>
                  </a:lnTo>
                  <a:lnTo>
                    <a:pt x="1965484" y="1427500"/>
                  </a:lnTo>
                  <a:lnTo>
                    <a:pt x="2005673" y="1408140"/>
                  </a:lnTo>
                  <a:cubicBezTo>
                    <a:pt x="2087624" y="1373477"/>
                    <a:pt x="2173650" y="1346563"/>
                    <a:pt x="2262832" y="1328313"/>
                  </a:cubicBezTo>
                  <a:lnTo>
                    <a:pt x="2307799" y="1321450"/>
                  </a:lnTo>
                  <a:lnTo>
                    <a:pt x="2330297" y="1316265"/>
                  </a:lnTo>
                  <a:lnTo>
                    <a:pt x="2375907" y="1311056"/>
                  </a:lnTo>
                  <a:lnTo>
                    <a:pt x="2398857" y="1307553"/>
                  </a:lnTo>
                  <a:lnTo>
                    <a:pt x="2412687" y="1306855"/>
                  </a:lnTo>
                  <a:lnTo>
                    <a:pt x="2433524" y="1304475"/>
                  </a:lnTo>
                  <a:lnTo>
                    <a:pt x="2538926" y="1300480"/>
                  </a:lnTo>
                  <a:lnTo>
                    <a:pt x="2538929" y="1300480"/>
                  </a:lnTo>
                  <a:lnTo>
                    <a:pt x="2538930" y="1300480"/>
                  </a:lnTo>
                  <a:lnTo>
                    <a:pt x="2538930" y="7"/>
                  </a:lnTo>
                  <a:lnTo>
                    <a:pt x="2539111"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0" name="Freeform: Shape 19">
              <a:extLst>
                <a:ext uri="{FF2B5EF4-FFF2-40B4-BE49-F238E27FC236}">
                  <a16:creationId xmlns:a16="http://schemas.microsoft.com/office/drawing/2014/main" id="{1AE256B3-AD06-28DA-1ADB-C22F9913D1FA}"/>
                </a:ext>
              </a:extLst>
            </p:cNvPr>
            <p:cNvSpPr/>
            <p:nvPr/>
          </p:nvSpPr>
          <p:spPr>
            <a:xfrm>
              <a:off x="5339296" y="849713"/>
              <a:ext cx="1139672" cy="45720"/>
            </a:xfrm>
            <a:custGeom>
              <a:avLst/>
              <a:gdLst>
                <a:gd name="connsiteX0" fmla="*/ 208242 w 208242"/>
                <a:gd name="connsiteY0" fmla="*/ 0 h 8354"/>
                <a:gd name="connsiteX1" fmla="*/ 0 w 208242"/>
                <a:gd name="connsiteY1" fmla="*/ 8354 h 8354"/>
                <a:gd name="connsiteX2" fmla="*/ 6050 w 208242"/>
                <a:gd name="connsiteY2" fmla="*/ 7663 h 8354"/>
                <a:gd name="connsiteX3" fmla="*/ 208242 w 208242"/>
                <a:gd name="connsiteY3" fmla="*/ 0 h 8354"/>
              </a:gdLst>
              <a:ahLst/>
              <a:cxnLst>
                <a:cxn ang="0">
                  <a:pos x="connsiteX0" y="connsiteY0"/>
                </a:cxn>
                <a:cxn ang="0">
                  <a:pos x="connsiteX1" y="connsiteY1"/>
                </a:cxn>
                <a:cxn ang="0">
                  <a:pos x="connsiteX2" y="connsiteY2"/>
                </a:cxn>
                <a:cxn ang="0">
                  <a:pos x="connsiteX3" y="connsiteY3"/>
                </a:cxn>
              </a:cxnLst>
              <a:rect l="l" t="t" r="r" b="b"/>
              <a:pathLst>
                <a:path w="208242" h="8354">
                  <a:moveTo>
                    <a:pt x="208242" y="0"/>
                  </a:moveTo>
                  <a:lnTo>
                    <a:pt x="0" y="8354"/>
                  </a:lnTo>
                  <a:lnTo>
                    <a:pt x="6050" y="7663"/>
                  </a:lnTo>
                  <a:lnTo>
                    <a:pt x="20824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1" name="Freeform: Shape 20">
              <a:extLst>
                <a:ext uri="{FF2B5EF4-FFF2-40B4-BE49-F238E27FC236}">
                  <a16:creationId xmlns:a16="http://schemas.microsoft.com/office/drawing/2014/main" id="{C95F62D6-D6E8-0086-6AFF-5D6810ECA224}"/>
                </a:ext>
              </a:extLst>
            </p:cNvPr>
            <p:cNvSpPr/>
            <p:nvPr/>
          </p:nvSpPr>
          <p:spPr>
            <a:xfrm>
              <a:off x="5580710" y="856649"/>
              <a:ext cx="400294" cy="45720"/>
            </a:xfrm>
            <a:custGeom>
              <a:avLst/>
              <a:gdLst>
                <a:gd name="connsiteX0" fmla="*/ 48311 w 48311"/>
                <a:gd name="connsiteY0" fmla="*/ 0 h 5518"/>
                <a:gd name="connsiteX1" fmla="*/ 0 w 48311"/>
                <a:gd name="connsiteY1" fmla="*/ 5518 h 5518"/>
                <a:gd name="connsiteX2" fmla="*/ 44398 w 48311"/>
                <a:gd name="connsiteY2" fmla="*/ 157 h 5518"/>
                <a:gd name="connsiteX3" fmla="*/ 48311 w 48311"/>
                <a:gd name="connsiteY3" fmla="*/ 0 h 5518"/>
              </a:gdLst>
              <a:ahLst/>
              <a:cxnLst>
                <a:cxn ang="0">
                  <a:pos x="connsiteX0" y="connsiteY0"/>
                </a:cxn>
                <a:cxn ang="0">
                  <a:pos x="connsiteX1" y="connsiteY1"/>
                </a:cxn>
                <a:cxn ang="0">
                  <a:pos x="connsiteX2" y="connsiteY2"/>
                </a:cxn>
                <a:cxn ang="0">
                  <a:pos x="connsiteX3" y="connsiteY3"/>
                </a:cxn>
              </a:cxnLst>
              <a:rect l="l" t="t" r="r" b="b"/>
              <a:pathLst>
                <a:path w="48311" h="5518">
                  <a:moveTo>
                    <a:pt x="48311" y="0"/>
                  </a:moveTo>
                  <a:lnTo>
                    <a:pt x="0" y="5518"/>
                  </a:lnTo>
                  <a:lnTo>
                    <a:pt x="44398" y="157"/>
                  </a:lnTo>
                  <a:lnTo>
                    <a:pt x="483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2" name="Freeform: Shape 21">
              <a:extLst>
                <a:ext uri="{FF2B5EF4-FFF2-40B4-BE49-F238E27FC236}">
                  <a16:creationId xmlns:a16="http://schemas.microsoft.com/office/drawing/2014/main" id="{344994C3-033F-8613-BE4C-EB002786E7E3}"/>
                </a:ext>
              </a:extLst>
            </p:cNvPr>
            <p:cNvSpPr/>
            <p:nvPr/>
          </p:nvSpPr>
          <p:spPr>
            <a:xfrm>
              <a:off x="5487178" y="869093"/>
              <a:ext cx="378634" cy="45720"/>
            </a:xfrm>
            <a:custGeom>
              <a:avLst/>
              <a:gdLst>
                <a:gd name="connsiteX0" fmla="*/ 160413 w 160413"/>
                <a:gd name="connsiteY0" fmla="*/ 0 h 19370"/>
                <a:gd name="connsiteX1" fmla="*/ 0 w 160413"/>
                <a:gd name="connsiteY1" fmla="*/ 19370 h 19370"/>
                <a:gd name="connsiteX2" fmla="*/ 13556 w 160413"/>
                <a:gd name="connsiteY2" fmla="*/ 16774 h 19370"/>
                <a:gd name="connsiteX3" fmla="*/ 160413 w 160413"/>
                <a:gd name="connsiteY3" fmla="*/ 0 h 19370"/>
              </a:gdLst>
              <a:ahLst/>
              <a:cxnLst>
                <a:cxn ang="0">
                  <a:pos x="connsiteX0" y="connsiteY0"/>
                </a:cxn>
                <a:cxn ang="0">
                  <a:pos x="connsiteX1" y="connsiteY1"/>
                </a:cxn>
                <a:cxn ang="0">
                  <a:pos x="connsiteX2" y="connsiteY2"/>
                </a:cxn>
                <a:cxn ang="0">
                  <a:pos x="connsiteX3" y="connsiteY3"/>
                </a:cxn>
              </a:cxnLst>
              <a:rect l="l" t="t" r="r" b="b"/>
              <a:pathLst>
                <a:path w="160413" h="19370">
                  <a:moveTo>
                    <a:pt x="160413" y="0"/>
                  </a:moveTo>
                  <a:lnTo>
                    <a:pt x="0" y="19370"/>
                  </a:lnTo>
                  <a:lnTo>
                    <a:pt x="13556" y="16774"/>
                  </a:lnTo>
                  <a:lnTo>
                    <a:pt x="16041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3" name="Freeform: Shape 22">
              <a:extLst>
                <a:ext uri="{FF2B5EF4-FFF2-40B4-BE49-F238E27FC236}">
                  <a16:creationId xmlns:a16="http://schemas.microsoft.com/office/drawing/2014/main" id="{619BDAD7-EB4F-D1CC-5A9C-69B2FB4E8D98}"/>
                </a:ext>
              </a:extLst>
            </p:cNvPr>
            <p:cNvSpPr/>
            <p:nvPr/>
          </p:nvSpPr>
          <p:spPr>
            <a:xfrm>
              <a:off x="5452334" y="883489"/>
              <a:ext cx="238724" cy="45720"/>
            </a:xfrm>
            <a:custGeom>
              <a:avLst/>
              <a:gdLst>
                <a:gd name="connsiteX0" fmla="*/ 49185 w 49185"/>
                <a:gd name="connsiteY0" fmla="*/ 0 h 9419"/>
                <a:gd name="connsiteX1" fmla="*/ 0 w 49185"/>
                <a:gd name="connsiteY1" fmla="*/ 9419 h 9419"/>
                <a:gd name="connsiteX2" fmla="*/ 42618 w 49185"/>
                <a:gd name="connsiteY2" fmla="*/ 793 h 9419"/>
                <a:gd name="connsiteX3" fmla="*/ 49185 w 49185"/>
                <a:gd name="connsiteY3" fmla="*/ 0 h 9419"/>
              </a:gdLst>
              <a:ahLst/>
              <a:cxnLst>
                <a:cxn ang="0">
                  <a:pos x="connsiteX0" y="connsiteY0"/>
                </a:cxn>
                <a:cxn ang="0">
                  <a:pos x="connsiteX1" y="connsiteY1"/>
                </a:cxn>
                <a:cxn ang="0">
                  <a:pos x="connsiteX2" y="connsiteY2"/>
                </a:cxn>
                <a:cxn ang="0">
                  <a:pos x="connsiteX3" y="connsiteY3"/>
                </a:cxn>
              </a:cxnLst>
              <a:rect l="l" t="t" r="r" b="b"/>
              <a:pathLst>
                <a:path w="49185" h="9419">
                  <a:moveTo>
                    <a:pt x="49185" y="0"/>
                  </a:moveTo>
                  <a:lnTo>
                    <a:pt x="0" y="9419"/>
                  </a:lnTo>
                  <a:lnTo>
                    <a:pt x="42618" y="793"/>
                  </a:lnTo>
                  <a:lnTo>
                    <a:pt x="4918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4" name="Freeform: Shape 23">
              <a:extLst>
                <a:ext uri="{FF2B5EF4-FFF2-40B4-BE49-F238E27FC236}">
                  <a16:creationId xmlns:a16="http://schemas.microsoft.com/office/drawing/2014/main" id="{A478D291-818B-B2C1-3E9E-7F9A7F457B64}"/>
                </a:ext>
              </a:extLst>
            </p:cNvPr>
            <p:cNvSpPr/>
            <p:nvPr/>
          </p:nvSpPr>
          <p:spPr>
            <a:xfrm>
              <a:off x="5356634" y="903889"/>
              <a:ext cx="225884" cy="45720"/>
            </a:xfrm>
            <a:custGeom>
              <a:avLst/>
              <a:gdLst>
                <a:gd name="connsiteX0" fmla="*/ 155055 w 155055"/>
                <a:gd name="connsiteY0" fmla="*/ 0 h 31384"/>
                <a:gd name="connsiteX1" fmla="*/ 0 w 155055"/>
                <a:gd name="connsiteY1" fmla="*/ 31384 h 31384"/>
                <a:gd name="connsiteX2" fmla="*/ 21392 w 155055"/>
                <a:gd name="connsiteY2" fmla="*/ 25597 h 31384"/>
                <a:gd name="connsiteX3" fmla="*/ 155055 w 155055"/>
                <a:gd name="connsiteY3" fmla="*/ 0 h 31384"/>
              </a:gdLst>
              <a:ahLst/>
              <a:cxnLst>
                <a:cxn ang="0">
                  <a:pos x="connsiteX0" y="connsiteY0"/>
                </a:cxn>
                <a:cxn ang="0">
                  <a:pos x="connsiteX1" y="connsiteY1"/>
                </a:cxn>
                <a:cxn ang="0">
                  <a:pos x="connsiteX2" y="connsiteY2"/>
                </a:cxn>
                <a:cxn ang="0">
                  <a:pos x="connsiteX3" y="connsiteY3"/>
                </a:cxn>
              </a:cxnLst>
              <a:rect l="l" t="t" r="r" b="b"/>
              <a:pathLst>
                <a:path w="155055" h="31384">
                  <a:moveTo>
                    <a:pt x="155055" y="0"/>
                  </a:moveTo>
                  <a:lnTo>
                    <a:pt x="0" y="31384"/>
                  </a:lnTo>
                  <a:lnTo>
                    <a:pt x="21392" y="25597"/>
                  </a:lnTo>
                  <a:lnTo>
                    <a:pt x="15505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5" name="Freeform: Shape 24">
              <a:extLst>
                <a:ext uri="{FF2B5EF4-FFF2-40B4-BE49-F238E27FC236}">
                  <a16:creationId xmlns:a16="http://schemas.microsoft.com/office/drawing/2014/main" id="{7CDEA8EF-B208-9675-1252-2A13C0A5ED76}"/>
                </a:ext>
              </a:extLst>
            </p:cNvPr>
            <p:cNvSpPr/>
            <p:nvPr/>
          </p:nvSpPr>
          <p:spPr>
            <a:xfrm>
              <a:off x="5283249" y="926153"/>
              <a:ext cx="169008" cy="45720"/>
            </a:xfrm>
            <a:custGeom>
              <a:avLst/>
              <a:gdLst>
                <a:gd name="connsiteX0" fmla="*/ 48588 w 48588"/>
                <a:gd name="connsiteY0" fmla="*/ 0 h 13144"/>
                <a:gd name="connsiteX1" fmla="*/ 0 w 48588"/>
                <a:gd name="connsiteY1" fmla="*/ 13144 h 13144"/>
                <a:gd name="connsiteX2" fmla="*/ 39537 w 48588"/>
                <a:gd name="connsiteY2" fmla="*/ 1832 h 13144"/>
                <a:gd name="connsiteX3" fmla="*/ 48588 w 48588"/>
                <a:gd name="connsiteY3" fmla="*/ 0 h 13144"/>
              </a:gdLst>
              <a:ahLst/>
              <a:cxnLst>
                <a:cxn ang="0">
                  <a:pos x="connsiteX0" y="connsiteY0"/>
                </a:cxn>
                <a:cxn ang="0">
                  <a:pos x="connsiteX1" y="connsiteY1"/>
                </a:cxn>
                <a:cxn ang="0">
                  <a:pos x="connsiteX2" y="connsiteY2"/>
                </a:cxn>
                <a:cxn ang="0">
                  <a:pos x="connsiteX3" y="connsiteY3"/>
                </a:cxn>
              </a:cxnLst>
              <a:rect l="l" t="t" r="r" b="b"/>
              <a:pathLst>
                <a:path w="48588" h="13144">
                  <a:moveTo>
                    <a:pt x="48588" y="0"/>
                  </a:moveTo>
                  <a:lnTo>
                    <a:pt x="0" y="13144"/>
                  </a:lnTo>
                  <a:lnTo>
                    <a:pt x="39537" y="1832"/>
                  </a:lnTo>
                  <a:lnTo>
                    <a:pt x="4858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6" name="Freeform: Shape 25">
              <a:extLst>
                <a:ext uri="{FF2B5EF4-FFF2-40B4-BE49-F238E27FC236}">
                  <a16:creationId xmlns:a16="http://schemas.microsoft.com/office/drawing/2014/main" id="{844A1E04-8965-7C80-ACE4-66048DE10406}"/>
                </a:ext>
              </a:extLst>
            </p:cNvPr>
            <p:cNvSpPr/>
            <p:nvPr/>
          </p:nvSpPr>
          <p:spPr>
            <a:xfrm>
              <a:off x="5188748" y="954130"/>
              <a:ext cx="159796" cy="45720"/>
            </a:xfrm>
            <a:custGeom>
              <a:avLst/>
              <a:gdLst>
                <a:gd name="connsiteX0" fmla="*/ 149626 w 149626"/>
                <a:gd name="connsiteY0" fmla="*/ 0 h 42810"/>
                <a:gd name="connsiteX1" fmla="*/ 0 w 149626"/>
                <a:gd name="connsiteY1" fmla="*/ 42810 h 42810"/>
                <a:gd name="connsiteX2" fmla="*/ 28582 w 149626"/>
                <a:gd name="connsiteY2" fmla="*/ 32745 h 42810"/>
                <a:gd name="connsiteX3" fmla="*/ 149626 w 149626"/>
                <a:gd name="connsiteY3" fmla="*/ 0 h 42810"/>
              </a:gdLst>
              <a:ahLst/>
              <a:cxnLst>
                <a:cxn ang="0">
                  <a:pos x="connsiteX0" y="connsiteY0"/>
                </a:cxn>
                <a:cxn ang="0">
                  <a:pos x="connsiteX1" y="connsiteY1"/>
                </a:cxn>
                <a:cxn ang="0">
                  <a:pos x="connsiteX2" y="connsiteY2"/>
                </a:cxn>
                <a:cxn ang="0">
                  <a:pos x="connsiteX3" y="connsiteY3"/>
                </a:cxn>
              </a:cxnLst>
              <a:rect l="l" t="t" r="r" b="b"/>
              <a:pathLst>
                <a:path w="149626" h="42810">
                  <a:moveTo>
                    <a:pt x="149626" y="0"/>
                  </a:moveTo>
                  <a:lnTo>
                    <a:pt x="0" y="42810"/>
                  </a:lnTo>
                  <a:lnTo>
                    <a:pt x="28582" y="32745"/>
                  </a:lnTo>
                  <a:lnTo>
                    <a:pt x="14962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7" name="Freeform: Shape 26">
              <a:extLst>
                <a:ext uri="{FF2B5EF4-FFF2-40B4-BE49-F238E27FC236}">
                  <a16:creationId xmlns:a16="http://schemas.microsoft.com/office/drawing/2014/main" id="{8A6D0663-FE9A-4C2E-DED0-D5C994421049}"/>
                </a:ext>
              </a:extLst>
            </p:cNvPr>
            <p:cNvSpPr/>
            <p:nvPr/>
          </p:nvSpPr>
          <p:spPr>
            <a:xfrm>
              <a:off x="5103716" y="984412"/>
              <a:ext cx="129826" cy="45720"/>
            </a:xfrm>
            <a:custGeom>
              <a:avLst/>
              <a:gdLst>
                <a:gd name="connsiteX0" fmla="*/ 50408 w 50408"/>
                <a:gd name="connsiteY0" fmla="*/ 0 h 17751"/>
                <a:gd name="connsiteX1" fmla="*/ 0 w 50408"/>
                <a:gd name="connsiteY1" fmla="*/ 17751 h 17751"/>
                <a:gd name="connsiteX2" fmla="*/ 38287 w 50408"/>
                <a:gd name="connsiteY2" fmla="*/ 3468 h 17751"/>
                <a:gd name="connsiteX3" fmla="*/ 50408 w 50408"/>
                <a:gd name="connsiteY3" fmla="*/ 0 h 17751"/>
              </a:gdLst>
              <a:ahLst/>
              <a:cxnLst>
                <a:cxn ang="0">
                  <a:pos x="connsiteX0" y="connsiteY0"/>
                </a:cxn>
                <a:cxn ang="0">
                  <a:pos x="connsiteX1" y="connsiteY1"/>
                </a:cxn>
                <a:cxn ang="0">
                  <a:pos x="connsiteX2" y="connsiteY2"/>
                </a:cxn>
                <a:cxn ang="0">
                  <a:pos x="connsiteX3" y="connsiteY3"/>
                </a:cxn>
              </a:cxnLst>
              <a:rect l="l" t="t" r="r" b="b"/>
              <a:pathLst>
                <a:path w="50408" h="17751">
                  <a:moveTo>
                    <a:pt x="50408" y="0"/>
                  </a:moveTo>
                  <a:lnTo>
                    <a:pt x="0" y="17751"/>
                  </a:lnTo>
                  <a:lnTo>
                    <a:pt x="38287" y="3468"/>
                  </a:lnTo>
                  <a:lnTo>
                    <a:pt x="504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8" name="Freeform: Shape 27">
              <a:extLst>
                <a:ext uri="{FF2B5EF4-FFF2-40B4-BE49-F238E27FC236}">
                  <a16:creationId xmlns:a16="http://schemas.microsoft.com/office/drawing/2014/main" id="{3375905B-3F7B-0100-B158-6D334F4B6DBC}"/>
                </a:ext>
              </a:extLst>
            </p:cNvPr>
            <p:cNvSpPr/>
            <p:nvPr/>
          </p:nvSpPr>
          <p:spPr>
            <a:xfrm>
              <a:off x="5002875" y="1016146"/>
              <a:ext cx="140550" cy="52432"/>
            </a:xfrm>
            <a:custGeom>
              <a:avLst/>
              <a:gdLst>
                <a:gd name="connsiteX0" fmla="*/ 140550 w 140550"/>
                <a:gd name="connsiteY0" fmla="*/ 0 h 52432"/>
                <a:gd name="connsiteX1" fmla="*/ 0 w 140550"/>
                <a:gd name="connsiteY1" fmla="*/ 52432 h 52432"/>
                <a:gd name="connsiteX2" fmla="*/ 34463 w 140550"/>
                <a:gd name="connsiteY2" fmla="*/ 37358 h 52432"/>
                <a:gd name="connsiteX3" fmla="*/ 140550 w 140550"/>
                <a:gd name="connsiteY3" fmla="*/ 0 h 52432"/>
              </a:gdLst>
              <a:ahLst/>
              <a:cxnLst>
                <a:cxn ang="0">
                  <a:pos x="connsiteX0" y="connsiteY0"/>
                </a:cxn>
                <a:cxn ang="0">
                  <a:pos x="connsiteX1" y="connsiteY1"/>
                </a:cxn>
                <a:cxn ang="0">
                  <a:pos x="connsiteX2" y="connsiteY2"/>
                </a:cxn>
                <a:cxn ang="0">
                  <a:pos x="connsiteX3" y="connsiteY3"/>
                </a:cxn>
              </a:cxnLst>
              <a:rect l="l" t="t" r="r" b="b"/>
              <a:pathLst>
                <a:path w="140550" h="52432">
                  <a:moveTo>
                    <a:pt x="140550" y="0"/>
                  </a:moveTo>
                  <a:lnTo>
                    <a:pt x="0" y="52432"/>
                  </a:lnTo>
                  <a:lnTo>
                    <a:pt x="34463" y="37358"/>
                  </a:lnTo>
                  <a:lnTo>
                    <a:pt x="1405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9" name="Freeform: Shape 28">
              <a:extLst>
                <a:ext uri="{FF2B5EF4-FFF2-40B4-BE49-F238E27FC236}">
                  <a16:creationId xmlns:a16="http://schemas.microsoft.com/office/drawing/2014/main" id="{07E42C29-CDA8-69A7-6B34-E0C3C31AB2B7}"/>
                </a:ext>
              </a:extLst>
            </p:cNvPr>
            <p:cNvSpPr/>
            <p:nvPr/>
          </p:nvSpPr>
          <p:spPr>
            <a:xfrm>
              <a:off x="4923343" y="1057647"/>
              <a:ext cx="104524" cy="45720"/>
            </a:xfrm>
            <a:custGeom>
              <a:avLst/>
              <a:gdLst>
                <a:gd name="connsiteX0" fmla="*/ 54543 w 54543"/>
                <a:gd name="connsiteY0" fmla="*/ 0 h 23858"/>
                <a:gd name="connsiteX1" fmla="*/ 0 w 54543"/>
                <a:gd name="connsiteY1" fmla="*/ 23858 h 23858"/>
                <a:gd name="connsiteX2" fmla="*/ 38323 w 54543"/>
                <a:gd name="connsiteY2" fmla="*/ 6051 h 23858"/>
                <a:gd name="connsiteX3" fmla="*/ 54543 w 54543"/>
                <a:gd name="connsiteY3" fmla="*/ 0 h 23858"/>
              </a:gdLst>
              <a:ahLst/>
              <a:cxnLst>
                <a:cxn ang="0">
                  <a:pos x="connsiteX0" y="connsiteY0"/>
                </a:cxn>
                <a:cxn ang="0">
                  <a:pos x="connsiteX1" y="connsiteY1"/>
                </a:cxn>
                <a:cxn ang="0">
                  <a:pos x="connsiteX2" y="connsiteY2"/>
                </a:cxn>
                <a:cxn ang="0">
                  <a:pos x="connsiteX3" y="connsiteY3"/>
                </a:cxn>
              </a:cxnLst>
              <a:rect l="l" t="t" r="r" b="b"/>
              <a:pathLst>
                <a:path w="54543" h="23858">
                  <a:moveTo>
                    <a:pt x="54543" y="0"/>
                  </a:moveTo>
                  <a:lnTo>
                    <a:pt x="0" y="23858"/>
                  </a:lnTo>
                  <a:lnTo>
                    <a:pt x="38323" y="6051"/>
                  </a:lnTo>
                  <a:lnTo>
                    <a:pt x="5454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0" name="Freeform: Shape 29">
              <a:extLst>
                <a:ext uri="{FF2B5EF4-FFF2-40B4-BE49-F238E27FC236}">
                  <a16:creationId xmlns:a16="http://schemas.microsoft.com/office/drawing/2014/main" id="{28FB501D-08DB-223A-3E26-C7583B049FFB}"/>
                </a:ext>
              </a:extLst>
            </p:cNvPr>
            <p:cNvSpPr/>
            <p:nvPr/>
          </p:nvSpPr>
          <p:spPr>
            <a:xfrm>
              <a:off x="4820012" y="1092436"/>
              <a:ext cx="128320" cy="59622"/>
            </a:xfrm>
            <a:custGeom>
              <a:avLst/>
              <a:gdLst>
                <a:gd name="connsiteX0" fmla="*/ 128320 w 128320"/>
                <a:gd name="connsiteY0" fmla="*/ 0 h 59622"/>
                <a:gd name="connsiteX1" fmla="*/ 0 w 128320"/>
                <a:gd name="connsiteY1" fmla="*/ 59622 h 59622"/>
                <a:gd name="connsiteX2" fmla="*/ 38762 w 128320"/>
                <a:gd name="connsiteY2" fmla="*/ 39172 h 59622"/>
                <a:gd name="connsiteX3" fmla="*/ 128320 w 128320"/>
                <a:gd name="connsiteY3" fmla="*/ 0 h 59622"/>
              </a:gdLst>
              <a:ahLst/>
              <a:cxnLst>
                <a:cxn ang="0">
                  <a:pos x="connsiteX0" y="connsiteY0"/>
                </a:cxn>
                <a:cxn ang="0">
                  <a:pos x="connsiteX1" y="connsiteY1"/>
                </a:cxn>
                <a:cxn ang="0">
                  <a:pos x="connsiteX2" y="connsiteY2"/>
                </a:cxn>
                <a:cxn ang="0">
                  <a:pos x="connsiteX3" y="connsiteY3"/>
                </a:cxn>
              </a:cxnLst>
              <a:rect l="l" t="t" r="r" b="b"/>
              <a:pathLst>
                <a:path w="128320" h="59622">
                  <a:moveTo>
                    <a:pt x="128320" y="0"/>
                  </a:moveTo>
                  <a:lnTo>
                    <a:pt x="0" y="59622"/>
                  </a:lnTo>
                  <a:lnTo>
                    <a:pt x="38762" y="39172"/>
                  </a:lnTo>
                  <a:lnTo>
                    <a:pt x="12832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1" name="Freeform: Shape 30">
              <a:extLst>
                <a:ext uri="{FF2B5EF4-FFF2-40B4-BE49-F238E27FC236}">
                  <a16:creationId xmlns:a16="http://schemas.microsoft.com/office/drawing/2014/main" id="{6659D50B-A4E5-92CF-F73A-9DDE97542D68}"/>
                </a:ext>
              </a:extLst>
            </p:cNvPr>
            <p:cNvSpPr/>
            <p:nvPr/>
          </p:nvSpPr>
          <p:spPr>
            <a:xfrm>
              <a:off x="4746759" y="1144985"/>
              <a:ext cx="86664" cy="45720"/>
            </a:xfrm>
            <a:custGeom>
              <a:avLst/>
              <a:gdLst>
                <a:gd name="connsiteX0" fmla="*/ 59845 w 59845"/>
                <a:gd name="connsiteY0" fmla="*/ 0 h 31571"/>
                <a:gd name="connsiteX1" fmla="*/ 0 w 59845"/>
                <a:gd name="connsiteY1" fmla="*/ 31571 h 31571"/>
                <a:gd name="connsiteX2" fmla="*/ 38442 w 59845"/>
                <a:gd name="connsiteY2" fmla="*/ 9944 h 31571"/>
                <a:gd name="connsiteX3" fmla="*/ 59845 w 59845"/>
                <a:gd name="connsiteY3" fmla="*/ 0 h 31571"/>
              </a:gdLst>
              <a:ahLst/>
              <a:cxnLst>
                <a:cxn ang="0">
                  <a:pos x="connsiteX0" y="connsiteY0"/>
                </a:cxn>
                <a:cxn ang="0">
                  <a:pos x="connsiteX1" y="connsiteY1"/>
                </a:cxn>
                <a:cxn ang="0">
                  <a:pos x="connsiteX2" y="connsiteY2"/>
                </a:cxn>
                <a:cxn ang="0">
                  <a:pos x="connsiteX3" y="connsiteY3"/>
                </a:cxn>
              </a:cxnLst>
              <a:rect l="l" t="t" r="r" b="b"/>
              <a:pathLst>
                <a:path w="59845" h="31571">
                  <a:moveTo>
                    <a:pt x="59845" y="0"/>
                  </a:moveTo>
                  <a:lnTo>
                    <a:pt x="0" y="31571"/>
                  </a:lnTo>
                  <a:lnTo>
                    <a:pt x="38442" y="9944"/>
                  </a:lnTo>
                  <a:lnTo>
                    <a:pt x="5984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2" name="Freeform: Shape 31">
              <a:extLst>
                <a:ext uri="{FF2B5EF4-FFF2-40B4-BE49-F238E27FC236}">
                  <a16:creationId xmlns:a16="http://schemas.microsoft.com/office/drawing/2014/main" id="{7B9C147F-896A-214C-0CBB-F4868005CAF2}"/>
                </a:ext>
              </a:extLst>
            </p:cNvPr>
            <p:cNvSpPr/>
            <p:nvPr/>
          </p:nvSpPr>
          <p:spPr>
            <a:xfrm>
              <a:off x="4645839" y="1183629"/>
              <a:ext cx="114330" cy="64322"/>
            </a:xfrm>
            <a:custGeom>
              <a:avLst/>
              <a:gdLst>
                <a:gd name="connsiteX0" fmla="*/ 114329 w 114329"/>
                <a:gd name="connsiteY0" fmla="*/ 0 h 64322"/>
                <a:gd name="connsiteX1" fmla="*/ 0 w 114329"/>
                <a:gd name="connsiteY1" fmla="*/ 64322 h 64322"/>
                <a:gd name="connsiteX2" fmla="*/ 41451 w 114329"/>
                <a:gd name="connsiteY2" fmla="*/ 38448 h 64322"/>
                <a:gd name="connsiteX3" fmla="*/ 114329 w 114329"/>
                <a:gd name="connsiteY3" fmla="*/ 0 h 64322"/>
              </a:gdLst>
              <a:ahLst/>
              <a:cxnLst>
                <a:cxn ang="0">
                  <a:pos x="connsiteX0" y="connsiteY0"/>
                </a:cxn>
                <a:cxn ang="0">
                  <a:pos x="connsiteX1" y="connsiteY1"/>
                </a:cxn>
                <a:cxn ang="0">
                  <a:pos x="connsiteX2" y="connsiteY2"/>
                </a:cxn>
                <a:cxn ang="0">
                  <a:pos x="connsiteX3" y="connsiteY3"/>
                </a:cxn>
              </a:cxnLst>
              <a:rect l="l" t="t" r="r" b="b"/>
              <a:pathLst>
                <a:path w="114329" h="64322">
                  <a:moveTo>
                    <a:pt x="114329" y="0"/>
                  </a:moveTo>
                  <a:lnTo>
                    <a:pt x="0" y="64322"/>
                  </a:lnTo>
                  <a:lnTo>
                    <a:pt x="41451" y="38448"/>
                  </a:lnTo>
                  <a:lnTo>
                    <a:pt x="11432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3" name="Freeform: Shape 32">
              <a:extLst>
                <a:ext uri="{FF2B5EF4-FFF2-40B4-BE49-F238E27FC236}">
                  <a16:creationId xmlns:a16="http://schemas.microsoft.com/office/drawing/2014/main" id="{0F4F099A-F70A-51C5-8503-366C82547129}"/>
                </a:ext>
              </a:extLst>
            </p:cNvPr>
            <p:cNvSpPr/>
            <p:nvPr/>
          </p:nvSpPr>
          <p:spPr>
            <a:xfrm>
              <a:off x="4576661" y="1245411"/>
              <a:ext cx="73246" cy="45720"/>
            </a:xfrm>
            <a:custGeom>
              <a:avLst/>
              <a:gdLst>
                <a:gd name="connsiteX0" fmla="*/ 65108 w 65108"/>
                <a:gd name="connsiteY0" fmla="*/ 0 h 40640"/>
                <a:gd name="connsiteX1" fmla="*/ 0 w 65108"/>
                <a:gd name="connsiteY1" fmla="*/ 40640 h 40640"/>
                <a:gd name="connsiteX2" fmla="*/ 37629 w 65108"/>
                <a:gd name="connsiteY2" fmla="*/ 15459 h 40640"/>
                <a:gd name="connsiteX3" fmla="*/ 65108 w 65108"/>
                <a:gd name="connsiteY3" fmla="*/ 0 h 40640"/>
              </a:gdLst>
              <a:ahLst/>
              <a:cxnLst>
                <a:cxn ang="0">
                  <a:pos x="connsiteX0" y="connsiteY0"/>
                </a:cxn>
                <a:cxn ang="0">
                  <a:pos x="connsiteX1" y="connsiteY1"/>
                </a:cxn>
                <a:cxn ang="0">
                  <a:pos x="connsiteX2" y="connsiteY2"/>
                </a:cxn>
                <a:cxn ang="0">
                  <a:pos x="connsiteX3" y="connsiteY3"/>
                </a:cxn>
              </a:cxnLst>
              <a:rect l="l" t="t" r="r" b="b"/>
              <a:pathLst>
                <a:path w="65108" h="40640">
                  <a:moveTo>
                    <a:pt x="65108" y="0"/>
                  </a:moveTo>
                  <a:lnTo>
                    <a:pt x="0" y="40640"/>
                  </a:lnTo>
                  <a:lnTo>
                    <a:pt x="37629" y="15459"/>
                  </a:lnTo>
                  <a:lnTo>
                    <a:pt x="651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4" name="Freeform: Shape 33">
              <a:extLst>
                <a:ext uri="{FF2B5EF4-FFF2-40B4-BE49-F238E27FC236}">
                  <a16:creationId xmlns:a16="http://schemas.microsoft.com/office/drawing/2014/main" id="{2BD29C07-5E94-A2C2-E92C-8EEFD8BB1881}"/>
                </a:ext>
              </a:extLst>
            </p:cNvPr>
            <p:cNvSpPr/>
            <p:nvPr/>
          </p:nvSpPr>
          <p:spPr>
            <a:xfrm>
              <a:off x="4480604" y="1288591"/>
              <a:ext cx="100128" cy="67002"/>
            </a:xfrm>
            <a:custGeom>
              <a:avLst/>
              <a:gdLst>
                <a:gd name="connsiteX0" fmla="*/ 100127 w 100127"/>
                <a:gd name="connsiteY0" fmla="*/ 0 h 67002"/>
                <a:gd name="connsiteX1" fmla="*/ 0 w 100127"/>
                <a:gd name="connsiteY1" fmla="*/ 67002 h 67002"/>
                <a:gd name="connsiteX2" fmla="*/ 42847 w 100127"/>
                <a:gd name="connsiteY2" fmla="*/ 35753 h 67002"/>
                <a:gd name="connsiteX3" fmla="*/ 100127 w 100127"/>
                <a:gd name="connsiteY3" fmla="*/ 0 h 67002"/>
              </a:gdLst>
              <a:ahLst/>
              <a:cxnLst>
                <a:cxn ang="0">
                  <a:pos x="connsiteX0" y="connsiteY0"/>
                </a:cxn>
                <a:cxn ang="0">
                  <a:pos x="connsiteX1" y="connsiteY1"/>
                </a:cxn>
                <a:cxn ang="0">
                  <a:pos x="connsiteX2" y="connsiteY2"/>
                </a:cxn>
                <a:cxn ang="0">
                  <a:pos x="connsiteX3" y="connsiteY3"/>
                </a:cxn>
              </a:cxnLst>
              <a:rect l="l" t="t" r="r" b="b"/>
              <a:pathLst>
                <a:path w="100127" h="67002">
                  <a:moveTo>
                    <a:pt x="100127" y="0"/>
                  </a:moveTo>
                  <a:lnTo>
                    <a:pt x="0" y="67002"/>
                  </a:lnTo>
                  <a:lnTo>
                    <a:pt x="42847" y="35753"/>
                  </a:lnTo>
                  <a:lnTo>
                    <a:pt x="1001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5" name="Freeform: Shape 34">
              <a:extLst>
                <a:ext uri="{FF2B5EF4-FFF2-40B4-BE49-F238E27FC236}">
                  <a16:creationId xmlns:a16="http://schemas.microsoft.com/office/drawing/2014/main" id="{33CF5339-64EC-8634-5BE8-98FC2F7AC588}"/>
                </a:ext>
              </a:extLst>
            </p:cNvPr>
            <p:cNvSpPr/>
            <p:nvPr/>
          </p:nvSpPr>
          <p:spPr>
            <a:xfrm>
              <a:off x="4411497" y="1355594"/>
              <a:ext cx="69108" cy="50400"/>
            </a:xfrm>
            <a:custGeom>
              <a:avLst/>
              <a:gdLst>
                <a:gd name="connsiteX0" fmla="*/ 69107 w 69107"/>
                <a:gd name="connsiteY0" fmla="*/ 0 h 50399"/>
                <a:gd name="connsiteX1" fmla="*/ 0 w 69107"/>
                <a:gd name="connsiteY1" fmla="*/ 50399 h 50399"/>
                <a:gd name="connsiteX2" fmla="*/ 35197 w 69107"/>
                <a:gd name="connsiteY2" fmla="*/ 22691 h 50399"/>
                <a:gd name="connsiteX3" fmla="*/ 69107 w 69107"/>
                <a:gd name="connsiteY3" fmla="*/ 0 h 50399"/>
              </a:gdLst>
              <a:ahLst/>
              <a:cxnLst>
                <a:cxn ang="0">
                  <a:pos x="connsiteX0" y="connsiteY0"/>
                </a:cxn>
                <a:cxn ang="0">
                  <a:pos x="connsiteX1" y="connsiteY1"/>
                </a:cxn>
                <a:cxn ang="0">
                  <a:pos x="connsiteX2" y="connsiteY2"/>
                </a:cxn>
                <a:cxn ang="0">
                  <a:pos x="connsiteX3" y="connsiteY3"/>
                </a:cxn>
              </a:cxnLst>
              <a:rect l="l" t="t" r="r" b="b"/>
              <a:pathLst>
                <a:path w="69107" h="50399">
                  <a:moveTo>
                    <a:pt x="69107" y="0"/>
                  </a:moveTo>
                  <a:lnTo>
                    <a:pt x="0" y="50399"/>
                  </a:lnTo>
                  <a:lnTo>
                    <a:pt x="35197" y="22691"/>
                  </a:lnTo>
                  <a:lnTo>
                    <a:pt x="6910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6" name="Freeform: Shape 35">
              <a:extLst>
                <a:ext uri="{FF2B5EF4-FFF2-40B4-BE49-F238E27FC236}">
                  <a16:creationId xmlns:a16="http://schemas.microsoft.com/office/drawing/2014/main" id="{CF9701E1-C481-7F0F-676D-1EDFF041EB50}"/>
                </a:ext>
              </a:extLst>
            </p:cNvPr>
            <p:cNvSpPr/>
            <p:nvPr/>
          </p:nvSpPr>
          <p:spPr>
            <a:xfrm>
              <a:off x="4324424" y="1405992"/>
              <a:ext cx="87072" cy="68546"/>
            </a:xfrm>
            <a:custGeom>
              <a:avLst/>
              <a:gdLst>
                <a:gd name="connsiteX0" fmla="*/ 87072 w 87072"/>
                <a:gd name="connsiteY0" fmla="*/ 0 h 68546"/>
                <a:gd name="connsiteX1" fmla="*/ 0 w 87072"/>
                <a:gd name="connsiteY1" fmla="*/ 68546 h 68546"/>
                <a:gd name="connsiteX2" fmla="*/ 43399 w 87072"/>
                <a:gd name="connsiteY2" fmla="*/ 31851 h 68546"/>
                <a:gd name="connsiteX3" fmla="*/ 87072 w 87072"/>
                <a:gd name="connsiteY3" fmla="*/ 0 h 68546"/>
              </a:gdLst>
              <a:ahLst/>
              <a:cxnLst>
                <a:cxn ang="0">
                  <a:pos x="connsiteX0" y="connsiteY0"/>
                </a:cxn>
                <a:cxn ang="0">
                  <a:pos x="connsiteX1" y="connsiteY1"/>
                </a:cxn>
                <a:cxn ang="0">
                  <a:pos x="connsiteX2" y="connsiteY2"/>
                </a:cxn>
                <a:cxn ang="0">
                  <a:pos x="connsiteX3" y="connsiteY3"/>
                </a:cxn>
              </a:cxnLst>
              <a:rect l="l" t="t" r="r" b="b"/>
              <a:pathLst>
                <a:path w="87072" h="68546">
                  <a:moveTo>
                    <a:pt x="87072" y="0"/>
                  </a:moveTo>
                  <a:lnTo>
                    <a:pt x="0" y="68546"/>
                  </a:lnTo>
                  <a:lnTo>
                    <a:pt x="43399" y="31851"/>
                  </a:lnTo>
                  <a:lnTo>
                    <a:pt x="8707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7" name="Freeform: Shape 36">
              <a:extLst>
                <a:ext uri="{FF2B5EF4-FFF2-40B4-BE49-F238E27FC236}">
                  <a16:creationId xmlns:a16="http://schemas.microsoft.com/office/drawing/2014/main" id="{E854A264-B2FF-7451-9C74-1E7FFBA8FF11}"/>
                </a:ext>
              </a:extLst>
            </p:cNvPr>
            <p:cNvSpPr/>
            <p:nvPr/>
          </p:nvSpPr>
          <p:spPr>
            <a:xfrm>
              <a:off x="4253378" y="1474538"/>
              <a:ext cx="71046" cy="60072"/>
            </a:xfrm>
            <a:custGeom>
              <a:avLst/>
              <a:gdLst>
                <a:gd name="connsiteX0" fmla="*/ 71046 w 71046"/>
                <a:gd name="connsiteY0" fmla="*/ 0 h 60072"/>
                <a:gd name="connsiteX1" fmla="*/ 0 w 71046"/>
                <a:gd name="connsiteY1" fmla="*/ 60072 h 60072"/>
                <a:gd name="connsiteX2" fmla="*/ 31016 w 71046"/>
                <a:gd name="connsiteY2" fmla="*/ 31513 h 60072"/>
                <a:gd name="connsiteX3" fmla="*/ 71046 w 71046"/>
                <a:gd name="connsiteY3" fmla="*/ 0 h 60072"/>
              </a:gdLst>
              <a:ahLst/>
              <a:cxnLst>
                <a:cxn ang="0">
                  <a:pos x="connsiteX0" y="connsiteY0"/>
                </a:cxn>
                <a:cxn ang="0">
                  <a:pos x="connsiteX1" y="connsiteY1"/>
                </a:cxn>
                <a:cxn ang="0">
                  <a:pos x="connsiteX2" y="connsiteY2"/>
                </a:cxn>
                <a:cxn ang="0">
                  <a:pos x="connsiteX3" y="connsiteY3"/>
                </a:cxn>
              </a:cxnLst>
              <a:rect l="l" t="t" r="r" b="b"/>
              <a:pathLst>
                <a:path w="71046" h="60072">
                  <a:moveTo>
                    <a:pt x="71046" y="0"/>
                  </a:moveTo>
                  <a:lnTo>
                    <a:pt x="0" y="60072"/>
                  </a:lnTo>
                  <a:lnTo>
                    <a:pt x="31016" y="31513"/>
                  </a:lnTo>
                  <a:lnTo>
                    <a:pt x="7104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8" name="Freeform: Shape 37">
              <a:extLst>
                <a:ext uri="{FF2B5EF4-FFF2-40B4-BE49-F238E27FC236}">
                  <a16:creationId xmlns:a16="http://schemas.microsoft.com/office/drawing/2014/main" id="{8B3CC0A3-1F3E-0EA9-321C-C23A59277DD6}"/>
                </a:ext>
              </a:extLst>
            </p:cNvPr>
            <p:cNvSpPr/>
            <p:nvPr/>
          </p:nvSpPr>
          <p:spPr>
            <a:xfrm>
              <a:off x="4177176" y="1534611"/>
              <a:ext cx="76204" cy="70166"/>
            </a:xfrm>
            <a:custGeom>
              <a:avLst/>
              <a:gdLst>
                <a:gd name="connsiteX0" fmla="*/ 76203 w 76203"/>
                <a:gd name="connsiteY0" fmla="*/ 0 h 70165"/>
                <a:gd name="connsiteX1" fmla="*/ 0 w 76203"/>
                <a:gd name="connsiteY1" fmla="*/ 70165 h 70165"/>
                <a:gd name="connsiteX2" fmla="*/ 43799 w 76203"/>
                <a:gd name="connsiteY2" fmla="*/ 27398 h 70165"/>
                <a:gd name="connsiteX3" fmla="*/ 76203 w 76203"/>
                <a:gd name="connsiteY3" fmla="*/ 0 h 70165"/>
              </a:gdLst>
              <a:ahLst/>
              <a:cxnLst>
                <a:cxn ang="0">
                  <a:pos x="connsiteX0" y="connsiteY0"/>
                </a:cxn>
                <a:cxn ang="0">
                  <a:pos x="connsiteX1" y="connsiteY1"/>
                </a:cxn>
                <a:cxn ang="0">
                  <a:pos x="connsiteX2" y="connsiteY2"/>
                </a:cxn>
                <a:cxn ang="0">
                  <a:pos x="connsiteX3" y="connsiteY3"/>
                </a:cxn>
              </a:cxnLst>
              <a:rect l="l" t="t" r="r" b="b"/>
              <a:pathLst>
                <a:path w="76203" h="70165">
                  <a:moveTo>
                    <a:pt x="76203" y="0"/>
                  </a:moveTo>
                  <a:lnTo>
                    <a:pt x="0" y="70165"/>
                  </a:lnTo>
                  <a:lnTo>
                    <a:pt x="43799" y="27398"/>
                  </a:lnTo>
                  <a:lnTo>
                    <a:pt x="7620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9" name="Freeform: Shape 38">
              <a:extLst>
                <a:ext uri="{FF2B5EF4-FFF2-40B4-BE49-F238E27FC236}">
                  <a16:creationId xmlns:a16="http://schemas.microsoft.com/office/drawing/2014/main" id="{CB769F57-DA58-2FB5-F40A-177666F8353D}"/>
                </a:ext>
              </a:extLst>
            </p:cNvPr>
            <p:cNvSpPr/>
            <p:nvPr/>
          </p:nvSpPr>
          <p:spPr>
            <a:xfrm>
              <a:off x="4106963" y="1604776"/>
              <a:ext cx="70212" cy="68558"/>
            </a:xfrm>
            <a:custGeom>
              <a:avLst/>
              <a:gdLst>
                <a:gd name="connsiteX0" fmla="*/ 70212 w 70212"/>
                <a:gd name="connsiteY0" fmla="*/ 0 h 68557"/>
                <a:gd name="connsiteX1" fmla="*/ 0 w 70212"/>
                <a:gd name="connsiteY1" fmla="*/ 68557 h 68557"/>
                <a:gd name="connsiteX2" fmla="*/ 25286 w 70212"/>
                <a:gd name="connsiteY2" fmla="*/ 41366 h 68557"/>
                <a:gd name="connsiteX3" fmla="*/ 70212 w 70212"/>
                <a:gd name="connsiteY3" fmla="*/ 0 h 68557"/>
              </a:gdLst>
              <a:ahLst/>
              <a:cxnLst>
                <a:cxn ang="0">
                  <a:pos x="connsiteX0" y="connsiteY0"/>
                </a:cxn>
                <a:cxn ang="0">
                  <a:pos x="connsiteX1" y="connsiteY1"/>
                </a:cxn>
                <a:cxn ang="0">
                  <a:pos x="connsiteX2" y="connsiteY2"/>
                </a:cxn>
                <a:cxn ang="0">
                  <a:pos x="connsiteX3" y="connsiteY3"/>
                </a:cxn>
              </a:cxnLst>
              <a:rect l="l" t="t" r="r" b="b"/>
              <a:pathLst>
                <a:path w="70212" h="68557">
                  <a:moveTo>
                    <a:pt x="70212" y="0"/>
                  </a:moveTo>
                  <a:lnTo>
                    <a:pt x="0" y="68557"/>
                  </a:lnTo>
                  <a:lnTo>
                    <a:pt x="25286" y="41366"/>
                  </a:lnTo>
                  <a:lnTo>
                    <a:pt x="7021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0" name="Freeform: Shape 39">
              <a:extLst>
                <a:ext uri="{FF2B5EF4-FFF2-40B4-BE49-F238E27FC236}">
                  <a16:creationId xmlns:a16="http://schemas.microsoft.com/office/drawing/2014/main" id="{BD167D06-F202-8915-0FE6-6243E3AB0202}"/>
                </a:ext>
              </a:extLst>
            </p:cNvPr>
            <p:cNvSpPr/>
            <p:nvPr/>
          </p:nvSpPr>
          <p:spPr>
            <a:xfrm>
              <a:off x="4038489" y="1673332"/>
              <a:ext cx="68474" cy="73632"/>
            </a:xfrm>
            <a:custGeom>
              <a:avLst/>
              <a:gdLst>
                <a:gd name="connsiteX0" fmla="*/ 68474 w 68474"/>
                <a:gd name="connsiteY0" fmla="*/ 0 h 73632"/>
                <a:gd name="connsiteX1" fmla="*/ 0 w 68474"/>
                <a:gd name="connsiteY1" fmla="*/ 73632 h 73632"/>
                <a:gd name="connsiteX2" fmla="*/ 44980 w 68474"/>
                <a:gd name="connsiteY2" fmla="*/ 22940 h 73632"/>
                <a:gd name="connsiteX3" fmla="*/ 68474 w 68474"/>
                <a:gd name="connsiteY3" fmla="*/ 0 h 73632"/>
              </a:gdLst>
              <a:ahLst/>
              <a:cxnLst>
                <a:cxn ang="0">
                  <a:pos x="connsiteX0" y="connsiteY0"/>
                </a:cxn>
                <a:cxn ang="0">
                  <a:pos x="connsiteX1" y="connsiteY1"/>
                </a:cxn>
                <a:cxn ang="0">
                  <a:pos x="connsiteX2" y="connsiteY2"/>
                </a:cxn>
                <a:cxn ang="0">
                  <a:pos x="connsiteX3" y="connsiteY3"/>
                </a:cxn>
              </a:cxnLst>
              <a:rect l="l" t="t" r="r" b="b"/>
              <a:pathLst>
                <a:path w="68474" h="73632">
                  <a:moveTo>
                    <a:pt x="68474" y="0"/>
                  </a:moveTo>
                  <a:lnTo>
                    <a:pt x="0" y="73632"/>
                  </a:lnTo>
                  <a:lnTo>
                    <a:pt x="44980" y="22940"/>
                  </a:lnTo>
                  <a:lnTo>
                    <a:pt x="6847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1" name="Freeform: Shape 40">
              <a:extLst>
                <a:ext uri="{FF2B5EF4-FFF2-40B4-BE49-F238E27FC236}">
                  <a16:creationId xmlns:a16="http://schemas.microsoft.com/office/drawing/2014/main" id="{031E691F-DA88-E4D1-884B-5F520885CB6C}"/>
                </a:ext>
              </a:extLst>
            </p:cNvPr>
            <p:cNvSpPr/>
            <p:nvPr/>
          </p:nvSpPr>
          <p:spPr>
            <a:xfrm>
              <a:off x="3972485" y="1746965"/>
              <a:ext cx="66006" cy="74388"/>
            </a:xfrm>
            <a:custGeom>
              <a:avLst/>
              <a:gdLst>
                <a:gd name="connsiteX0" fmla="*/ 66005 w 66005"/>
                <a:gd name="connsiteY0" fmla="*/ 0 h 74387"/>
                <a:gd name="connsiteX1" fmla="*/ 0 w 66005"/>
                <a:gd name="connsiteY1" fmla="*/ 74387 h 74387"/>
                <a:gd name="connsiteX2" fmla="*/ 18559 w 66005"/>
                <a:gd name="connsiteY2" fmla="*/ 51020 h 74387"/>
                <a:gd name="connsiteX3" fmla="*/ 66005 w 66005"/>
                <a:gd name="connsiteY3" fmla="*/ 0 h 74387"/>
              </a:gdLst>
              <a:ahLst/>
              <a:cxnLst>
                <a:cxn ang="0">
                  <a:pos x="connsiteX0" y="connsiteY0"/>
                </a:cxn>
                <a:cxn ang="0">
                  <a:pos x="connsiteX1" y="connsiteY1"/>
                </a:cxn>
                <a:cxn ang="0">
                  <a:pos x="connsiteX2" y="connsiteY2"/>
                </a:cxn>
                <a:cxn ang="0">
                  <a:pos x="connsiteX3" y="connsiteY3"/>
                </a:cxn>
              </a:cxnLst>
              <a:rect l="l" t="t" r="r" b="b"/>
              <a:pathLst>
                <a:path w="66005" h="74387">
                  <a:moveTo>
                    <a:pt x="66005" y="0"/>
                  </a:moveTo>
                  <a:lnTo>
                    <a:pt x="0" y="74387"/>
                  </a:lnTo>
                  <a:lnTo>
                    <a:pt x="18559" y="51020"/>
                  </a:lnTo>
                  <a:lnTo>
                    <a:pt x="66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2" name="Freeform: Shape 41">
              <a:extLst>
                <a:ext uri="{FF2B5EF4-FFF2-40B4-BE49-F238E27FC236}">
                  <a16:creationId xmlns:a16="http://schemas.microsoft.com/office/drawing/2014/main" id="{B096D06A-224D-FEC6-CBD1-25FBB63954A6}"/>
                </a:ext>
              </a:extLst>
            </p:cNvPr>
            <p:cNvSpPr/>
            <p:nvPr/>
          </p:nvSpPr>
          <p:spPr>
            <a:xfrm>
              <a:off x="3907480" y="1821352"/>
              <a:ext cx="65006" cy="81846"/>
            </a:xfrm>
            <a:custGeom>
              <a:avLst/>
              <a:gdLst>
                <a:gd name="connsiteX0" fmla="*/ 65005 w 65005"/>
                <a:gd name="connsiteY0" fmla="*/ 0 h 81845"/>
                <a:gd name="connsiteX1" fmla="*/ 0 w 65005"/>
                <a:gd name="connsiteY1" fmla="*/ 81845 h 81845"/>
                <a:gd name="connsiteX2" fmla="*/ 48395 w 65005"/>
                <a:gd name="connsiteY2" fmla="*/ 18719 h 81845"/>
                <a:gd name="connsiteX3" fmla="*/ 65005 w 65005"/>
                <a:gd name="connsiteY3" fmla="*/ 0 h 81845"/>
              </a:gdLst>
              <a:ahLst/>
              <a:cxnLst>
                <a:cxn ang="0">
                  <a:pos x="connsiteX0" y="connsiteY0"/>
                </a:cxn>
                <a:cxn ang="0">
                  <a:pos x="connsiteX1" y="connsiteY1"/>
                </a:cxn>
                <a:cxn ang="0">
                  <a:pos x="connsiteX2" y="connsiteY2"/>
                </a:cxn>
                <a:cxn ang="0">
                  <a:pos x="connsiteX3" y="connsiteY3"/>
                </a:cxn>
              </a:cxnLst>
              <a:rect l="l" t="t" r="r" b="b"/>
              <a:pathLst>
                <a:path w="65005" h="81845">
                  <a:moveTo>
                    <a:pt x="65005" y="0"/>
                  </a:moveTo>
                  <a:lnTo>
                    <a:pt x="0" y="81845"/>
                  </a:lnTo>
                  <a:lnTo>
                    <a:pt x="48395" y="18719"/>
                  </a:lnTo>
                  <a:lnTo>
                    <a:pt x="65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3" name="Freeform: Shape 42">
              <a:extLst>
                <a:ext uri="{FF2B5EF4-FFF2-40B4-BE49-F238E27FC236}">
                  <a16:creationId xmlns:a16="http://schemas.microsoft.com/office/drawing/2014/main" id="{814D0A29-A3B7-2C4C-B9A7-669FB61E98A7}"/>
                </a:ext>
              </a:extLst>
            </p:cNvPr>
            <p:cNvSpPr/>
            <p:nvPr/>
          </p:nvSpPr>
          <p:spPr>
            <a:xfrm>
              <a:off x="3850005" y="1903197"/>
              <a:ext cx="57476" cy="74970"/>
            </a:xfrm>
            <a:custGeom>
              <a:avLst/>
              <a:gdLst>
                <a:gd name="connsiteX0" fmla="*/ 57475 w 57475"/>
                <a:gd name="connsiteY0" fmla="*/ 0 h 74969"/>
                <a:gd name="connsiteX1" fmla="*/ 0 w 57475"/>
                <a:gd name="connsiteY1" fmla="*/ 74969 h 74969"/>
                <a:gd name="connsiteX2" fmla="*/ 11557 w 57475"/>
                <a:gd name="connsiteY2" fmla="*/ 57812 h 74969"/>
                <a:gd name="connsiteX3" fmla="*/ 57475 w 57475"/>
                <a:gd name="connsiteY3" fmla="*/ 0 h 74969"/>
              </a:gdLst>
              <a:ahLst/>
              <a:cxnLst>
                <a:cxn ang="0">
                  <a:pos x="connsiteX0" y="connsiteY0"/>
                </a:cxn>
                <a:cxn ang="0">
                  <a:pos x="connsiteX1" y="connsiteY1"/>
                </a:cxn>
                <a:cxn ang="0">
                  <a:pos x="connsiteX2" y="connsiteY2"/>
                </a:cxn>
                <a:cxn ang="0">
                  <a:pos x="connsiteX3" y="connsiteY3"/>
                </a:cxn>
              </a:cxnLst>
              <a:rect l="l" t="t" r="r" b="b"/>
              <a:pathLst>
                <a:path w="57475" h="74969">
                  <a:moveTo>
                    <a:pt x="57475" y="0"/>
                  </a:moveTo>
                  <a:lnTo>
                    <a:pt x="0" y="74969"/>
                  </a:lnTo>
                  <a:lnTo>
                    <a:pt x="11557" y="57812"/>
                  </a:lnTo>
                  <a:lnTo>
                    <a:pt x="5747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4" name="Freeform: Shape 43">
              <a:extLst>
                <a:ext uri="{FF2B5EF4-FFF2-40B4-BE49-F238E27FC236}">
                  <a16:creationId xmlns:a16="http://schemas.microsoft.com/office/drawing/2014/main" id="{F9FFE041-774A-1891-CCA5-342836131808}"/>
                </a:ext>
              </a:extLst>
            </p:cNvPr>
            <p:cNvSpPr/>
            <p:nvPr/>
          </p:nvSpPr>
          <p:spPr>
            <a:xfrm>
              <a:off x="3780778" y="1978166"/>
              <a:ext cx="69228" cy="102762"/>
            </a:xfrm>
            <a:custGeom>
              <a:avLst/>
              <a:gdLst>
                <a:gd name="connsiteX0" fmla="*/ 69227 w 69227"/>
                <a:gd name="connsiteY0" fmla="*/ 0 h 102761"/>
                <a:gd name="connsiteX1" fmla="*/ 0 w 69227"/>
                <a:gd name="connsiteY1" fmla="*/ 102761 h 102761"/>
                <a:gd name="connsiteX2" fmla="*/ 57980 w 69227"/>
                <a:gd name="connsiteY2" fmla="*/ 14669 h 102761"/>
                <a:gd name="connsiteX3" fmla="*/ 69227 w 69227"/>
                <a:gd name="connsiteY3" fmla="*/ 0 h 102761"/>
              </a:gdLst>
              <a:ahLst/>
              <a:cxnLst>
                <a:cxn ang="0">
                  <a:pos x="connsiteX0" y="connsiteY0"/>
                </a:cxn>
                <a:cxn ang="0">
                  <a:pos x="connsiteX1" y="connsiteY1"/>
                </a:cxn>
                <a:cxn ang="0">
                  <a:pos x="connsiteX2" y="connsiteY2"/>
                </a:cxn>
                <a:cxn ang="0">
                  <a:pos x="connsiteX3" y="connsiteY3"/>
                </a:cxn>
              </a:cxnLst>
              <a:rect l="l" t="t" r="r" b="b"/>
              <a:pathLst>
                <a:path w="69227" h="102761">
                  <a:moveTo>
                    <a:pt x="69227" y="0"/>
                  </a:moveTo>
                  <a:lnTo>
                    <a:pt x="0" y="102761"/>
                  </a:lnTo>
                  <a:lnTo>
                    <a:pt x="57980" y="14669"/>
                  </a:lnTo>
                  <a:lnTo>
                    <a:pt x="692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5" name="Freeform: Shape 44">
              <a:extLst>
                <a:ext uri="{FF2B5EF4-FFF2-40B4-BE49-F238E27FC236}">
                  <a16:creationId xmlns:a16="http://schemas.microsoft.com/office/drawing/2014/main" id="{2044C9F9-7F02-8BBC-752F-A718FE09286A}"/>
                </a:ext>
              </a:extLst>
            </p:cNvPr>
            <p:cNvSpPr/>
            <p:nvPr/>
          </p:nvSpPr>
          <p:spPr>
            <a:xfrm>
              <a:off x="3737320" y="2077491"/>
              <a:ext cx="45720" cy="69464"/>
            </a:xfrm>
            <a:custGeom>
              <a:avLst/>
              <a:gdLst>
                <a:gd name="connsiteX0" fmla="*/ 41197 w 41197"/>
                <a:gd name="connsiteY0" fmla="*/ 0 h 62594"/>
                <a:gd name="connsiteX1" fmla="*/ 0 w 41197"/>
                <a:gd name="connsiteY1" fmla="*/ 62594 h 62594"/>
                <a:gd name="connsiteX2" fmla="*/ 5010 w 41197"/>
                <a:gd name="connsiteY2" fmla="*/ 53718 h 62594"/>
                <a:gd name="connsiteX3" fmla="*/ 41197 w 41197"/>
                <a:gd name="connsiteY3" fmla="*/ 0 h 62594"/>
              </a:gdLst>
              <a:ahLst/>
              <a:cxnLst>
                <a:cxn ang="0">
                  <a:pos x="connsiteX0" y="connsiteY0"/>
                </a:cxn>
                <a:cxn ang="0">
                  <a:pos x="connsiteX1" y="connsiteY1"/>
                </a:cxn>
                <a:cxn ang="0">
                  <a:pos x="connsiteX2" y="connsiteY2"/>
                </a:cxn>
                <a:cxn ang="0">
                  <a:pos x="connsiteX3" y="connsiteY3"/>
                </a:cxn>
              </a:cxnLst>
              <a:rect l="l" t="t" r="r" b="b"/>
              <a:pathLst>
                <a:path w="41197" h="62594">
                  <a:moveTo>
                    <a:pt x="41197" y="0"/>
                  </a:moveTo>
                  <a:lnTo>
                    <a:pt x="0" y="62594"/>
                  </a:lnTo>
                  <a:lnTo>
                    <a:pt x="5010" y="53718"/>
                  </a:lnTo>
                  <a:lnTo>
                    <a:pt x="4119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6" name="Freeform: Shape 45">
              <a:extLst>
                <a:ext uri="{FF2B5EF4-FFF2-40B4-BE49-F238E27FC236}">
                  <a16:creationId xmlns:a16="http://schemas.microsoft.com/office/drawing/2014/main" id="{D659851D-9CA8-AC2B-D197-6E6F9CA08BB0}"/>
                </a:ext>
              </a:extLst>
            </p:cNvPr>
            <p:cNvSpPr/>
            <p:nvPr/>
          </p:nvSpPr>
          <p:spPr>
            <a:xfrm>
              <a:off x="3552004" y="2143521"/>
              <a:ext cx="187576" cy="366472"/>
            </a:xfrm>
            <a:custGeom>
              <a:avLst/>
              <a:gdLst>
                <a:gd name="connsiteX0" fmla="*/ 187576 w 187576"/>
                <a:gd name="connsiteY0" fmla="*/ 0 h 366471"/>
                <a:gd name="connsiteX1" fmla="*/ 88911 w 187576"/>
                <a:gd name="connsiteY1" fmla="*/ 174800 h 366471"/>
                <a:gd name="connsiteX2" fmla="*/ 0 w 187576"/>
                <a:gd name="connsiteY2" fmla="*/ 366471 h 366471"/>
                <a:gd name="connsiteX3" fmla="*/ 3926 w 187576"/>
                <a:gd name="connsiteY3" fmla="*/ 355745 h 366471"/>
                <a:gd name="connsiteX4" fmla="*/ 180679 w 187576"/>
                <a:gd name="connsiteY4" fmla="*/ 10479 h 366471"/>
                <a:gd name="connsiteX5" fmla="*/ 187576 w 187576"/>
                <a:gd name="connsiteY5" fmla="*/ 0 h 36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576" h="366471">
                  <a:moveTo>
                    <a:pt x="187576" y="0"/>
                  </a:moveTo>
                  <a:lnTo>
                    <a:pt x="88911" y="174800"/>
                  </a:lnTo>
                  <a:lnTo>
                    <a:pt x="0" y="366471"/>
                  </a:lnTo>
                  <a:lnTo>
                    <a:pt x="3926" y="355745"/>
                  </a:lnTo>
                  <a:cubicBezTo>
                    <a:pt x="54601" y="235937"/>
                    <a:pt x="113770" y="120596"/>
                    <a:pt x="180679" y="10479"/>
                  </a:cubicBezTo>
                  <a:lnTo>
                    <a:pt x="18757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7" name="Freeform: Shape 46">
              <a:extLst>
                <a:ext uri="{FF2B5EF4-FFF2-40B4-BE49-F238E27FC236}">
                  <a16:creationId xmlns:a16="http://schemas.microsoft.com/office/drawing/2014/main" id="{919FA463-B931-9558-600F-5C183B2B2C2A}"/>
                </a:ext>
              </a:extLst>
            </p:cNvPr>
            <p:cNvSpPr/>
            <p:nvPr/>
          </p:nvSpPr>
          <p:spPr>
            <a:xfrm>
              <a:off x="3476594" y="2509991"/>
              <a:ext cx="75412" cy="203788"/>
            </a:xfrm>
            <a:custGeom>
              <a:avLst/>
              <a:gdLst>
                <a:gd name="connsiteX0" fmla="*/ 75411 w 75411"/>
                <a:gd name="connsiteY0" fmla="*/ 0 h 203788"/>
                <a:gd name="connsiteX1" fmla="*/ 824 w 75411"/>
                <a:gd name="connsiteY1" fmla="*/ 203788 h 203788"/>
                <a:gd name="connsiteX2" fmla="*/ 0 w 75411"/>
                <a:gd name="connsiteY2" fmla="*/ 203520 h 203788"/>
                <a:gd name="connsiteX3" fmla="*/ 74727 w 75411"/>
                <a:gd name="connsiteY3" fmla="*/ 1475 h 203788"/>
                <a:gd name="connsiteX4" fmla="*/ 75411 w 75411"/>
                <a:gd name="connsiteY4" fmla="*/ 0 h 203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11" h="203788">
                  <a:moveTo>
                    <a:pt x="75411" y="0"/>
                  </a:moveTo>
                  <a:lnTo>
                    <a:pt x="824" y="203788"/>
                  </a:lnTo>
                  <a:lnTo>
                    <a:pt x="0" y="203520"/>
                  </a:lnTo>
                  <a:cubicBezTo>
                    <a:pt x="22344" y="134752"/>
                    <a:pt x="47297" y="67372"/>
                    <a:pt x="74727" y="1475"/>
                  </a:cubicBezTo>
                  <a:lnTo>
                    <a:pt x="754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8" name="Freeform: Shape 47">
              <a:extLst>
                <a:ext uri="{FF2B5EF4-FFF2-40B4-BE49-F238E27FC236}">
                  <a16:creationId xmlns:a16="http://schemas.microsoft.com/office/drawing/2014/main" id="{3B6E32CC-534D-A9CA-7F09-3635863B8491}"/>
                </a:ext>
              </a:extLst>
            </p:cNvPr>
            <p:cNvSpPr/>
            <p:nvPr/>
          </p:nvSpPr>
          <p:spPr>
            <a:xfrm>
              <a:off x="3452617" y="2654904"/>
              <a:ext cx="45720" cy="128082"/>
            </a:xfrm>
            <a:custGeom>
              <a:avLst/>
              <a:gdLst>
                <a:gd name="connsiteX0" fmla="*/ 3054 w 3878"/>
                <a:gd name="connsiteY0" fmla="*/ 0 h 10863"/>
                <a:gd name="connsiteX1" fmla="*/ 3878 w 3878"/>
                <a:gd name="connsiteY1" fmla="*/ 268 h 10863"/>
                <a:gd name="connsiteX2" fmla="*/ 0 w 3878"/>
                <a:gd name="connsiteY2" fmla="*/ 10863 h 10863"/>
                <a:gd name="connsiteX3" fmla="*/ 3054 w 3878"/>
                <a:gd name="connsiteY3" fmla="*/ 0 h 10863"/>
              </a:gdLst>
              <a:ahLst/>
              <a:cxnLst>
                <a:cxn ang="0">
                  <a:pos x="connsiteX0" y="connsiteY0"/>
                </a:cxn>
                <a:cxn ang="0">
                  <a:pos x="connsiteX1" y="connsiteY1"/>
                </a:cxn>
                <a:cxn ang="0">
                  <a:pos x="connsiteX2" y="connsiteY2"/>
                </a:cxn>
                <a:cxn ang="0">
                  <a:pos x="connsiteX3" y="connsiteY3"/>
                </a:cxn>
              </a:cxnLst>
              <a:rect l="l" t="t" r="r" b="b"/>
              <a:pathLst>
                <a:path w="3878" h="10863">
                  <a:moveTo>
                    <a:pt x="3054" y="0"/>
                  </a:moveTo>
                  <a:lnTo>
                    <a:pt x="3878" y="268"/>
                  </a:lnTo>
                  <a:lnTo>
                    <a:pt x="0" y="10863"/>
                  </a:lnTo>
                  <a:lnTo>
                    <a:pt x="305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9" name="Freeform: Shape 48">
              <a:extLst>
                <a:ext uri="{FF2B5EF4-FFF2-40B4-BE49-F238E27FC236}">
                  <a16:creationId xmlns:a16="http://schemas.microsoft.com/office/drawing/2014/main" id="{00DCF6B7-318A-990E-BCBE-5641649276AE}"/>
                </a:ext>
              </a:extLst>
            </p:cNvPr>
            <p:cNvSpPr/>
            <p:nvPr/>
          </p:nvSpPr>
          <p:spPr>
            <a:xfrm>
              <a:off x="3437778" y="2688949"/>
              <a:ext cx="45720" cy="162624"/>
            </a:xfrm>
            <a:custGeom>
              <a:avLst/>
              <a:gdLst>
                <a:gd name="connsiteX0" fmla="*/ 25800 w 25800"/>
                <a:gd name="connsiteY0" fmla="*/ 0 h 91769"/>
                <a:gd name="connsiteX1" fmla="*/ 0 w 25800"/>
                <a:gd name="connsiteY1" fmla="*/ 91769 h 91769"/>
                <a:gd name="connsiteX2" fmla="*/ 18392 w 25800"/>
                <a:gd name="connsiteY2" fmla="*/ 20240 h 91769"/>
                <a:gd name="connsiteX3" fmla="*/ 25800 w 25800"/>
                <a:gd name="connsiteY3" fmla="*/ 0 h 91769"/>
              </a:gdLst>
              <a:ahLst/>
              <a:cxnLst>
                <a:cxn ang="0">
                  <a:pos x="connsiteX0" y="connsiteY0"/>
                </a:cxn>
                <a:cxn ang="0">
                  <a:pos x="connsiteX1" y="connsiteY1"/>
                </a:cxn>
                <a:cxn ang="0">
                  <a:pos x="connsiteX2" y="connsiteY2"/>
                </a:cxn>
                <a:cxn ang="0">
                  <a:pos x="connsiteX3" y="connsiteY3"/>
                </a:cxn>
              </a:cxnLst>
              <a:rect l="l" t="t" r="r" b="b"/>
              <a:pathLst>
                <a:path w="25800" h="91769">
                  <a:moveTo>
                    <a:pt x="25800" y="0"/>
                  </a:moveTo>
                  <a:lnTo>
                    <a:pt x="0" y="91769"/>
                  </a:lnTo>
                  <a:lnTo>
                    <a:pt x="18392" y="20240"/>
                  </a:lnTo>
                  <a:lnTo>
                    <a:pt x="2580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0" name="Freeform: Shape 49">
              <a:extLst>
                <a:ext uri="{FF2B5EF4-FFF2-40B4-BE49-F238E27FC236}">
                  <a16:creationId xmlns:a16="http://schemas.microsoft.com/office/drawing/2014/main" id="{1E9C0E79-7F52-0692-A61C-109C8954980B}"/>
                </a:ext>
              </a:extLst>
            </p:cNvPr>
            <p:cNvSpPr/>
            <p:nvPr/>
          </p:nvSpPr>
          <p:spPr>
            <a:xfrm>
              <a:off x="3406082" y="2800347"/>
              <a:ext cx="45720" cy="177812"/>
            </a:xfrm>
            <a:custGeom>
              <a:avLst/>
              <a:gdLst>
                <a:gd name="connsiteX0" fmla="*/ 37595 w 37595"/>
                <a:gd name="connsiteY0" fmla="*/ 0 h 146215"/>
                <a:gd name="connsiteX1" fmla="*/ 0 w 37595"/>
                <a:gd name="connsiteY1" fmla="*/ 146215 h 146215"/>
                <a:gd name="connsiteX2" fmla="*/ 8146 w 37595"/>
                <a:gd name="connsiteY2" fmla="*/ 104749 h 146215"/>
                <a:gd name="connsiteX3" fmla="*/ 37595 w 37595"/>
                <a:gd name="connsiteY3" fmla="*/ 0 h 146215"/>
              </a:gdLst>
              <a:ahLst/>
              <a:cxnLst>
                <a:cxn ang="0">
                  <a:pos x="connsiteX0" y="connsiteY0"/>
                </a:cxn>
                <a:cxn ang="0">
                  <a:pos x="connsiteX1" y="connsiteY1"/>
                </a:cxn>
                <a:cxn ang="0">
                  <a:pos x="connsiteX2" y="connsiteY2"/>
                </a:cxn>
                <a:cxn ang="0">
                  <a:pos x="connsiteX3" y="connsiteY3"/>
                </a:cxn>
              </a:cxnLst>
              <a:rect l="l" t="t" r="r" b="b"/>
              <a:pathLst>
                <a:path w="37595" h="146215">
                  <a:moveTo>
                    <a:pt x="37595" y="0"/>
                  </a:moveTo>
                  <a:lnTo>
                    <a:pt x="0" y="146215"/>
                  </a:lnTo>
                  <a:lnTo>
                    <a:pt x="8146" y="104749"/>
                  </a:lnTo>
                  <a:lnTo>
                    <a:pt x="3759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1" name="Freeform: Shape 50">
              <a:extLst>
                <a:ext uri="{FF2B5EF4-FFF2-40B4-BE49-F238E27FC236}">
                  <a16:creationId xmlns:a16="http://schemas.microsoft.com/office/drawing/2014/main" id="{9AA43E7F-D228-2537-AC61-3DF734870237}"/>
                </a:ext>
              </a:extLst>
            </p:cNvPr>
            <p:cNvSpPr/>
            <p:nvPr/>
          </p:nvSpPr>
          <p:spPr>
            <a:xfrm>
              <a:off x="3378345" y="2891511"/>
              <a:ext cx="45720" cy="232702"/>
            </a:xfrm>
            <a:custGeom>
              <a:avLst/>
              <a:gdLst>
                <a:gd name="connsiteX0" fmla="*/ 17879 w 17879"/>
                <a:gd name="connsiteY0" fmla="*/ 0 h 91003"/>
                <a:gd name="connsiteX1" fmla="*/ 0 w 17879"/>
                <a:gd name="connsiteY1" fmla="*/ 91003 h 91003"/>
                <a:gd name="connsiteX2" fmla="*/ 8062 w 17879"/>
                <a:gd name="connsiteY2" fmla="*/ 38178 h 91003"/>
                <a:gd name="connsiteX3" fmla="*/ 17879 w 17879"/>
                <a:gd name="connsiteY3" fmla="*/ 0 h 91003"/>
              </a:gdLst>
              <a:ahLst/>
              <a:cxnLst>
                <a:cxn ang="0">
                  <a:pos x="connsiteX0" y="connsiteY0"/>
                </a:cxn>
                <a:cxn ang="0">
                  <a:pos x="connsiteX1" y="connsiteY1"/>
                </a:cxn>
                <a:cxn ang="0">
                  <a:pos x="connsiteX2" y="connsiteY2"/>
                </a:cxn>
                <a:cxn ang="0">
                  <a:pos x="connsiteX3" y="connsiteY3"/>
                </a:cxn>
              </a:cxnLst>
              <a:rect l="l" t="t" r="r" b="b"/>
              <a:pathLst>
                <a:path w="17879" h="91003">
                  <a:moveTo>
                    <a:pt x="17879" y="0"/>
                  </a:moveTo>
                  <a:lnTo>
                    <a:pt x="0" y="91003"/>
                  </a:lnTo>
                  <a:lnTo>
                    <a:pt x="8062" y="38178"/>
                  </a:lnTo>
                  <a:lnTo>
                    <a:pt x="1787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2" name="Freeform: Shape 51">
              <a:extLst>
                <a:ext uri="{FF2B5EF4-FFF2-40B4-BE49-F238E27FC236}">
                  <a16:creationId xmlns:a16="http://schemas.microsoft.com/office/drawing/2014/main" id="{25826199-908D-C5C2-7468-E32C28E6E34C}"/>
                </a:ext>
              </a:extLst>
            </p:cNvPr>
            <p:cNvSpPr/>
            <p:nvPr/>
          </p:nvSpPr>
          <p:spPr>
            <a:xfrm>
              <a:off x="3356779" y="2986299"/>
              <a:ext cx="45720" cy="299572"/>
            </a:xfrm>
            <a:custGeom>
              <a:avLst/>
              <a:gdLst>
                <a:gd name="connsiteX0" fmla="*/ 25250 w 25250"/>
                <a:gd name="connsiteY0" fmla="*/ 0 h 165446"/>
                <a:gd name="connsiteX1" fmla="*/ 0 w 25250"/>
                <a:gd name="connsiteY1" fmla="*/ 165446 h 165446"/>
                <a:gd name="connsiteX2" fmla="*/ 10230 w 25250"/>
                <a:gd name="connsiteY2" fmla="*/ 76452 h 165446"/>
                <a:gd name="connsiteX3" fmla="*/ 25250 w 25250"/>
                <a:gd name="connsiteY3" fmla="*/ 0 h 165446"/>
              </a:gdLst>
              <a:ahLst/>
              <a:cxnLst>
                <a:cxn ang="0">
                  <a:pos x="connsiteX0" y="connsiteY0"/>
                </a:cxn>
                <a:cxn ang="0">
                  <a:pos x="connsiteX1" y="connsiteY1"/>
                </a:cxn>
                <a:cxn ang="0">
                  <a:pos x="connsiteX2" y="connsiteY2"/>
                </a:cxn>
                <a:cxn ang="0">
                  <a:pos x="connsiteX3" y="connsiteY3"/>
                </a:cxn>
              </a:cxnLst>
              <a:rect l="l" t="t" r="r" b="b"/>
              <a:pathLst>
                <a:path w="25250" h="165446">
                  <a:moveTo>
                    <a:pt x="25250" y="0"/>
                  </a:moveTo>
                  <a:lnTo>
                    <a:pt x="0" y="165446"/>
                  </a:lnTo>
                  <a:lnTo>
                    <a:pt x="10230" y="76452"/>
                  </a:lnTo>
                  <a:lnTo>
                    <a:pt x="252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3" name="Freeform: Shape 52">
              <a:extLst>
                <a:ext uri="{FF2B5EF4-FFF2-40B4-BE49-F238E27FC236}">
                  <a16:creationId xmlns:a16="http://schemas.microsoft.com/office/drawing/2014/main" id="{A0085145-5B1B-42C0-A7EE-5247AF9FB139}"/>
                </a:ext>
              </a:extLst>
            </p:cNvPr>
            <p:cNvSpPr/>
            <p:nvPr/>
          </p:nvSpPr>
          <p:spPr>
            <a:xfrm>
              <a:off x="3339885" y="3057082"/>
              <a:ext cx="45720" cy="397728"/>
            </a:xfrm>
            <a:custGeom>
              <a:avLst/>
              <a:gdLst>
                <a:gd name="connsiteX0" fmla="*/ 8538 w 8538"/>
                <a:gd name="connsiteY0" fmla="*/ 0 h 74273"/>
                <a:gd name="connsiteX1" fmla="*/ 0 w 8538"/>
                <a:gd name="connsiteY1" fmla="*/ 74273 h 74273"/>
                <a:gd name="connsiteX2" fmla="*/ 1383 w 8538"/>
                <a:gd name="connsiteY2" fmla="*/ 46880 h 74273"/>
                <a:gd name="connsiteX3" fmla="*/ 8538 w 8538"/>
                <a:gd name="connsiteY3" fmla="*/ 0 h 74273"/>
              </a:gdLst>
              <a:ahLst/>
              <a:cxnLst>
                <a:cxn ang="0">
                  <a:pos x="connsiteX0" y="connsiteY0"/>
                </a:cxn>
                <a:cxn ang="0">
                  <a:pos x="connsiteX1" y="connsiteY1"/>
                </a:cxn>
                <a:cxn ang="0">
                  <a:pos x="connsiteX2" y="connsiteY2"/>
                </a:cxn>
                <a:cxn ang="0">
                  <a:pos x="connsiteX3" y="connsiteY3"/>
                </a:cxn>
              </a:cxnLst>
              <a:rect l="l" t="t" r="r" b="b"/>
              <a:pathLst>
                <a:path w="8538" h="74273">
                  <a:moveTo>
                    <a:pt x="8538" y="0"/>
                  </a:moveTo>
                  <a:lnTo>
                    <a:pt x="0" y="74273"/>
                  </a:lnTo>
                  <a:lnTo>
                    <a:pt x="1383" y="46880"/>
                  </a:lnTo>
                  <a:lnTo>
                    <a:pt x="853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4" name="Freeform: Shape 53">
              <a:extLst>
                <a:ext uri="{FF2B5EF4-FFF2-40B4-BE49-F238E27FC236}">
                  <a16:creationId xmlns:a16="http://schemas.microsoft.com/office/drawing/2014/main" id="{57F9A175-EA69-6C21-C956-7223A02DED9D}"/>
                </a:ext>
              </a:extLst>
            </p:cNvPr>
            <p:cNvSpPr/>
            <p:nvPr/>
          </p:nvSpPr>
          <p:spPr>
            <a:xfrm>
              <a:off x="3329424" y="2962976"/>
              <a:ext cx="45720" cy="905474"/>
            </a:xfrm>
            <a:custGeom>
              <a:avLst/>
              <a:gdLst>
                <a:gd name="connsiteX0" fmla="*/ 12384 w 12384"/>
                <a:gd name="connsiteY0" fmla="*/ 0 h 245261"/>
                <a:gd name="connsiteX1" fmla="*/ 0 w 12384"/>
                <a:gd name="connsiteY1" fmla="*/ 245261 h 245261"/>
                <a:gd name="connsiteX2" fmla="*/ 7065 w 12384"/>
                <a:gd name="connsiteY2" fmla="*/ 46269 h 245261"/>
                <a:gd name="connsiteX3" fmla="*/ 12384 w 12384"/>
                <a:gd name="connsiteY3" fmla="*/ 0 h 245261"/>
              </a:gdLst>
              <a:ahLst/>
              <a:cxnLst>
                <a:cxn ang="0">
                  <a:pos x="connsiteX0" y="connsiteY0"/>
                </a:cxn>
                <a:cxn ang="0">
                  <a:pos x="connsiteX1" y="connsiteY1"/>
                </a:cxn>
                <a:cxn ang="0">
                  <a:pos x="connsiteX2" y="connsiteY2"/>
                </a:cxn>
                <a:cxn ang="0">
                  <a:pos x="connsiteX3" y="connsiteY3"/>
                </a:cxn>
              </a:cxnLst>
              <a:rect l="l" t="t" r="r" b="b"/>
              <a:pathLst>
                <a:path w="12384" h="245261">
                  <a:moveTo>
                    <a:pt x="12384" y="0"/>
                  </a:moveTo>
                  <a:lnTo>
                    <a:pt x="0" y="245261"/>
                  </a:lnTo>
                  <a:lnTo>
                    <a:pt x="7065" y="46269"/>
                  </a:lnTo>
                  <a:lnTo>
                    <a:pt x="1238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5" name="Freeform: Shape 54">
              <a:extLst>
                <a:ext uri="{FF2B5EF4-FFF2-40B4-BE49-F238E27FC236}">
                  <a16:creationId xmlns:a16="http://schemas.microsoft.com/office/drawing/2014/main" id="{43E543E2-2FF9-68A9-6D4C-2DE279CE3D36}"/>
                </a:ext>
              </a:extLst>
            </p:cNvPr>
            <p:cNvSpPr/>
            <p:nvPr/>
          </p:nvSpPr>
          <p:spPr>
            <a:xfrm>
              <a:off x="3329400" y="3224023"/>
              <a:ext cx="45720" cy="881390"/>
            </a:xfrm>
            <a:custGeom>
              <a:avLst/>
              <a:gdLst>
                <a:gd name="connsiteX0" fmla="*/ 348 w 13064"/>
                <a:gd name="connsiteY0" fmla="*/ 0 h 251848"/>
                <a:gd name="connsiteX1" fmla="*/ 13064 w 13064"/>
                <a:gd name="connsiteY1" fmla="*/ 251848 h 251848"/>
                <a:gd name="connsiteX2" fmla="*/ 8929 w 13064"/>
                <a:gd name="connsiteY2" fmla="*/ 217781 h 251848"/>
                <a:gd name="connsiteX3" fmla="*/ 0 w 13064"/>
                <a:gd name="connsiteY3" fmla="*/ 9784 h 251848"/>
                <a:gd name="connsiteX4" fmla="*/ 348 w 13064"/>
                <a:gd name="connsiteY4" fmla="*/ 0 h 251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4" h="251848">
                  <a:moveTo>
                    <a:pt x="348" y="0"/>
                  </a:moveTo>
                  <a:lnTo>
                    <a:pt x="13064" y="251848"/>
                  </a:lnTo>
                  <a:lnTo>
                    <a:pt x="8929" y="217781"/>
                  </a:lnTo>
                  <a:cubicBezTo>
                    <a:pt x="3260" y="148757"/>
                    <a:pt x="266" y="79373"/>
                    <a:pt x="0" y="9784"/>
                  </a:cubicBezTo>
                  <a:lnTo>
                    <a:pt x="34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6" name="Freeform: Shape 55">
              <a:extLst>
                <a:ext uri="{FF2B5EF4-FFF2-40B4-BE49-F238E27FC236}">
                  <a16:creationId xmlns:a16="http://schemas.microsoft.com/office/drawing/2014/main" id="{0C05C71D-B3BF-4973-EA94-4DF6E5C099B3}"/>
                </a:ext>
              </a:extLst>
            </p:cNvPr>
            <p:cNvSpPr/>
            <p:nvPr/>
          </p:nvSpPr>
          <p:spPr>
            <a:xfrm>
              <a:off x="3340125" y="3636873"/>
              <a:ext cx="45720" cy="376620"/>
            </a:xfrm>
            <a:custGeom>
              <a:avLst/>
              <a:gdLst>
                <a:gd name="connsiteX0" fmla="*/ 0 w 8386"/>
                <a:gd name="connsiteY0" fmla="*/ 0 h 69079"/>
                <a:gd name="connsiteX1" fmla="*/ 8386 w 8386"/>
                <a:gd name="connsiteY1" fmla="*/ 69079 h 69079"/>
                <a:gd name="connsiteX2" fmla="*/ 1067 w 8386"/>
                <a:gd name="connsiteY2" fmla="*/ 21124 h 69079"/>
                <a:gd name="connsiteX3" fmla="*/ 0 w 8386"/>
                <a:gd name="connsiteY3" fmla="*/ 0 h 69079"/>
              </a:gdLst>
              <a:ahLst/>
              <a:cxnLst>
                <a:cxn ang="0">
                  <a:pos x="connsiteX0" y="connsiteY0"/>
                </a:cxn>
                <a:cxn ang="0">
                  <a:pos x="connsiteX1" y="connsiteY1"/>
                </a:cxn>
                <a:cxn ang="0">
                  <a:pos x="connsiteX2" y="connsiteY2"/>
                </a:cxn>
                <a:cxn ang="0">
                  <a:pos x="connsiteX3" y="connsiteY3"/>
                </a:cxn>
              </a:cxnLst>
              <a:rect l="l" t="t" r="r" b="b"/>
              <a:pathLst>
                <a:path w="8386" h="69079">
                  <a:moveTo>
                    <a:pt x="0" y="0"/>
                  </a:moveTo>
                  <a:lnTo>
                    <a:pt x="8386" y="69079"/>
                  </a:lnTo>
                  <a:lnTo>
                    <a:pt x="1067" y="2112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7" name="Freeform: Shape 56">
              <a:extLst>
                <a:ext uri="{FF2B5EF4-FFF2-40B4-BE49-F238E27FC236}">
                  <a16:creationId xmlns:a16="http://schemas.microsoft.com/office/drawing/2014/main" id="{E9B0CC35-1CC0-30E2-30DB-E8A8A12BB57E}"/>
                </a:ext>
              </a:extLst>
            </p:cNvPr>
            <p:cNvSpPr/>
            <p:nvPr/>
          </p:nvSpPr>
          <p:spPr>
            <a:xfrm>
              <a:off x="3357220" y="3794469"/>
              <a:ext cx="45720" cy="299564"/>
            </a:xfrm>
            <a:custGeom>
              <a:avLst/>
              <a:gdLst>
                <a:gd name="connsiteX0" fmla="*/ 0 w 25801"/>
                <a:gd name="connsiteY0" fmla="*/ 0 h 169057"/>
                <a:gd name="connsiteX1" fmla="*/ 25801 w 25801"/>
                <a:gd name="connsiteY1" fmla="*/ 169057 h 169057"/>
                <a:gd name="connsiteX2" fmla="*/ 12466 w 25801"/>
                <a:gd name="connsiteY2" fmla="*/ 102696 h 169057"/>
                <a:gd name="connsiteX3" fmla="*/ 0 w 25801"/>
                <a:gd name="connsiteY3" fmla="*/ 0 h 169057"/>
              </a:gdLst>
              <a:ahLst/>
              <a:cxnLst>
                <a:cxn ang="0">
                  <a:pos x="connsiteX0" y="connsiteY0"/>
                </a:cxn>
                <a:cxn ang="0">
                  <a:pos x="connsiteX1" y="connsiteY1"/>
                </a:cxn>
                <a:cxn ang="0">
                  <a:pos x="connsiteX2" y="connsiteY2"/>
                </a:cxn>
                <a:cxn ang="0">
                  <a:pos x="connsiteX3" y="connsiteY3"/>
                </a:cxn>
              </a:cxnLst>
              <a:rect l="l" t="t" r="r" b="b"/>
              <a:pathLst>
                <a:path w="25801" h="169057">
                  <a:moveTo>
                    <a:pt x="0" y="0"/>
                  </a:moveTo>
                  <a:lnTo>
                    <a:pt x="25801" y="169057"/>
                  </a:lnTo>
                  <a:lnTo>
                    <a:pt x="12466" y="10269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8" name="Freeform: Shape 57">
              <a:extLst>
                <a:ext uri="{FF2B5EF4-FFF2-40B4-BE49-F238E27FC236}">
                  <a16:creationId xmlns:a16="http://schemas.microsoft.com/office/drawing/2014/main" id="{DF3C9795-3B4B-14E5-2917-44CA4E616775}"/>
                </a:ext>
              </a:extLst>
            </p:cNvPr>
            <p:cNvSpPr/>
            <p:nvPr/>
          </p:nvSpPr>
          <p:spPr>
            <a:xfrm>
              <a:off x="3379117" y="3959797"/>
              <a:ext cx="45720" cy="227518"/>
            </a:xfrm>
            <a:custGeom>
              <a:avLst/>
              <a:gdLst>
                <a:gd name="connsiteX0" fmla="*/ 0 w 17996"/>
                <a:gd name="connsiteY0" fmla="*/ 0 h 89553"/>
                <a:gd name="connsiteX1" fmla="*/ 17996 w 17996"/>
                <a:gd name="connsiteY1" fmla="*/ 89553 h 89553"/>
                <a:gd name="connsiteX2" fmla="*/ 7347 w 17996"/>
                <a:gd name="connsiteY2" fmla="*/ 48139 h 89553"/>
                <a:gd name="connsiteX3" fmla="*/ 0 w 17996"/>
                <a:gd name="connsiteY3" fmla="*/ 0 h 89553"/>
              </a:gdLst>
              <a:ahLst/>
              <a:cxnLst>
                <a:cxn ang="0">
                  <a:pos x="connsiteX0" y="connsiteY0"/>
                </a:cxn>
                <a:cxn ang="0">
                  <a:pos x="connsiteX1" y="connsiteY1"/>
                </a:cxn>
                <a:cxn ang="0">
                  <a:pos x="connsiteX2" y="connsiteY2"/>
                </a:cxn>
                <a:cxn ang="0">
                  <a:pos x="connsiteX3" y="connsiteY3"/>
                </a:cxn>
              </a:cxnLst>
              <a:rect l="l" t="t" r="r" b="b"/>
              <a:pathLst>
                <a:path w="17996" h="89553">
                  <a:moveTo>
                    <a:pt x="0" y="0"/>
                  </a:moveTo>
                  <a:lnTo>
                    <a:pt x="17996" y="89553"/>
                  </a:lnTo>
                  <a:lnTo>
                    <a:pt x="7347" y="481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9" name="Freeform: Shape 58">
              <a:extLst>
                <a:ext uri="{FF2B5EF4-FFF2-40B4-BE49-F238E27FC236}">
                  <a16:creationId xmlns:a16="http://schemas.microsoft.com/office/drawing/2014/main" id="{85D8C7FA-034A-A814-83EA-C37C25C9C2F1}"/>
                </a:ext>
              </a:extLst>
            </p:cNvPr>
            <p:cNvSpPr/>
            <p:nvPr/>
          </p:nvSpPr>
          <p:spPr>
            <a:xfrm>
              <a:off x="3407337" y="4104179"/>
              <a:ext cx="45720" cy="177808"/>
            </a:xfrm>
            <a:custGeom>
              <a:avLst/>
              <a:gdLst>
                <a:gd name="connsiteX0" fmla="*/ 0 w 38441"/>
                <a:gd name="connsiteY0" fmla="*/ 0 h 149504"/>
                <a:gd name="connsiteX1" fmla="*/ 38441 w 38441"/>
                <a:gd name="connsiteY1" fmla="*/ 149504 h 149504"/>
                <a:gd name="connsiteX2" fmla="*/ 9414 w 38441"/>
                <a:gd name="connsiteY2" fmla="*/ 46850 h 149504"/>
                <a:gd name="connsiteX3" fmla="*/ 0 w 38441"/>
                <a:gd name="connsiteY3" fmla="*/ 0 h 149504"/>
              </a:gdLst>
              <a:ahLst/>
              <a:cxnLst>
                <a:cxn ang="0">
                  <a:pos x="connsiteX0" y="connsiteY0"/>
                </a:cxn>
                <a:cxn ang="0">
                  <a:pos x="connsiteX1" y="connsiteY1"/>
                </a:cxn>
                <a:cxn ang="0">
                  <a:pos x="connsiteX2" y="connsiteY2"/>
                </a:cxn>
                <a:cxn ang="0">
                  <a:pos x="connsiteX3" y="connsiteY3"/>
                </a:cxn>
              </a:cxnLst>
              <a:rect l="l" t="t" r="r" b="b"/>
              <a:pathLst>
                <a:path w="38441" h="149504">
                  <a:moveTo>
                    <a:pt x="0" y="0"/>
                  </a:moveTo>
                  <a:lnTo>
                    <a:pt x="38441" y="149504"/>
                  </a:lnTo>
                  <a:lnTo>
                    <a:pt x="9414" y="46850"/>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0" name="Freeform: Shape 59">
              <a:extLst>
                <a:ext uri="{FF2B5EF4-FFF2-40B4-BE49-F238E27FC236}">
                  <a16:creationId xmlns:a16="http://schemas.microsoft.com/office/drawing/2014/main" id="{82EF9B25-8F67-2FC3-B090-6C8F165FF92C}"/>
                </a:ext>
              </a:extLst>
            </p:cNvPr>
            <p:cNvSpPr/>
            <p:nvPr/>
          </p:nvSpPr>
          <p:spPr>
            <a:xfrm>
              <a:off x="3438577" y="4229503"/>
              <a:ext cx="45720" cy="161692"/>
            </a:xfrm>
            <a:custGeom>
              <a:avLst/>
              <a:gdLst>
                <a:gd name="connsiteX0" fmla="*/ 0 w 24042"/>
                <a:gd name="connsiteY0" fmla="*/ 0 h 85025"/>
                <a:gd name="connsiteX1" fmla="*/ 24042 w 24042"/>
                <a:gd name="connsiteY1" fmla="*/ 85025 h 85025"/>
                <a:gd name="connsiteX2" fmla="*/ 16714 w 24042"/>
                <a:gd name="connsiteY2" fmla="*/ 65004 h 85025"/>
                <a:gd name="connsiteX3" fmla="*/ 0 w 24042"/>
                <a:gd name="connsiteY3" fmla="*/ 0 h 85025"/>
              </a:gdLst>
              <a:ahLst/>
              <a:cxnLst>
                <a:cxn ang="0">
                  <a:pos x="connsiteX0" y="connsiteY0"/>
                </a:cxn>
                <a:cxn ang="0">
                  <a:pos x="connsiteX1" y="connsiteY1"/>
                </a:cxn>
                <a:cxn ang="0">
                  <a:pos x="connsiteX2" y="connsiteY2"/>
                </a:cxn>
                <a:cxn ang="0">
                  <a:pos x="connsiteX3" y="connsiteY3"/>
                </a:cxn>
              </a:cxnLst>
              <a:rect l="l" t="t" r="r" b="b"/>
              <a:pathLst>
                <a:path w="24042" h="85025">
                  <a:moveTo>
                    <a:pt x="0" y="0"/>
                  </a:moveTo>
                  <a:lnTo>
                    <a:pt x="24042" y="85025"/>
                  </a:lnTo>
                  <a:lnTo>
                    <a:pt x="16714" y="6500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1" name="Freeform: Shape 60">
              <a:extLst>
                <a:ext uri="{FF2B5EF4-FFF2-40B4-BE49-F238E27FC236}">
                  <a16:creationId xmlns:a16="http://schemas.microsoft.com/office/drawing/2014/main" id="{3E04CE4A-E2A7-5E3E-58D0-4BB1145A2C04}"/>
                </a:ext>
              </a:extLst>
            </p:cNvPr>
            <p:cNvSpPr/>
            <p:nvPr/>
          </p:nvSpPr>
          <p:spPr>
            <a:xfrm>
              <a:off x="3473458" y="4352861"/>
              <a:ext cx="77012" cy="210412"/>
            </a:xfrm>
            <a:custGeom>
              <a:avLst/>
              <a:gdLst>
                <a:gd name="connsiteX0" fmla="*/ 0 w 77012"/>
                <a:gd name="connsiteY0" fmla="*/ 0 h 210411"/>
                <a:gd name="connsiteX1" fmla="*/ 77012 w 77012"/>
                <a:gd name="connsiteY1" fmla="*/ 210411 h 210411"/>
                <a:gd name="connsiteX2" fmla="*/ 74494 w 77012"/>
                <a:gd name="connsiteY2" fmla="*/ 204921 h 210411"/>
                <a:gd name="connsiteX3" fmla="*/ 3134 w 77012"/>
                <a:gd name="connsiteY3" fmla="*/ 11084 h 210411"/>
                <a:gd name="connsiteX4" fmla="*/ 0 w 77012"/>
                <a:gd name="connsiteY4" fmla="*/ 0 h 210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12" h="210411">
                  <a:moveTo>
                    <a:pt x="0" y="0"/>
                  </a:moveTo>
                  <a:lnTo>
                    <a:pt x="77012" y="210411"/>
                  </a:lnTo>
                  <a:lnTo>
                    <a:pt x="74494" y="204921"/>
                  </a:lnTo>
                  <a:cubicBezTo>
                    <a:pt x="48215" y="141232"/>
                    <a:pt x="24411" y="76569"/>
                    <a:pt x="3134" y="1108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2" name="Freeform: Shape 61">
              <a:extLst>
                <a:ext uri="{FF2B5EF4-FFF2-40B4-BE49-F238E27FC236}">
                  <a16:creationId xmlns:a16="http://schemas.microsoft.com/office/drawing/2014/main" id="{5CB42E7B-46AA-17F4-38CE-C978F2E6F2CC}"/>
                </a:ext>
              </a:extLst>
            </p:cNvPr>
            <p:cNvSpPr/>
            <p:nvPr/>
          </p:nvSpPr>
          <p:spPr>
            <a:xfrm>
              <a:off x="3544760" y="4550821"/>
              <a:ext cx="45720" cy="99686"/>
            </a:xfrm>
            <a:custGeom>
              <a:avLst/>
              <a:gdLst>
                <a:gd name="connsiteX0" fmla="*/ 0 w 34300"/>
                <a:gd name="connsiteY0" fmla="*/ 0 h 74786"/>
                <a:gd name="connsiteX1" fmla="*/ 34300 w 34300"/>
                <a:gd name="connsiteY1" fmla="*/ 74786 h 74786"/>
                <a:gd name="connsiteX2" fmla="*/ 5460 w 34300"/>
                <a:gd name="connsiteY2" fmla="*/ 14918 h 74786"/>
                <a:gd name="connsiteX3" fmla="*/ 0 w 34300"/>
                <a:gd name="connsiteY3" fmla="*/ 0 h 74786"/>
              </a:gdLst>
              <a:ahLst/>
              <a:cxnLst>
                <a:cxn ang="0">
                  <a:pos x="connsiteX0" y="connsiteY0"/>
                </a:cxn>
                <a:cxn ang="0">
                  <a:pos x="connsiteX1" y="connsiteY1"/>
                </a:cxn>
                <a:cxn ang="0">
                  <a:pos x="connsiteX2" y="connsiteY2"/>
                </a:cxn>
                <a:cxn ang="0">
                  <a:pos x="connsiteX3" y="connsiteY3"/>
                </a:cxn>
              </a:cxnLst>
              <a:rect l="l" t="t" r="r" b="b"/>
              <a:pathLst>
                <a:path w="34300" h="74786">
                  <a:moveTo>
                    <a:pt x="0" y="0"/>
                  </a:moveTo>
                  <a:lnTo>
                    <a:pt x="34300" y="74786"/>
                  </a:lnTo>
                  <a:lnTo>
                    <a:pt x="5460" y="1491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3" name="Freeform: Shape 62">
              <a:extLst>
                <a:ext uri="{FF2B5EF4-FFF2-40B4-BE49-F238E27FC236}">
                  <a16:creationId xmlns:a16="http://schemas.microsoft.com/office/drawing/2014/main" id="{A56B1DA2-E2DD-BE21-781E-97BED7C5EDE6}"/>
                </a:ext>
              </a:extLst>
            </p:cNvPr>
            <p:cNvSpPr/>
            <p:nvPr/>
          </p:nvSpPr>
          <p:spPr>
            <a:xfrm>
              <a:off x="3584770" y="4638058"/>
              <a:ext cx="67988" cy="141138"/>
            </a:xfrm>
            <a:custGeom>
              <a:avLst/>
              <a:gdLst>
                <a:gd name="connsiteX0" fmla="*/ 0 w 67988"/>
                <a:gd name="connsiteY0" fmla="*/ 0 h 141137"/>
                <a:gd name="connsiteX1" fmla="*/ 67988 w 67988"/>
                <a:gd name="connsiteY1" fmla="*/ 141137 h 141137"/>
                <a:gd name="connsiteX2" fmla="*/ 49401 w 67988"/>
                <a:gd name="connsiteY2" fmla="*/ 107713 h 141137"/>
                <a:gd name="connsiteX3" fmla="*/ 0 w 67988"/>
                <a:gd name="connsiteY3" fmla="*/ 0 h 141137"/>
              </a:gdLst>
              <a:ahLst/>
              <a:cxnLst>
                <a:cxn ang="0">
                  <a:pos x="connsiteX0" y="connsiteY0"/>
                </a:cxn>
                <a:cxn ang="0">
                  <a:pos x="connsiteX1" y="connsiteY1"/>
                </a:cxn>
                <a:cxn ang="0">
                  <a:pos x="connsiteX2" y="connsiteY2"/>
                </a:cxn>
                <a:cxn ang="0">
                  <a:pos x="connsiteX3" y="connsiteY3"/>
                </a:cxn>
              </a:cxnLst>
              <a:rect l="l" t="t" r="r" b="b"/>
              <a:pathLst>
                <a:path w="67988" h="141137">
                  <a:moveTo>
                    <a:pt x="0" y="0"/>
                  </a:moveTo>
                  <a:lnTo>
                    <a:pt x="67988" y="141137"/>
                  </a:lnTo>
                  <a:lnTo>
                    <a:pt x="49401" y="107713"/>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4" name="Freeform: Shape 63">
              <a:extLst>
                <a:ext uri="{FF2B5EF4-FFF2-40B4-BE49-F238E27FC236}">
                  <a16:creationId xmlns:a16="http://schemas.microsoft.com/office/drawing/2014/main" id="{A1F181BC-46ED-6B8D-8840-2B45BF6AE6C7}"/>
                </a:ext>
              </a:extLst>
            </p:cNvPr>
            <p:cNvSpPr/>
            <p:nvPr/>
          </p:nvSpPr>
          <p:spPr>
            <a:xfrm>
              <a:off x="3651963" y="4777764"/>
              <a:ext cx="45720" cy="82214"/>
            </a:xfrm>
            <a:custGeom>
              <a:avLst/>
              <a:gdLst>
                <a:gd name="connsiteX0" fmla="*/ 0 w 44130"/>
                <a:gd name="connsiteY0" fmla="*/ 0 h 79354"/>
                <a:gd name="connsiteX1" fmla="*/ 44130 w 44130"/>
                <a:gd name="connsiteY1" fmla="*/ 79354 h 79354"/>
                <a:gd name="connsiteX2" fmla="*/ 15623 w 44130"/>
                <a:gd name="connsiteY2" fmla="*/ 32431 h 79354"/>
                <a:gd name="connsiteX3" fmla="*/ 0 w 44130"/>
                <a:gd name="connsiteY3" fmla="*/ 0 h 79354"/>
              </a:gdLst>
              <a:ahLst/>
              <a:cxnLst>
                <a:cxn ang="0">
                  <a:pos x="connsiteX0" y="connsiteY0"/>
                </a:cxn>
                <a:cxn ang="0">
                  <a:pos x="connsiteX1" y="connsiteY1"/>
                </a:cxn>
                <a:cxn ang="0">
                  <a:pos x="connsiteX2" y="connsiteY2"/>
                </a:cxn>
                <a:cxn ang="0">
                  <a:pos x="connsiteX3" y="connsiteY3"/>
                </a:cxn>
              </a:cxnLst>
              <a:rect l="l" t="t" r="r" b="b"/>
              <a:pathLst>
                <a:path w="44130" h="79354">
                  <a:moveTo>
                    <a:pt x="0" y="0"/>
                  </a:moveTo>
                  <a:lnTo>
                    <a:pt x="44130" y="79354"/>
                  </a:lnTo>
                  <a:lnTo>
                    <a:pt x="15623" y="32431"/>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5" name="Freeform: Shape 64">
              <a:extLst>
                <a:ext uri="{FF2B5EF4-FFF2-40B4-BE49-F238E27FC236}">
                  <a16:creationId xmlns:a16="http://schemas.microsoft.com/office/drawing/2014/main" id="{8F6B1DE7-ADE0-F8D3-10B1-4A51219A0938}"/>
                </a:ext>
              </a:extLst>
            </p:cNvPr>
            <p:cNvSpPr/>
            <p:nvPr/>
          </p:nvSpPr>
          <p:spPr>
            <a:xfrm>
              <a:off x="3696889" y="4858549"/>
              <a:ext cx="80150" cy="131930"/>
            </a:xfrm>
            <a:custGeom>
              <a:avLst/>
              <a:gdLst>
                <a:gd name="connsiteX0" fmla="*/ 0 w 80149"/>
                <a:gd name="connsiteY0" fmla="*/ 0 h 131929"/>
                <a:gd name="connsiteX1" fmla="*/ 80149 w 80149"/>
                <a:gd name="connsiteY1" fmla="*/ 131929 h 131929"/>
                <a:gd name="connsiteX2" fmla="*/ 38059 w 80149"/>
                <a:gd name="connsiteY2" fmla="*/ 68439 h 131929"/>
                <a:gd name="connsiteX3" fmla="*/ 0 w 80149"/>
                <a:gd name="connsiteY3" fmla="*/ 0 h 131929"/>
              </a:gdLst>
              <a:ahLst/>
              <a:cxnLst>
                <a:cxn ang="0">
                  <a:pos x="connsiteX0" y="connsiteY0"/>
                </a:cxn>
                <a:cxn ang="0">
                  <a:pos x="connsiteX1" y="connsiteY1"/>
                </a:cxn>
                <a:cxn ang="0">
                  <a:pos x="connsiteX2" y="connsiteY2"/>
                </a:cxn>
                <a:cxn ang="0">
                  <a:pos x="connsiteX3" y="connsiteY3"/>
                </a:cxn>
              </a:cxnLst>
              <a:rect l="l" t="t" r="r" b="b"/>
              <a:pathLst>
                <a:path w="80149" h="131929">
                  <a:moveTo>
                    <a:pt x="0" y="0"/>
                  </a:moveTo>
                  <a:lnTo>
                    <a:pt x="80149" y="131929"/>
                  </a:lnTo>
                  <a:lnTo>
                    <a:pt x="38059" y="684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6" name="Freeform: Shape 65">
              <a:extLst>
                <a:ext uri="{FF2B5EF4-FFF2-40B4-BE49-F238E27FC236}">
                  <a16:creationId xmlns:a16="http://schemas.microsoft.com/office/drawing/2014/main" id="{244A31F1-885F-DBDC-81E9-02B8B05764F7}"/>
                </a:ext>
              </a:extLst>
            </p:cNvPr>
            <p:cNvSpPr/>
            <p:nvPr/>
          </p:nvSpPr>
          <p:spPr>
            <a:xfrm>
              <a:off x="3776824" y="4990157"/>
              <a:ext cx="45720" cy="68966"/>
            </a:xfrm>
            <a:custGeom>
              <a:avLst/>
              <a:gdLst>
                <a:gd name="connsiteX0" fmla="*/ 0 w 45294"/>
                <a:gd name="connsiteY0" fmla="*/ 0 h 68323"/>
                <a:gd name="connsiteX1" fmla="*/ 45294 w 45294"/>
                <a:gd name="connsiteY1" fmla="*/ 68323 h 68323"/>
                <a:gd name="connsiteX2" fmla="*/ 25107 w 45294"/>
                <a:gd name="connsiteY2" fmla="*/ 41327 h 68323"/>
                <a:gd name="connsiteX3" fmla="*/ 0 w 45294"/>
                <a:gd name="connsiteY3" fmla="*/ 0 h 68323"/>
              </a:gdLst>
              <a:ahLst/>
              <a:cxnLst>
                <a:cxn ang="0">
                  <a:pos x="connsiteX0" y="connsiteY0"/>
                </a:cxn>
                <a:cxn ang="0">
                  <a:pos x="connsiteX1" y="connsiteY1"/>
                </a:cxn>
                <a:cxn ang="0">
                  <a:pos x="connsiteX2" y="connsiteY2"/>
                </a:cxn>
                <a:cxn ang="0">
                  <a:pos x="connsiteX3" y="connsiteY3"/>
                </a:cxn>
              </a:cxnLst>
              <a:rect l="l" t="t" r="r" b="b"/>
              <a:pathLst>
                <a:path w="45294" h="68323">
                  <a:moveTo>
                    <a:pt x="0" y="0"/>
                  </a:moveTo>
                  <a:lnTo>
                    <a:pt x="45294" y="68323"/>
                  </a:lnTo>
                  <a:lnTo>
                    <a:pt x="25107" y="4132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7" name="Freeform: Shape 66">
              <a:extLst>
                <a:ext uri="{FF2B5EF4-FFF2-40B4-BE49-F238E27FC236}">
                  <a16:creationId xmlns:a16="http://schemas.microsoft.com/office/drawing/2014/main" id="{3C7897D3-2388-AE8E-AFD8-2853C8096A67}"/>
                </a:ext>
              </a:extLst>
            </p:cNvPr>
            <p:cNvSpPr/>
            <p:nvPr/>
          </p:nvSpPr>
          <p:spPr>
            <a:xfrm>
              <a:off x="3822331" y="5058801"/>
              <a:ext cx="108022" cy="144458"/>
            </a:xfrm>
            <a:custGeom>
              <a:avLst/>
              <a:gdLst>
                <a:gd name="connsiteX0" fmla="*/ 0 w 108022"/>
                <a:gd name="connsiteY0" fmla="*/ 0 h 144457"/>
                <a:gd name="connsiteX1" fmla="*/ 108022 w 108022"/>
                <a:gd name="connsiteY1" fmla="*/ 144457 h 144457"/>
                <a:gd name="connsiteX2" fmla="*/ 27650 w 108022"/>
                <a:gd name="connsiteY2" fmla="*/ 41708 h 144457"/>
                <a:gd name="connsiteX3" fmla="*/ 0 w 108022"/>
                <a:gd name="connsiteY3" fmla="*/ 0 h 144457"/>
              </a:gdLst>
              <a:ahLst/>
              <a:cxnLst>
                <a:cxn ang="0">
                  <a:pos x="connsiteX0" y="connsiteY0"/>
                </a:cxn>
                <a:cxn ang="0">
                  <a:pos x="connsiteX1" y="connsiteY1"/>
                </a:cxn>
                <a:cxn ang="0">
                  <a:pos x="connsiteX2" y="connsiteY2"/>
                </a:cxn>
                <a:cxn ang="0">
                  <a:pos x="connsiteX3" y="connsiteY3"/>
                </a:cxn>
              </a:cxnLst>
              <a:rect l="l" t="t" r="r" b="b"/>
              <a:pathLst>
                <a:path w="108022" h="144457">
                  <a:moveTo>
                    <a:pt x="0" y="0"/>
                  </a:moveTo>
                  <a:lnTo>
                    <a:pt x="108022" y="144457"/>
                  </a:lnTo>
                  <a:lnTo>
                    <a:pt x="27650" y="4170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8" name="Freeform: Shape 67">
              <a:extLst>
                <a:ext uri="{FF2B5EF4-FFF2-40B4-BE49-F238E27FC236}">
                  <a16:creationId xmlns:a16="http://schemas.microsoft.com/office/drawing/2014/main" id="{D1AE1526-93FD-34EF-BAF8-D32E4713DC72}"/>
                </a:ext>
              </a:extLst>
            </p:cNvPr>
            <p:cNvSpPr/>
            <p:nvPr/>
          </p:nvSpPr>
          <p:spPr>
            <a:xfrm>
              <a:off x="3924473" y="5195739"/>
              <a:ext cx="45720" cy="58446"/>
            </a:xfrm>
            <a:custGeom>
              <a:avLst/>
              <a:gdLst>
                <a:gd name="connsiteX0" fmla="*/ 0 w 33957"/>
                <a:gd name="connsiteY0" fmla="*/ 0 h 43410"/>
                <a:gd name="connsiteX1" fmla="*/ 33957 w 33957"/>
                <a:gd name="connsiteY1" fmla="*/ 43410 h 43410"/>
                <a:gd name="connsiteX2" fmla="*/ 25521 w 33957"/>
                <a:gd name="connsiteY2" fmla="*/ 34128 h 43410"/>
                <a:gd name="connsiteX3" fmla="*/ 0 w 33957"/>
                <a:gd name="connsiteY3" fmla="*/ 0 h 43410"/>
              </a:gdLst>
              <a:ahLst/>
              <a:cxnLst>
                <a:cxn ang="0">
                  <a:pos x="connsiteX0" y="connsiteY0"/>
                </a:cxn>
                <a:cxn ang="0">
                  <a:pos x="connsiteX1" y="connsiteY1"/>
                </a:cxn>
                <a:cxn ang="0">
                  <a:pos x="connsiteX2" y="connsiteY2"/>
                </a:cxn>
                <a:cxn ang="0">
                  <a:pos x="connsiteX3" y="connsiteY3"/>
                </a:cxn>
              </a:cxnLst>
              <a:rect l="l" t="t" r="r" b="b"/>
              <a:pathLst>
                <a:path w="33957" h="43410">
                  <a:moveTo>
                    <a:pt x="0" y="0"/>
                  </a:moveTo>
                  <a:lnTo>
                    <a:pt x="33957" y="43410"/>
                  </a:lnTo>
                  <a:lnTo>
                    <a:pt x="25521" y="3412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9" name="Freeform: Shape 68">
              <a:extLst>
                <a:ext uri="{FF2B5EF4-FFF2-40B4-BE49-F238E27FC236}">
                  <a16:creationId xmlns:a16="http://schemas.microsoft.com/office/drawing/2014/main" id="{A7FF635C-F5AF-4C70-587B-2F32B53FFCE1}"/>
                </a:ext>
              </a:extLst>
            </p:cNvPr>
            <p:cNvSpPr/>
            <p:nvPr/>
          </p:nvSpPr>
          <p:spPr>
            <a:xfrm>
              <a:off x="3964311" y="5246668"/>
              <a:ext cx="163252" cy="179622"/>
            </a:xfrm>
            <a:custGeom>
              <a:avLst/>
              <a:gdLst>
                <a:gd name="connsiteX0" fmla="*/ 0 w 163251"/>
                <a:gd name="connsiteY0" fmla="*/ 0 h 179621"/>
                <a:gd name="connsiteX1" fmla="*/ 163251 w 163251"/>
                <a:gd name="connsiteY1" fmla="*/ 179621 h 179621"/>
                <a:gd name="connsiteX2" fmla="*/ 157311 w 163251"/>
                <a:gd name="connsiteY2" fmla="*/ 174104 h 179621"/>
                <a:gd name="connsiteX3" fmla="*/ 14662 w 163251"/>
                <a:gd name="connsiteY3" fmla="*/ 18744 h 179621"/>
                <a:gd name="connsiteX4" fmla="*/ 0 w 163251"/>
                <a:gd name="connsiteY4" fmla="*/ 0 h 17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51" h="179621">
                  <a:moveTo>
                    <a:pt x="0" y="0"/>
                  </a:moveTo>
                  <a:lnTo>
                    <a:pt x="163251" y="179621"/>
                  </a:lnTo>
                  <a:lnTo>
                    <a:pt x="157311" y="174104"/>
                  </a:lnTo>
                  <a:cubicBezTo>
                    <a:pt x="107518" y="124011"/>
                    <a:pt x="59952" y="72173"/>
                    <a:pt x="14662" y="1874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0" name="Freeform: Shape 69">
              <a:extLst>
                <a:ext uri="{FF2B5EF4-FFF2-40B4-BE49-F238E27FC236}">
                  <a16:creationId xmlns:a16="http://schemas.microsoft.com/office/drawing/2014/main" id="{E241A174-F10D-2761-5B6B-D4D8F76068B1}"/>
                </a:ext>
              </a:extLst>
            </p:cNvPr>
            <p:cNvSpPr/>
            <p:nvPr/>
          </p:nvSpPr>
          <p:spPr>
            <a:xfrm>
              <a:off x="4106164" y="5406415"/>
              <a:ext cx="49226" cy="45720"/>
            </a:xfrm>
            <a:custGeom>
              <a:avLst/>
              <a:gdLst>
                <a:gd name="connsiteX0" fmla="*/ 0 w 6429"/>
                <a:gd name="connsiteY0" fmla="*/ 0 h 5971"/>
                <a:gd name="connsiteX1" fmla="*/ 6429 w 6429"/>
                <a:gd name="connsiteY1" fmla="*/ 5971 h 5971"/>
                <a:gd name="connsiteX2" fmla="*/ 669 w 6429"/>
                <a:gd name="connsiteY2" fmla="*/ 736 h 5971"/>
                <a:gd name="connsiteX3" fmla="*/ 0 w 6429"/>
                <a:gd name="connsiteY3" fmla="*/ 0 h 5971"/>
              </a:gdLst>
              <a:ahLst/>
              <a:cxnLst>
                <a:cxn ang="0">
                  <a:pos x="connsiteX0" y="connsiteY0"/>
                </a:cxn>
                <a:cxn ang="0">
                  <a:pos x="connsiteX1" y="connsiteY1"/>
                </a:cxn>
                <a:cxn ang="0">
                  <a:pos x="connsiteX2" y="connsiteY2"/>
                </a:cxn>
                <a:cxn ang="0">
                  <a:pos x="connsiteX3" y="connsiteY3"/>
                </a:cxn>
              </a:cxnLst>
              <a:rect l="l" t="t" r="r" b="b"/>
              <a:pathLst>
                <a:path w="6429" h="5971">
                  <a:moveTo>
                    <a:pt x="0" y="0"/>
                  </a:moveTo>
                  <a:lnTo>
                    <a:pt x="6429" y="5971"/>
                  </a:lnTo>
                  <a:lnTo>
                    <a:pt x="669" y="73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1" name="Freeform: Shape 70">
              <a:extLst>
                <a:ext uri="{FF2B5EF4-FFF2-40B4-BE49-F238E27FC236}">
                  <a16:creationId xmlns:a16="http://schemas.microsoft.com/office/drawing/2014/main" id="{7244A981-FFDC-29B5-68FF-7655ABE014A2}"/>
                </a:ext>
              </a:extLst>
            </p:cNvPr>
            <p:cNvSpPr/>
            <p:nvPr/>
          </p:nvSpPr>
          <p:spPr>
            <a:xfrm>
              <a:off x="4133990" y="5432260"/>
              <a:ext cx="167636" cy="152360"/>
            </a:xfrm>
            <a:custGeom>
              <a:avLst/>
              <a:gdLst>
                <a:gd name="connsiteX0" fmla="*/ 0 w 167636"/>
                <a:gd name="connsiteY0" fmla="*/ 0 h 152359"/>
                <a:gd name="connsiteX1" fmla="*/ 167636 w 167636"/>
                <a:gd name="connsiteY1" fmla="*/ 152359 h 152359"/>
                <a:gd name="connsiteX2" fmla="*/ 143637 w 167636"/>
                <a:gd name="connsiteY2" fmla="*/ 133407 h 152359"/>
                <a:gd name="connsiteX3" fmla="*/ 0 w 167636"/>
                <a:gd name="connsiteY3" fmla="*/ 0 h 152359"/>
              </a:gdLst>
              <a:ahLst/>
              <a:cxnLst>
                <a:cxn ang="0">
                  <a:pos x="connsiteX0" y="connsiteY0"/>
                </a:cxn>
                <a:cxn ang="0">
                  <a:pos x="connsiteX1" y="connsiteY1"/>
                </a:cxn>
                <a:cxn ang="0">
                  <a:pos x="connsiteX2" y="connsiteY2"/>
                </a:cxn>
                <a:cxn ang="0">
                  <a:pos x="connsiteX3" y="connsiteY3"/>
                </a:cxn>
              </a:cxnLst>
              <a:rect l="l" t="t" r="r" b="b"/>
              <a:pathLst>
                <a:path w="167636" h="152359">
                  <a:moveTo>
                    <a:pt x="0" y="0"/>
                  </a:moveTo>
                  <a:lnTo>
                    <a:pt x="167636" y="152359"/>
                  </a:lnTo>
                  <a:lnTo>
                    <a:pt x="143637" y="13340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2" name="Freeform: Shape 71">
              <a:extLst>
                <a:ext uri="{FF2B5EF4-FFF2-40B4-BE49-F238E27FC236}">
                  <a16:creationId xmlns:a16="http://schemas.microsoft.com/office/drawing/2014/main" id="{5C516E5E-6248-A123-A855-69891D604A9E}"/>
                </a:ext>
              </a:extLst>
            </p:cNvPr>
            <p:cNvSpPr/>
            <p:nvPr/>
          </p:nvSpPr>
          <p:spPr>
            <a:xfrm>
              <a:off x="4301627" y="5584618"/>
              <a:ext cx="62464" cy="49324"/>
            </a:xfrm>
            <a:custGeom>
              <a:avLst/>
              <a:gdLst>
                <a:gd name="connsiteX0" fmla="*/ 0 w 62463"/>
                <a:gd name="connsiteY0" fmla="*/ 0 h 49324"/>
                <a:gd name="connsiteX1" fmla="*/ 62463 w 62463"/>
                <a:gd name="connsiteY1" fmla="*/ 49324 h 49324"/>
                <a:gd name="connsiteX2" fmla="*/ 16243 w 62463"/>
                <a:gd name="connsiteY2" fmla="*/ 14762 h 49324"/>
                <a:gd name="connsiteX3" fmla="*/ 0 w 62463"/>
                <a:gd name="connsiteY3" fmla="*/ 0 h 49324"/>
              </a:gdLst>
              <a:ahLst/>
              <a:cxnLst>
                <a:cxn ang="0">
                  <a:pos x="connsiteX0" y="connsiteY0"/>
                </a:cxn>
                <a:cxn ang="0">
                  <a:pos x="connsiteX1" y="connsiteY1"/>
                </a:cxn>
                <a:cxn ang="0">
                  <a:pos x="connsiteX2" y="connsiteY2"/>
                </a:cxn>
                <a:cxn ang="0">
                  <a:pos x="connsiteX3" y="connsiteY3"/>
                </a:cxn>
              </a:cxnLst>
              <a:rect l="l" t="t" r="r" b="b"/>
              <a:pathLst>
                <a:path w="62463" h="49324">
                  <a:moveTo>
                    <a:pt x="0" y="0"/>
                  </a:moveTo>
                  <a:lnTo>
                    <a:pt x="62463" y="49324"/>
                  </a:lnTo>
                  <a:lnTo>
                    <a:pt x="16243" y="14762"/>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3" name="Freeform: Shape 72">
              <a:extLst>
                <a:ext uri="{FF2B5EF4-FFF2-40B4-BE49-F238E27FC236}">
                  <a16:creationId xmlns:a16="http://schemas.microsoft.com/office/drawing/2014/main" id="{F1FBF76C-3054-CDD1-F6A8-E266645658BF}"/>
                </a:ext>
              </a:extLst>
            </p:cNvPr>
            <p:cNvSpPr/>
            <p:nvPr/>
          </p:nvSpPr>
          <p:spPr>
            <a:xfrm>
              <a:off x="4364090" y="5633943"/>
              <a:ext cx="84232" cy="65230"/>
            </a:xfrm>
            <a:custGeom>
              <a:avLst/>
              <a:gdLst>
                <a:gd name="connsiteX0" fmla="*/ 0 w 84231"/>
                <a:gd name="connsiteY0" fmla="*/ 0 h 65229"/>
                <a:gd name="connsiteX1" fmla="*/ 84231 w 84231"/>
                <a:gd name="connsiteY1" fmla="*/ 62987 h 65229"/>
                <a:gd name="connsiteX2" fmla="*/ 82602 w 84231"/>
                <a:gd name="connsiteY2" fmla="*/ 65229 h 65229"/>
                <a:gd name="connsiteX3" fmla="*/ 0 w 84231"/>
                <a:gd name="connsiteY3" fmla="*/ 0 h 65229"/>
              </a:gdLst>
              <a:ahLst/>
              <a:cxnLst>
                <a:cxn ang="0">
                  <a:pos x="connsiteX0" y="connsiteY0"/>
                </a:cxn>
                <a:cxn ang="0">
                  <a:pos x="connsiteX1" y="connsiteY1"/>
                </a:cxn>
                <a:cxn ang="0">
                  <a:pos x="connsiteX2" y="connsiteY2"/>
                </a:cxn>
                <a:cxn ang="0">
                  <a:pos x="connsiteX3" y="connsiteY3"/>
                </a:cxn>
              </a:cxnLst>
              <a:rect l="l" t="t" r="r" b="b"/>
              <a:pathLst>
                <a:path w="84231" h="65229">
                  <a:moveTo>
                    <a:pt x="0" y="0"/>
                  </a:moveTo>
                  <a:lnTo>
                    <a:pt x="84231" y="62987"/>
                  </a:lnTo>
                  <a:lnTo>
                    <a:pt x="82602" y="6522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4" name="Freeform: Shape 73">
              <a:extLst>
                <a:ext uri="{FF2B5EF4-FFF2-40B4-BE49-F238E27FC236}">
                  <a16:creationId xmlns:a16="http://schemas.microsoft.com/office/drawing/2014/main" id="{A5A40735-B97C-48B5-8689-F5D50D6E46DF}"/>
                </a:ext>
              </a:extLst>
            </p:cNvPr>
            <p:cNvSpPr/>
            <p:nvPr/>
          </p:nvSpPr>
          <p:spPr>
            <a:xfrm>
              <a:off x="6016346" y="868272"/>
              <a:ext cx="2539754" cy="2247220"/>
            </a:xfrm>
            <a:custGeom>
              <a:avLst/>
              <a:gdLst>
                <a:gd name="connsiteX0" fmla="*/ 0 w 2539753"/>
                <a:gd name="connsiteY0" fmla="*/ 0 h 2247220"/>
                <a:gd name="connsiteX1" fmla="*/ 2539753 w 2539753"/>
                <a:gd name="connsiteY1" fmla="*/ 1845239 h 2247220"/>
                <a:gd name="connsiteX2" fmla="*/ 1302584 w 2539753"/>
                <a:gd name="connsiteY2" fmla="*/ 2247220 h 2247220"/>
                <a:gd name="connsiteX3" fmla="*/ 1262316 w 2539753"/>
                <a:gd name="connsiteY3" fmla="*/ 2137199 h 2247220"/>
                <a:gd name="connsiteX4" fmla="*/ 1262290 w 2539753"/>
                <a:gd name="connsiteY4" fmla="*/ 2137148 h 2247220"/>
                <a:gd name="connsiteX5" fmla="*/ 1204626 w 2539753"/>
                <a:gd name="connsiteY5" fmla="*/ 2017444 h 2247220"/>
                <a:gd name="connsiteX6" fmla="*/ 1181641 w 2539753"/>
                <a:gd name="connsiteY6" fmla="*/ 1979611 h 2247220"/>
                <a:gd name="connsiteX7" fmla="*/ 1171640 w 2539753"/>
                <a:gd name="connsiteY7" fmla="*/ 1960074 h 2247220"/>
                <a:gd name="connsiteX8" fmla="*/ 1158805 w 2539753"/>
                <a:gd name="connsiteY8" fmla="*/ 1942022 h 2247220"/>
                <a:gd name="connsiteX9" fmla="*/ 1136004 w 2539753"/>
                <a:gd name="connsiteY9" fmla="*/ 1904489 h 2247220"/>
                <a:gd name="connsiteX10" fmla="*/ 1057160 w 2539753"/>
                <a:gd name="connsiteY10" fmla="*/ 1799053 h 2247220"/>
                <a:gd name="connsiteX11" fmla="*/ 1057140 w 2539753"/>
                <a:gd name="connsiteY11" fmla="*/ 1799024 h 2247220"/>
                <a:gd name="connsiteX12" fmla="*/ 1057118 w 2539753"/>
                <a:gd name="connsiteY12" fmla="*/ 1799002 h 2247220"/>
                <a:gd name="connsiteX13" fmla="*/ 968718 w 2539753"/>
                <a:gd name="connsiteY13" fmla="*/ 1701737 h 2247220"/>
                <a:gd name="connsiteX14" fmla="*/ 936283 w 2539753"/>
                <a:gd name="connsiteY14" fmla="*/ 1672258 h 2247220"/>
                <a:gd name="connsiteX15" fmla="*/ 921141 w 2539753"/>
                <a:gd name="connsiteY15" fmla="*/ 1656375 h 2247220"/>
                <a:gd name="connsiteX16" fmla="*/ 903920 w 2539753"/>
                <a:gd name="connsiteY16" fmla="*/ 1642845 h 2247220"/>
                <a:gd name="connsiteX17" fmla="*/ 871430 w 2539753"/>
                <a:gd name="connsiteY17" fmla="*/ 1613316 h 2247220"/>
                <a:gd name="connsiteX18" fmla="*/ 765983 w 2539753"/>
                <a:gd name="connsiteY18" fmla="*/ 1534464 h 2247220"/>
                <a:gd name="connsiteX19" fmla="*/ 765966 w 2539753"/>
                <a:gd name="connsiteY19" fmla="*/ 1534451 h 2247220"/>
                <a:gd name="connsiteX20" fmla="*/ 765951 w 2539753"/>
                <a:gd name="connsiteY20" fmla="*/ 1534442 h 2247220"/>
                <a:gd name="connsiteX21" fmla="*/ 653011 w 2539753"/>
                <a:gd name="connsiteY21" fmla="*/ 1465829 h 2247220"/>
                <a:gd name="connsiteX22" fmla="*/ 613272 w 2539753"/>
                <a:gd name="connsiteY22" fmla="*/ 1446686 h 2247220"/>
                <a:gd name="connsiteX23" fmla="*/ 593941 w 2539753"/>
                <a:gd name="connsiteY23" fmla="*/ 1435575 h 2247220"/>
                <a:gd name="connsiteX24" fmla="*/ 573435 w 2539753"/>
                <a:gd name="connsiteY24" fmla="*/ 1427495 h 2247220"/>
                <a:gd name="connsiteX25" fmla="*/ 533255 w 2539753"/>
                <a:gd name="connsiteY25" fmla="*/ 1408140 h 2247220"/>
                <a:gd name="connsiteX26" fmla="*/ 407398 w 2539753"/>
                <a:gd name="connsiteY26" fmla="*/ 1362075 h 2247220"/>
                <a:gd name="connsiteX27" fmla="*/ 407389 w 2539753"/>
                <a:gd name="connsiteY27" fmla="*/ 1362072 h 2247220"/>
                <a:gd name="connsiteX28" fmla="*/ 407383 w 2539753"/>
                <a:gd name="connsiteY28" fmla="*/ 1362070 h 2247220"/>
                <a:gd name="connsiteX29" fmla="*/ 276097 w 2539753"/>
                <a:gd name="connsiteY29" fmla="*/ 1328313 h 2247220"/>
                <a:gd name="connsiteX30" fmla="*/ 231136 w 2539753"/>
                <a:gd name="connsiteY30" fmla="*/ 1321451 h 2247220"/>
                <a:gd name="connsiteX31" fmla="*/ 208634 w 2539753"/>
                <a:gd name="connsiteY31" fmla="*/ 1316265 h 2247220"/>
                <a:gd name="connsiteX32" fmla="*/ 163016 w 2539753"/>
                <a:gd name="connsiteY32" fmla="*/ 1311055 h 2247220"/>
                <a:gd name="connsiteX33" fmla="*/ 140071 w 2539753"/>
                <a:gd name="connsiteY33" fmla="*/ 1307553 h 2247220"/>
                <a:gd name="connsiteX34" fmla="*/ 126245 w 2539753"/>
                <a:gd name="connsiteY34" fmla="*/ 1306855 h 2247220"/>
                <a:gd name="connsiteX35" fmla="*/ 105407 w 2539753"/>
                <a:gd name="connsiteY35" fmla="*/ 1304475 h 2247220"/>
                <a:gd name="connsiteX36" fmla="*/ 0 w 2539753"/>
                <a:gd name="connsiteY36" fmla="*/ 1300480 h 224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39753" h="2247220">
                  <a:moveTo>
                    <a:pt x="0" y="0"/>
                  </a:moveTo>
                  <a:cubicBezTo>
                    <a:pt x="1156912" y="0"/>
                    <a:pt x="2182249" y="744951"/>
                    <a:pt x="2539753" y="1845239"/>
                  </a:cubicBezTo>
                  <a:lnTo>
                    <a:pt x="1302584" y="2247220"/>
                  </a:lnTo>
                  <a:lnTo>
                    <a:pt x="1262316" y="2137199"/>
                  </a:lnTo>
                  <a:lnTo>
                    <a:pt x="1262290" y="2137148"/>
                  </a:lnTo>
                  <a:lnTo>
                    <a:pt x="1204626" y="2017444"/>
                  </a:lnTo>
                  <a:lnTo>
                    <a:pt x="1181641" y="1979611"/>
                  </a:lnTo>
                  <a:lnTo>
                    <a:pt x="1171640" y="1960074"/>
                  </a:lnTo>
                  <a:lnTo>
                    <a:pt x="1158805" y="1942022"/>
                  </a:lnTo>
                  <a:lnTo>
                    <a:pt x="1136004" y="1904489"/>
                  </a:lnTo>
                  <a:lnTo>
                    <a:pt x="1057160" y="1799053"/>
                  </a:lnTo>
                  <a:lnTo>
                    <a:pt x="1057140" y="1799024"/>
                  </a:lnTo>
                  <a:lnTo>
                    <a:pt x="1057118" y="1799002"/>
                  </a:lnTo>
                  <a:lnTo>
                    <a:pt x="968718" y="1701737"/>
                  </a:lnTo>
                  <a:lnTo>
                    <a:pt x="936283" y="1672258"/>
                  </a:lnTo>
                  <a:lnTo>
                    <a:pt x="921141" y="1656375"/>
                  </a:lnTo>
                  <a:lnTo>
                    <a:pt x="903920" y="1642845"/>
                  </a:lnTo>
                  <a:lnTo>
                    <a:pt x="871430" y="1613316"/>
                  </a:lnTo>
                  <a:lnTo>
                    <a:pt x="765983" y="1534464"/>
                  </a:lnTo>
                  <a:lnTo>
                    <a:pt x="765966" y="1534451"/>
                  </a:lnTo>
                  <a:lnTo>
                    <a:pt x="765951" y="1534442"/>
                  </a:lnTo>
                  <a:lnTo>
                    <a:pt x="653011" y="1465829"/>
                  </a:lnTo>
                  <a:lnTo>
                    <a:pt x="613272" y="1446686"/>
                  </a:lnTo>
                  <a:lnTo>
                    <a:pt x="593941" y="1435575"/>
                  </a:lnTo>
                  <a:lnTo>
                    <a:pt x="573435" y="1427495"/>
                  </a:lnTo>
                  <a:lnTo>
                    <a:pt x="533255" y="1408140"/>
                  </a:lnTo>
                  <a:lnTo>
                    <a:pt x="407398" y="1362075"/>
                  </a:lnTo>
                  <a:lnTo>
                    <a:pt x="407389" y="1362072"/>
                  </a:lnTo>
                  <a:lnTo>
                    <a:pt x="407383" y="1362070"/>
                  </a:lnTo>
                  <a:lnTo>
                    <a:pt x="276097" y="1328313"/>
                  </a:lnTo>
                  <a:lnTo>
                    <a:pt x="231136" y="1321451"/>
                  </a:lnTo>
                  <a:lnTo>
                    <a:pt x="208634" y="1316265"/>
                  </a:lnTo>
                  <a:lnTo>
                    <a:pt x="163016" y="1311055"/>
                  </a:lnTo>
                  <a:lnTo>
                    <a:pt x="140071" y="1307553"/>
                  </a:lnTo>
                  <a:lnTo>
                    <a:pt x="126245" y="1306855"/>
                  </a:lnTo>
                  <a:lnTo>
                    <a:pt x="105407" y="1304475"/>
                  </a:lnTo>
                  <a:cubicBezTo>
                    <a:pt x="70618" y="1301828"/>
                    <a:pt x="35467" y="1300480"/>
                    <a:pt x="0" y="1300480"/>
                  </a:cubicBez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95508" tIns="742273" rIns="736312" bIns="2877227" numCol="1" spcCol="1270" anchor="ctr" anchorCtr="0">
              <a:noAutofit/>
            </a:bodyPr>
            <a:lstStyle/>
            <a:p>
              <a:pPr marL="0" lvl="0" indent="0" algn="ctr" defTabSz="2178050">
                <a:lnSpc>
                  <a:spcPct val="90000"/>
                </a:lnSpc>
                <a:spcBef>
                  <a:spcPct val="0"/>
                </a:spcBef>
                <a:spcAft>
                  <a:spcPct val="35000"/>
                </a:spcAft>
                <a:buNone/>
              </a:pPr>
              <a:endParaRPr lang="en-US" sz="4900" kern="1200"/>
            </a:p>
          </p:txBody>
        </p:sp>
        <p:sp>
          <p:nvSpPr>
            <p:cNvPr id="75" name="Freeform: Shape 74">
              <a:extLst>
                <a:ext uri="{FF2B5EF4-FFF2-40B4-BE49-F238E27FC236}">
                  <a16:creationId xmlns:a16="http://schemas.microsoft.com/office/drawing/2014/main" id="{AB66A118-5727-5A51-726B-684E0EA68B50}"/>
                </a:ext>
              </a:extLst>
            </p:cNvPr>
            <p:cNvSpPr/>
            <p:nvPr/>
          </p:nvSpPr>
          <p:spPr>
            <a:xfrm>
              <a:off x="6820795" y="2713512"/>
              <a:ext cx="1866188" cy="2985660"/>
            </a:xfrm>
            <a:custGeom>
              <a:avLst/>
              <a:gdLst>
                <a:gd name="connsiteX0" fmla="*/ 1735304 w 1866187"/>
                <a:gd name="connsiteY0" fmla="*/ 0 h 2985659"/>
                <a:gd name="connsiteX1" fmla="*/ 765205 w 1866187"/>
                <a:gd name="connsiteY1" fmla="*/ 2985659 h 2985659"/>
                <a:gd name="connsiteX2" fmla="*/ 0 w 1866187"/>
                <a:gd name="connsiteY2" fmla="*/ 1932444 h 2985659"/>
                <a:gd name="connsiteX3" fmla="*/ 66982 w 1866187"/>
                <a:gd name="connsiteY3" fmla="*/ 1882355 h 2985659"/>
                <a:gd name="connsiteX4" fmla="*/ 565526 w 1866187"/>
                <a:gd name="connsiteY4" fmla="*/ 825216 h 2985659"/>
                <a:gd name="connsiteX5" fmla="*/ 503935 w 1866187"/>
                <a:gd name="connsiteY5" fmla="*/ 417828 h 2985659"/>
                <a:gd name="connsiteX6" fmla="*/ 498135 w 1866187"/>
                <a:gd name="connsiteY6" fmla="*/ 401981 h 298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6187" h="2985659">
                  <a:moveTo>
                    <a:pt x="1735304" y="0"/>
                  </a:moveTo>
                  <a:cubicBezTo>
                    <a:pt x="2092809" y="1100289"/>
                    <a:pt x="1701166" y="2305644"/>
                    <a:pt x="765205" y="2985659"/>
                  </a:cubicBezTo>
                  <a:lnTo>
                    <a:pt x="0" y="1932444"/>
                  </a:lnTo>
                  <a:lnTo>
                    <a:pt x="66982" y="1882355"/>
                  </a:lnTo>
                  <a:cubicBezTo>
                    <a:pt x="371456" y="1631082"/>
                    <a:pt x="565526" y="1250813"/>
                    <a:pt x="565526" y="825216"/>
                  </a:cubicBezTo>
                  <a:cubicBezTo>
                    <a:pt x="565526" y="683351"/>
                    <a:pt x="543963" y="546522"/>
                    <a:pt x="503935" y="417828"/>
                  </a:cubicBezTo>
                  <a:lnTo>
                    <a:pt x="498135" y="401981"/>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29458" tIns="2113703" rIns="276776" bIns="1403859" numCol="1" spcCol="1270" anchor="ctr" anchorCtr="0">
              <a:noAutofit/>
            </a:bodyPr>
            <a:lstStyle/>
            <a:p>
              <a:pPr marL="0" lvl="0" indent="0" algn="ctr" defTabSz="1911350">
                <a:lnSpc>
                  <a:spcPct val="90000"/>
                </a:lnSpc>
                <a:spcBef>
                  <a:spcPct val="0"/>
                </a:spcBef>
                <a:spcAft>
                  <a:spcPct val="35000"/>
                </a:spcAft>
                <a:buNone/>
              </a:pPr>
              <a:endParaRPr lang="en-US" sz="4300" kern="1200"/>
            </a:p>
          </p:txBody>
        </p:sp>
        <p:cxnSp>
          <p:nvCxnSpPr>
            <p:cNvPr id="76" name="Straight Connector 75">
              <a:extLst>
                <a:ext uri="{FF2B5EF4-FFF2-40B4-BE49-F238E27FC236}">
                  <a16:creationId xmlns:a16="http://schemas.microsoft.com/office/drawing/2014/main" id="{BBFBF7B9-0B74-95DB-4CE0-365D4025EC31}"/>
                </a:ext>
              </a:extLst>
            </p:cNvPr>
            <p:cNvCxnSpPr>
              <a:cxnSpLocks/>
            </p:cNvCxnSpPr>
            <p:nvPr/>
          </p:nvCxnSpPr>
          <p:spPr>
            <a:xfrm flipV="1">
              <a:off x="6614660" y="2509991"/>
              <a:ext cx="2474545" cy="81464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65C142E-6BE0-A1DD-C2BB-2841C2306AA5}"/>
                </a:ext>
              </a:extLst>
            </p:cNvPr>
            <p:cNvCxnSpPr>
              <a:cxnSpLocks/>
            </p:cNvCxnSpPr>
            <p:nvPr/>
          </p:nvCxnSpPr>
          <p:spPr>
            <a:xfrm flipV="1">
              <a:off x="4037365" y="4229503"/>
              <a:ext cx="1518987" cy="198813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166C9D-6B0A-7B40-9EA5-409E22D328B2}"/>
                </a:ext>
              </a:extLst>
            </p:cNvPr>
            <p:cNvCxnSpPr>
              <a:cxnSpLocks/>
            </p:cNvCxnSpPr>
            <p:nvPr/>
          </p:nvCxnSpPr>
          <p:spPr>
            <a:xfrm>
              <a:off x="2702560" y="2437067"/>
              <a:ext cx="2600647" cy="861833"/>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BB5E50F-24B9-C89B-231F-9478ECD48A2E}"/>
                </a:ext>
              </a:extLst>
            </p:cNvPr>
            <p:cNvCxnSpPr>
              <a:cxnSpLocks/>
            </p:cNvCxnSpPr>
            <p:nvPr/>
          </p:nvCxnSpPr>
          <p:spPr>
            <a:xfrm>
              <a:off x="6525517" y="4205356"/>
              <a:ext cx="1508170" cy="2082488"/>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7A0CC09-EAFB-061A-09AA-A1EC2974D7B1}"/>
                </a:ext>
              </a:extLst>
            </p:cNvPr>
            <p:cNvCxnSpPr>
              <a:cxnSpLocks/>
            </p:cNvCxnSpPr>
            <p:nvPr/>
          </p:nvCxnSpPr>
          <p:spPr>
            <a:xfrm flipV="1">
              <a:off x="6006618" y="487680"/>
              <a:ext cx="26108" cy="1949387"/>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grpSp>
      <p:sp>
        <p:nvSpPr>
          <p:cNvPr id="81" name="TextBox 80">
            <a:extLst>
              <a:ext uri="{FF2B5EF4-FFF2-40B4-BE49-F238E27FC236}">
                <a16:creationId xmlns:a16="http://schemas.microsoft.com/office/drawing/2014/main" id="{8B1BD4E6-E280-10AC-0AE4-04E93DA46375}"/>
              </a:ext>
            </a:extLst>
          </p:cNvPr>
          <p:cNvSpPr txBox="1"/>
          <p:nvPr/>
        </p:nvSpPr>
        <p:spPr>
          <a:xfrm>
            <a:off x="4220429" y="3942552"/>
            <a:ext cx="7632045" cy="2585323"/>
          </a:xfrm>
          <a:prstGeom prst="rect">
            <a:avLst/>
          </a:prstGeom>
          <a:noFill/>
        </p:spPr>
        <p:txBody>
          <a:bodyPr wrap="square" rtlCol="0">
            <a:spAutoFit/>
          </a:bodyPr>
          <a:lstStyle/>
          <a:p>
            <a:pPr algn="just"/>
            <a:r>
              <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Moreover, the luxury segment of the market often leads trends in the fashion industry, and with the global shift towards more ethical consumption, luxury vegan clothing could set a precedent for mainstream brands to follow.</a:t>
            </a:r>
          </a:p>
          <a:p>
            <a:pPr algn="just"/>
            <a:endPar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In conclusion, considering the current market trends and consumer behavior, luxury vegan clothing has the potential to be successful in the Australian market, provided that the brand can effectively communicate its value proposition and build a strong connection with its target audience.</a:t>
            </a:r>
          </a:p>
          <a:p>
            <a:endParaRPr lang="en-US" dirty="0"/>
          </a:p>
        </p:txBody>
      </p:sp>
    </p:spTree>
    <p:extLst>
      <p:ext uri="{BB962C8B-B14F-4D97-AF65-F5344CB8AC3E}">
        <p14:creationId xmlns:p14="http://schemas.microsoft.com/office/powerpoint/2010/main" val="1228224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414</TotalTime>
  <Words>1859</Words>
  <Application>Microsoft Office PowerPoint</Application>
  <PresentationFormat>Widescreen</PresentationFormat>
  <Paragraphs>135</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Algerian</vt:lpstr>
      <vt:lpstr>Arial</vt:lpstr>
      <vt:lpstr>Bodoni MT</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Jibin George</dc:creator>
  <cp:lastModifiedBy>Jibin George</cp:lastModifiedBy>
  <cp:revision>5</cp:revision>
  <dcterms:created xsi:type="dcterms:W3CDTF">2023-11-30T03:47:45Z</dcterms:created>
  <dcterms:modified xsi:type="dcterms:W3CDTF">2024-04-18T02:11:31Z</dcterms:modified>
</cp:coreProperties>
</file>